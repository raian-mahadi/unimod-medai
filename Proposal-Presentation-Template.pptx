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200FF"/>
    <a:srgbClr val="EDEDE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B45EFC-956F-446D-B381-3D63F0DB7544}" v="674" dt="2026-10-13T17:53:27.088"/>
    <p1510:client id="{93B9CC3B-C335-2EEB-1F43-46AD72DA3448}" v="448" dt="2026-10-13T18:43:58.24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5" d="100"/>
          <a:sy n="75" d="100"/>
        </p:scale>
        <p:origin x="763"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884541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Welcome the committee, introduce yourself and the thesis title.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Walk through the outline in one breath, don't linger.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the context — why this domain matters before narrowing to the problem.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State the gap in one sentence, then the supporting points.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Each objective should map to a result you'll show later.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Only show the 4-5 most relevant works; group by approach.</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Walk left to right through the pipeline.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Point to each layer/module as you name it.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Mention only tools/decisions the committee will ask about.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Lead with the headline number, then the chart.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Highlight the row/column where your approach wins.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Close the loop back to the objectives on slide 5.</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 need to read these aloud — keep for committee reference.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Keep this brief and sincere.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Invite questions from the committee.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3" Type="http://schemas.openxmlformats.org/officeDocument/2006/relationships/image" Target="../media/image1.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5" Type="http://schemas.openxmlformats.org/officeDocument/2006/relationships/image" Target="../media/image1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 Id="rId1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00FF"/>
        </a:solidFill>
        <a:effectLst/>
      </p:bgPr>
    </p:bg>
    <p:spTree>
      <p:nvGrpSpPr>
        <p:cNvPr id="1" name=""/>
        <p:cNvGrpSpPr/>
        <p:nvPr/>
      </p:nvGrpSpPr>
      <p:grpSpPr>
        <a:xfrm>
          <a:off x="0" y="0"/>
          <a:ext cx="0" cy="0"/>
          <a:chOff x="0" y="0"/>
          <a:chExt cx="0" cy="0"/>
        </a:xfrm>
      </p:grpSpPr>
      <p:sp>
        <p:nvSpPr>
          <p:cNvPr id="2" name="Shape 0"/>
          <p:cNvSpPr/>
          <p:nvPr/>
        </p:nvSpPr>
        <p:spPr>
          <a:xfrm>
            <a:off x="14097000" y="-1714500"/>
            <a:ext cx="5905500" cy="5905500"/>
          </a:xfrm>
          <a:prstGeom prst="ellipse">
            <a:avLst/>
          </a:prstGeom>
          <a:solidFill>
            <a:srgbClr val="FFFFFF">
              <a:alpha val="6000"/>
            </a:srgbClr>
          </a:solidFill>
          <a:ln/>
        </p:spPr>
      </p:sp>
      <p:sp>
        <p:nvSpPr>
          <p:cNvPr id="3" name="Shape 1"/>
          <p:cNvSpPr/>
          <p:nvPr/>
        </p:nvSpPr>
        <p:spPr>
          <a:xfrm>
            <a:off x="-3353623" y="4380310"/>
            <a:ext cx="4572000" cy="4572000"/>
          </a:xfrm>
          <a:prstGeom prst="ellipse">
            <a:avLst/>
          </a:prstGeom>
          <a:solidFill>
            <a:srgbClr val="FFFFFF">
              <a:alpha val="5000"/>
            </a:srgbClr>
          </a:solidFill>
          <a:ln/>
        </p:spPr>
      </p:sp>
      <p:pic>
        <p:nvPicPr>
          <p:cNvPr id="4" name="Image 0" descr="preencoded.png"/>
          <p:cNvPicPr>
            <a:picLocks noChangeAspect="1"/>
          </p:cNvPicPr>
          <p:nvPr/>
        </p:nvPicPr>
        <p:blipFill>
          <a:blip r:embed="rId3"/>
          <a:stretch>
            <a:fillRect/>
          </a:stretch>
        </p:blipFill>
        <p:spPr>
          <a:xfrm>
            <a:off x="1047750" y="800100"/>
            <a:ext cx="1279446" cy="704850"/>
          </a:xfrm>
          <a:prstGeom prst="rect">
            <a:avLst/>
          </a:prstGeom>
        </p:spPr>
      </p:pic>
      <p:sp>
        <p:nvSpPr>
          <p:cNvPr id="5" name="Text 2"/>
          <p:cNvSpPr/>
          <p:nvPr/>
        </p:nvSpPr>
        <p:spPr>
          <a:xfrm>
            <a:off x="1047750" y="3308271"/>
            <a:ext cx="16344900" cy="312420"/>
          </a:xfrm>
          <a:prstGeom prst="rect">
            <a:avLst/>
          </a:prstGeom>
          <a:noFill/>
          <a:ln/>
        </p:spPr>
        <p:txBody>
          <a:bodyPr wrap="square" lIns="25400" tIns="25400" rIns="25400" bIns="25400" rtlCol="0" anchor="t">
            <a:normAutofit lnSpcReduction="10000"/>
          </a:bodyPr>
          <a:lstStyle/>
          <a:p>
            <a:pPr marL="0" indent="0" algn="l">
              <a:buNone/>
            </a:pPr>
            <a:r>
              <a:rPr lang="en-US" sz="1875" b="1" kern="0" spc="263">
                <a:solidFill>
                  <a:srgbClr val="FFFFFF">
                    <a:alpha val="72000"/>
                  </a:srgbClr>
                </a:solidFill>
                <a:latin typeface="Arial" pitchFamily="34" charset="0"/>
                <a:ea typeface="Arial" pitchFamily="34" charset="-122"/>
                <a:cs typeface="Arial" pitchFamily="34" charset="-120"/>
              </a:rPr>
              <a:t>DEPARTMENT OF COMPUTER SCIENCE &amp; ENGINEERING · UTTARA UNIVERSITY</a:t>
            </a:r>
            <a:endParaRPr lang="en-US" sz="1875"/>
          </a:p>
        </p:txBody>
      </p:sp>
      <p:sp>
        <p:nvSpPr>
          <p:cNvPr id="6" name="Text 3"/>
          <p:cNvSpPr/>
          <p:nvPr/>
        </p:nvSpPr>
        <p:spPr>
          <a:xfrm>
            <a:off x="1047750" y="3868341"/>
            <a:ext cx="15304770" cy="1807369"/>
          </a:xfrm>
          <a:prstGeom prst="rect">
            <a:avLst/>
          </a:prstGeom>
          <a:noFill/>
          <a:ln/>
        </p:spPr>
        <p:txBody>
          <a:bodyPr wrap="square" lIns="25400" tIns="25400" rIns="25400" bIns="25400" rtlCol="0" anchor="t">
            <a:normAutofit fontScale="77500" lnSpcReduction="20000"/>
          </a:bodyPr>
          <a:lstStyle/>
          <a:p>
            <a:pPr>
              <a:lnSpc>
                <a:spcPct val="120000"/>
              </a:lnSpc>
            </a:pPr>
            <a:r>
              <a:rPr lang="en-US" sz="6450" kern="0" spc="-64">
                <a:solidFill>
                  <a:srgbClr val="FFFFFF"/>
                </a:solidFill>
                <a:ea typeface="+mn-lt"/>
                <a:cs typeface="+mn-lt"/>
              </a:rPr>
              <a:t>UNCERTAINTY ESTIMATION AND CONFIDENCE CALIBRATION IN UNIMOD FOR MULTIMODAL MEDICAL DIAGNOSIS</a:t>
            </a:r>
            <a:endParaRPr lang="en-US">
              <a:ea typeface="Calibri" panose="020F0502020204030204"/>
              <a:cs typeface="Calibri" panose="020F0502020204030204"/>
            </a:endParaRPr>
          </a:p>
        </p:txBody>
      </p:sp>
      <p:sp>
        <p:nvSpPr>
          <p:cNvPr id="7" name="Text 4"/>
          <p:cNvSpPr/>
          <p:nvPr/>
        </p:nvSpPr>
        <p:spPr>
          <a:xfrm>
            <a:off x="1047750" y="5923359"/>
            <a:ext cx="12573000" cy="544830"/>
          </a:xfrm>
          <a:prstGeom prst="rect">
            <a:avLst/>
          </a:prstGeom>
          <a:noFill/>
          <a:ln/>
        </p:spPr>
        <p:txBody>
          <a:bodyPr wrap="square" lIns="25400" tIns="25400" rIns="25400" bIns="25400" rtlCol="0" anchor="t">
            <a:noAutofit/>
          </a:bodyPr>
          <a:lstStyle/>
          <a:p>
            <a:pPr>
              <a:lnSpc>
                <a:spcPct val="120909"/>
              </a:lnSpc>
            </a:pPr>
            <a:r>
              <a:rPr lang="en-US" sz="2850" dirty="0">
                <a:solidFill>
                  <a:schemeClr val="bg1"/>
                </a:solidFill>
                <a:ea typeface="+mn-lt"/>
                <a:cs typeface="+mn-lt"/>
              </a:rPr>
              <a:t>An empirical investigation of post processing confidence calibration and uncertainty reliability for multimodal clinical diagnostic systems. </a:t>
            </a:r>
            <a:endParaRPr lang="en-US" sz="2850" dirty="0">
              <a:solidFill>
                <a:schemeClr val="bg1"/>
              </a:solidFill>
              <a:ea typeface="Calibri"/>
              <a:cs typeface="Calibri"/>
            </a:endParaRPr>
          </a:p>
        </p:txBody>
      </p:sp>
      <p:sp>
        <p:nvSpPr>
          <p:cNvPr id="8" name="Shape 5"/>
          <p:cNvSpPr/>
          <p:nvPr/>
        </p:nvSpPr>
        <p:spPr>
          <a:xfrm>
            <a:off x="1047750" y="8233410"/>
            <a:ext cx="16192500" cy="9525"/>
          </a:xfrm>
          <a:prstGeom prst="rect">
            <a:avLst/>
          </a:prstGeom>
          <a:solidFill>
            <a:srgbClr val="FFFFFF">
              <a:alpha val="22000"/>
            </a:srgbClr>
          </a:solidFill>
          <a:ln/>
        </p:spPr>
      </p:sp>
      <p:sp>
        <p:nvSpPr>
          <p:cNvPr id="9" name="Text 6"/>
          <p:cNvSpPr/>
          <p:nvPr/>
        </p:nvSpPr>
        <p:spPr>
          <a:xfrm>
            <a:off x="1293184" y="8529955"/>
            <a:ext cx="5488245" cy="281940"/>
          </a:xfrm>
          <a:prstGeom prst="rect">
            <a:avLst/>
          </a:prstGeom>
          <a:noFill/>
          <a:ln/>
        </p:spPr>
        <p:txBody>
          <a:bodyPr wrap="square" lIns="25400" tIns="25400" rIns="25400" bIns="25400" rtlCol="0" anchor="t">
            <a:normAutofit lnSpcReduction="10000"/>
          </a:bodyPr>
          <a:lstStyle/>
          <a:p>
            <a:pPr marL="0" indent="0" algn="l">
              <a:buNone/>
            </a:pPr>
            <a:r>
              <a:rPr lang="en-US" sz="1650" kern="0" spc="165" dirty="0">
                <a:solidFill>
                  <a:srgbClr val="FFFFFF">
                    <a:alpha val="62000"/>
                  </a:srgbClr>
                </a:solidFill>
                <a:latin typeface="Arial" pitchFamily="34" charset="0"/>
                <a:ea typeface="Arial" pitchFamily="34" charset="-122"/>
                <a:cs typeface="Arial" pitchFamily="34" charset="-120"/>
              </a:rPr>
              <a:t>PRESENTED BY</a:t>
            </a:r>
            <a:endParaRPr lang="en-US" sz="1650" dirty="0"/>
          </a:p>
        </p:txBody>
      </p:sp>
      <p:sp>
        <p:nvSpPr>
          <p:cNvPr id="10" name="Text 7"/>
          <p:cNvSpPr/>
          <p:nvPr/>
        </p:nvSpPr>
        <p:spPr>
          <a:xfrm>
            <a:off x="1343985" y="8830230"/>
            <a:ext cx="5488245" cy="365760"/>
          </a:xfrm>
          <a:prstGeom prst="rect">
            <a:avLst/>
          </a:prstGeom>
          <a:noFill/>
          <a:ln/>
        </p:spPr>
        <p:txBody>
          <a:bodyPr wrap="square" lIns="25400" tIns="25400" rIns="25400" bIns="25400" rtlCol="0" anchor="t">
            <a:normAutofit lnSpcReduction="10000"/>
          </a:bodyPr>
          <a:lstStyle/>
          <a:p>
            <a:r>
              <a:rPr lang="en-US" sz="2250" b="1" dirty="0">
                <a:solidFill>
                  <a:srgbClr val="FFFFFF"/>
                </a:solidFill>
                <a:ea typeface="+mn-lt"/>
                <a:cs typeface="+mn-lt"/>
              </a:rPr>
              <a:t>Raian Mahadi</a:t>
            </a:r>
            <a:endParaRPr lang="en-US" b="1" dirty="0">
              <a:ea typeface="Calibri"/>
              <a:cs typeface="Calibri"/>
            </a:endParaRPr>
          </a:p>
        </p:txBody>
      </p:sp>
      <p:sp>
        <p:nvSpPr>
          <p:cNvPr id="11" name="Text 8"/>
          <p:cNvSpPr/>
          <p:nvPr/>
        </p:nvSpPr>
        <p:spPr>
          <a:xfrm>
            <a:off x="1343023" y="9214325"/>
            <a:ext cx="1746250" cy="312420"/>
          </a:xfrm>
          <a:prstGeom prst="rect">
            <a:avLst/>
          </a:prstGeom>
          <a:noFill/>
          <a:ln/>
        </p:spPr>
        <p:txBody>
          <a:bodyPr wrap="square" lIns="25400" tIns="25400" rIns="25400" bIns="25400" rtlCol="0" anchor="t">
            <a:normAutofit lnSpcReduction="10000"/>
          </a:bodyPr>
          <a:lstStyle/>
          <a:p>
            <a:r>
              <a:rPr lang="en-US" sz="1850" dirty="0">
                <a:solidFill>
                  <a:srgbClr val="FFFFFF">
                    <a:alpha val="78000"/>
                  </a:srgbClr>
                </a:solidFill>
                <a:latin typeface="Arial"/>
                <a:ea typeface="Arial" pitchFamily="34" charset="-122"/>
                <a:cs typeface="Arial"/>
              </a:rPr>
              <a:t>ID: </a:t>
            </a:r>
            <a:r>
              <a:rPr lang="en-US" sz="1850" dirty="0">
                <a:solidFill>
                  <a:srgbClr val="FFFFFF">
                    <a:alpha val="78000"/>
                  </a:srgbClr>
                </a:solidFill>
                <a:ea typeface="+mn-lt"/>
                <a:cs typeface="+mn-lt"/>
              </a:rPr>
              <a:t>2233081266</a:t>
            </a:r>
            <a:endParaRPr lang="en-US" sz="1850" dirty="0">
              <a:latin typeface="Arial"/>
              <a:cs typeface="Arial"/>
            </a:endParaRPr>
          </a:p>
        </p:txBody>
      </p:sp>
      <p:sp>
        <p:nvSpPr>
          <p:cNvPr id="12" name="Text 9"/>
          <p:cNvSpPr/>
          <p:nvPr/>
        </p:nvSpPr>
        <p:spPr>
          <a:xfrm>
            <a:off x="14548021" y="8511540"/>
            <a:ext cx="3203234" cy="281940"/>
          </a:xfrm>
          <a:prstGeom prst="rect">
            <a:avLst/>
          </a:prstGeom>
          <a:noFill/>
          <a:ln/>
        </p:spPr>
        <p:txBody>
          <a:bodyPr wrap="square" lIns="25400" tIns="25400" rIns="25400" bIns="25400" rtlCol="0" anchor="t">
            <a:normAutofit lnSpcReduction="10000"/>
          </a:bodyPr>
          <a:lstStyle/>
          <a:p>
            <a:pPr marL="0" indent="0" algn="l">
              <a:buNone/>
            </a:pPr>
            <a:r>
              <a:rPr lang="en-US" sz="1650" kern="0" spc="165" dirty="0">
                <a:solidFill>
                  <a:srgbClr val="FFFFFF">
                    <a:alpha val="62000"/>
                  </a:srgbClr>
                </a:solidFill>
                <a:latin typeface="Arial" pitchFamily="34" charset="0"/>
                <a:ea typeface="Arial" pitchFamily="34" charset="-122"/>
                <a:cs typeface="Arial" pitchFamily="34" charset="-120"/>
              </a:rPr>
              <a:t>SUPERVISED BY</a:t>
            </a:r>
            <a:endParaRPr lang="en-US" sz="1650" dirty="0"/>
          </a:p>
        </p:txBody>
      </p:sp>
      <p:sp>
        <p:nvSpPr>
          <p:cNvPr id="13" name="Text 10"/>
          <p:cNvSpPr/>
          <p:nvPr/>
        </p:nvSpPr>
        <p:spPr>
          <a:xfrm>
            <a:off x="14665378" y="8893552"/>
            <a:ext cx="3203234" cy="365760"/>
          </a:xfrm>
          <a:prstGeom prst="rect">
            <a:avLst/>
          </a:prstGeom>
          <a:noFill/>
          <a:ln/>
        </p:spPr>
        <p:txBody>
          <a:bodyPr wrap="square" lIns="25400" tIns="25400" rIns="25400" bIns="25400" rtlCol="0" anchor="t">
            <a:normAutofit lnSpcReduction="10000"/>
          </a:bodyPr>
          <a:lstStyle/>
          <a:p>
            <a:r>
              <a:rPr lang="en-US" sz="2250" b="1" dirty="0">
                <a:solidFill>
                  <a:srgbClr val="FFFFFF"/>
                </a:solidFill>
                <a:ea typeface="+mn-lt"/>
                <a:cs typeface="+mn-lt"/>
              </a:rPr>
              <a:t>Mohsin Hossain</a:t>
            </a:r>
            <a:endParaRPr lang="en-US" b="1" dirty="0">
              <a:ea typeface="Calibri"/>
              <a:cs typeface="Calibri"/>
            </a:endParaRPr>
          </a:p>
        </p:txBody>
      </p:sp>
      <p:sp>
        <p:nvSpPr>
          <p:cNvPr id="14" name="Text 11"/>
          <p:cNvSpPr/>
          <p:nvPr/>
        </p:nvSpPr>
        <p:spPr>
          <a:xfrm>
            <a:off x="14381417" y="9339580"/>
            <a:ext cx="3203234" cy="312420"/>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FFFFFF">
                    <a:alpha val="78000"/>
                  </a:srgbClr>
                </a:solidFill>
                <a:latin typeface="Arial" pitchFamily="34" charset="0"/>
                <a:ea typeface="Arial" pitchFamily="34" charset="-122"/>
                <a:cs typeface="Arial" pitchFamily="34" charset="-120"/>
              </a:rPr>
              <a:t>Lecturer, Dept. of CSE</a:t>
            </a:r>
            <a:endParaRPr lang="en-US" sz="1875" dirty="0"/>
          </a:p>
        </p:txBody>
      </p:sp>
      <p:sp>
        <p:nvSpPr>
          <p:cNvPr id="15" name="Text 12"/>
          <p:cNvSpPr/>
          <p:nvPr/>
        </p:nvSpPr>
        <p:spPr>
          <a:xfrm>
            <a:off x="16149638" y="486410"/>
            <a:ext cx="1730692" cy="586740"/>
          </a:xfrm>
          <a:prstGeom prst="rect">
            <a:avLst/>
          </a:prstGeom>
          <a:noFill/>
          <a:ln/>
        </p:spPr>
        <p:txBody>
          <a:bodyPr wrap="square" lIns="25400" tIns="25400" rIns="25400" bIns="25400" rtlCol="0" anchor="t">
            <a:normAutofit lnSpcReduction="10000"/>
          </a:bodyPr>
          <a:lstStyle/>
          <a:p>
            <a:pPr algn="ctr"/>
            <a:r>
              <a:rPr lang="en-US" sz="1850" dirty="0">
                <a:solidFill>
                  <a:srgbClr val="FFFFFF">
                    <a:alpha val="72000"/>
                  </a:srgbClr>
                </a:solidFill>
                <a:latin typeface="Arial"/>
                <a:ea typeface="Arial" pitchFamily="34" charset="-122"/>
                <a:cs typeface="Arial"/>
              </a:rPr>
              <a:t>Thesis Defense 14 Oct</a:t>
            </a:r>
            <a:endParaRPr lang="en-US" sz="1850" dirty="0">
              <a:latin typeface="Arial"/>
              <a:cs typeface="Arial"/>
            </a:endParaRPr>
          </a:p>
        </p:txBody>
      </p:sp>
      <p:pic>
        <p:nvPicPr>
          <p:cNvPr id="17" name="Picture 16">
            <a:extLst>
              <a:ext uri="{FF2B5EF4-FFF2-40B4-BE49-F238E27FC236}">
                <a16:creationId xmlns:a16="http://schemas.microsoft.com/office/drawing/2014/main" id="{E7B0C69C-DC03-BF59-5C9F-44FCDBB71F65}"/>
              </a:ext>
            </a:extLst>
          </p:cNvPr>
          <p:cNvPicPr>
            <a:picLocks noChangeAspect="1"/>
          </p:cNvPicPr>
          <p:nvPr/>
        </p:nvPicPr>
        <p:blipFill>
          <a:blip r:embed="rId4"/>
          <a:stretch>
            <a:fillRect/>
          </a:stretch>
        </p:blipFill>
        <p:spPr>
          <a:xfrm>
            <a:off x="952499" y="868680"/>
            <a:ext cx="2491031" cy="1371600"/>
          </a:xfrm>
          <a:prstGeom prst="rect">
            <a:avLst/>
          </a:prstGeom>
        </p:spPr>
      </p:pic>
      <p:sp>
        <p:nvSpPr>
          <p:cNvPr id="19" name="TextBox 18">
            <a:extLst>
              <a:ext uri="{FF2B5EF4-FFF2-40B4-BE49-F238E27FC236}">
                <a16:creationId xmlns:a16="http://schemas.microsoft.com/office/drawing/2014/main" id="{D0BAA6EB-D6B8-352C-31E8-90A6647C2EFD}"/>
              </a:ext>
            </a:extLst>
          </p:cNvPr>
          <p:cNvSpPr txBox="1"/>
          <p:nvPr/>
        </p:nvSpPr>
        <p:spPr>
          <a:xfrm>
            <a:off x="716257" y="9511784"/>
            <a:ext cx="3321049" cy="369332"/>
          </a:xfrm>
          <a:prstGeom prst="rect">
            <a:avLst/>
          </a:prstGeom>
          <a:noFill/>
        </p:spPr>
        <p:txBody>
          <a:bodyPr wrap="square" rtlCol="0">
            <a:spAutoFit/>
          </a:bodyPr>
          <a:lstStyle/>
          <a:p>
            <a:r>
              <a:rPr lang="en-US" dirty="0">
                <a:solidFill>
                  <a:srgbClr val="FFFFFF">
                    <a:alpha val="78000"/>
                  </a:srgbClr>
                </a:solidFill>
                <a:latin typeface="Arial"/>
                <a:ea typeface="Arial" pitchFamily="34" charset="-122"/>
                <a:cs typeface="Arial"/>
              </a:rPr>
              <a:t>[Program, e.g. B.Sc. in CSE]</a:t>
            </a:r>
            <a:endParaRPr lang="en-US" dirty="0"/>
          </a:p>
        </p:txBody>
      </p:sp>
      <p:sp>
        <p:nvSpPr>
          <p:cNvPr id="21" name="Text 6">
            <a:extLst>
              <a:ext uri="{FF2B5EF4-FFF2-40B4-BE49-F238E27FC236}">
                <a16:creationId xmlns:a16="http://schemas.microsoft.com/office/drawing/2014/main" id="{453577E7-7FE3-17F4-8C0D-1E08AD83A169}"/>
              </a:ext>
            </a:extLst>
          </p:cNvPr>
          <p:cNvSpPr/>
          <p:nvPr/>
        </p:nvSpPr>
        <p:spPr>
          <a:xfrm>
            <a:off x="5540314" y="8520430"/>
            <a:ext cx="5488245" cy="281940"/>
          </a:xfrm>
          <a:prstGeom prst="rect">
            <a:avLst/>
          </a:prstGeom>
          <a:noFill/>
          <a:ln/>
        </p:spPr>
        <p:txBody>
          <a:bodyPr wrap="square" lIns="25400" tIns="25400" rIns="25400" bIns="25400" rtlCol="0" anchor="t">
            <a:normAutofit lnSpcReduction="10000"/>
          </a:bodyPr>
          <a:lstStyle/>
          <a:p>
            <a:pPr marL="0" indent="0" algn="l">
              <a:buNone/>
            </a:pPr>
            <a:r>
              <a:rPr lang="en-US" sz="1650" kern="0" spc="165" dirty="0">
                <a:solidFill>
                  <a:srgbClr val="FFFFFF">
                    <a:alpha val="62000"/>
                  </a:srgbClr>
                </a:solidFill>
                <a:latin typeface="Arial" pitchFamily="34" charset="0"/>
                <a:ea typeface="Arial" pitchFamily="34" charset="-122"/>
                <a:cs typeface="Arial" pitchFamily="34" charset="-120"/>
              </a:rPr>
              <a:t>PRESENTED BY</a:t>
            </a:r>
            <a:endParaRPr lang="en-US" sz="1650" dirty="0"/>
          </a:p>
        </p:txBody>
      </p:sp>
      <p:sp>
        <p:nvSpPr>
          <p:cNvPr id="23" name="Text 7">
            <a:extLst>
              <a:ext uri="{FF2B5EF4-FFF2-40B4-BE49-F238E27FC236}">
                <a16:creationId xmlns:a16="http://schemas.microsoft.com/office/drawing/2014/main" id="{6A0739A2-7202-9C4A-C38A-0A3DF22E2899}"/>
              </a:ext>
            </a:extLst>
          </p:cNvPr>
          <p:cNvSpPr/>
          <p:nvPr/>
        </p:nvSpPr>
        <p:spPr>
          <a:xfrm>
            <a:off x="5092213" y="8830945"/>
            <a:ext cx="5488245" cy="365760"/>
          </a:xfrm>
          <a:prstGeom prst="rect">
            <a:avLst/>
          </a:prstGeom>
          <a:noFill/>
          <a:ln/>
        </p:spPr>
        <p:txBody>
          <a:bodyPr wrap="square" lIns="25400" tIns="25400" rIns="25400" bIns="25400" rtlCol="0" anchor="t">
            <a:normAutofit lnSpcReduction="10000"/>
          </a:bodyPr>
          <a:lstStyle/>
          <a:p>
            <a:r>
              <a:rPr lang="en-US" sz="2250" b="1" dirty="0">
                <a:solidFill>
                  <a:srgbClr val="FFFFFF"/>
                </a:solidFill>
                <a:ea typeface="+mn-lt"/>
                <a:cs typeface="+mn-lt"/>
              </a:rPr>
              <a:t>Mehrab Hasan </a:t>
            </a:r>
            <a:r>
              <a:rPr lang="en-US" sz="2250" b="1" dirty="0" err="1">
                <a:solidFill>
                  <a:srgbClr val="FFFFFF"/>
                </a:solidFill>
                <a:ea typeface="+mn-lt"/>
                <a:cs typeface="+mn-lt"/>
              </a:rPr>
              <a:t>Badhon</a:t>
            </a:r>
            <a:endParaRPr lang="en-US" b="1" dirty="0">
              <a:ea typeface="Calibri"/>
              <a:cs typeface="Calibri"/>
            </a:endParaRPr>
          </a:p>
        </p:txBody>
      </p:sp>
      <p:sp>
        <p:nvSpPr>
          <p:cNvPr id="25" name="Text 8">
            <a:extLst>
              <a:ext uri="{FF2B5EF4-FFF2-40B4-BE49-F238E27FC236}">
                <a16:creationId xmlns:a16="http://schemas.microsoft.com/office/drawing/2014/main" id="{4B38E02B-B25A-B0C7-F62F-60512B674D4C}"/>
              </a:ext>
            </a:extLst>
          </p:cNvPr>
          <p:cNvSpPr/>
          <p:nvPr/>
        </p:nvSpPr>
        <p:spPr>
          <a:xfrm>
            <a:off x="5591114" y="9215755"/>
            <a:ext cx="1746250" cy="312420"/>
          </a:xfrm>
          <a:prstGeom prst="rect">
            <a:avLst/>
          </a:prstGeom>
          <a:noFill/>
          <a:ln/>
        </p:spPr>
        <p:txBody>
          <a:bodyPr wrap="square" lIns="25400" tIns="25400" rIns="25400" bIns="25400" rtlCol="0" anchor="t">
            <a:normAutofit lnSpcReduction="10000"/>
          </a:bodyPr>
          <a:lstStyle/>
          <a:p>
            <a:r>
              <a:rPr lang="en-US" sz="1850" dirty="0">
                <a:solidFill>
                  <a:srgbClr val="FFFFFF">
                    <a:alpha val="78000"/>
                  </a:srgbClr>
                </a:solidFill>
                <a:latin typeface="Arial"/>
                <a:ea typeface="Arial" pitchFamily="34" charset="-122"/>
                <a:cs typeface="Arial"/>
              </a:rPr>
              <a:t>ID: </a:t>
            </a:r>
            <a:r>
              <a:rPr lang="en-US" sz="1850" dirty="0">
                <a:solidFill>
                  <a:srgbClr val="FFFFFF">
                    <a:alpha val="78000"/>
                  </a:srgbClr>
                </a:solidFill>
                <a:ea typeface="+mn-lt"/>
                <a:cs typeface="+mn-lt"/>
              </a:rPr>
              <a:t>2233081271</a:t>
            </a:r>
            <a:endParaRPr lang="en-US" sz="1850" dirty="0">
              <a:latin typeface="Arial"/>
              <a:cs typeface="Arial"/>
            </a:endParaRPr>
          </a:p>
        </p:txBody>
      </p:sp>
      <p:sp>
        <p:nvSpPr>
          <p:cNvPr id="27" name="TextBox 26">
            <a:extLst>
              <a:ext uri="{FF2B5EF4-FFF2-40B4-BE49-F238E27FC236}">
                <a16:creationId xmlns:a16="http://schemas.microsoft.com/office/drawing/2014/main" id="{3CC95EB1-9AC0-6152-C5D4-A7A85FFEE949}"/>
              </a:ext>
            </a:extLst>
          </p:cNvPr>
          <p:cNvSpPr txBox="1"/>
          <p:nvPr/>
        </p:nvSpPr>
        <p:spPr>
          <a:xfrm>
            <a:off x="4963387" y="9511784"/>
            <a:ext cx="3321049" cy="369332"/>
          </a:xfrm>
          <a:prstGeom prst="rect">
            <a:avLst/>
          </a:prstGeom>
          <a:noFill/>
        </p:spPr>
        <p:txBody>
          <a:bodyPr wrap="square" rtlCol="0">
            <a:spAutoFit/>
          </a:bodyPr>
          <a:lstStyle/>
          <a:p>
            <a:r>
              <a:rPr lang="en-US" dirty="0">
                <a:solidFill>
                  <a:srgbClr val="FFFFFF">
                    <a:alpha val="78000"/>
                  </a:srgbClr>
                </a:solidFill>
                <a:latin typeface="Arial"/>
                <a:ea typeface="Arial" pitchFamily="34" charset="-122"/>
                <a:cs typeface="Arial"/>
              </a:rPr>
              <a:t>[Program, e.g. B.Sc. in CSE]</a:t>
            </a:r>
            <a:endParaRPr lang="en-US" dirty="0"/>
          </a:p>
        </p:txBody>
      </p:sp>
      <p:sp>
        <p:nvSpPr>
          <p:cNvPr id="29" name="Text 6">
            <a:extLst>
              <a:ext uri="{FF2B5EF4-FFF2-40B4-BE49-F238E27FC236}">
                <a16:creationId xmlns:a16="http://schemas.microsoft.com/office/drawing/2014/main" id="{AC08E667-2AFD-82AF-8E03-448B82969D6F}"/>
              </a:ext>
            </a:extLst>
          </p:cNvPr>
          <p:cNvSpPr/>
          <p:nvPr/>
        </p:nvSpPr>
        <p:spPr>
          <a:xfrm>
            <a:off x="10003564" y="8512810"/>
            <a:ext cx="5488245" cy="281940"/>
          </a:xfrm>
          <a:prstGeom prst="rect">
            <a:avLst/>
          </a:prstGeom>
          <a:noFill/>
          <a:ln/>
        </p:spPr>
        <p:txBody>
          <a:bodyPr wrap="square" lIns="25400" tIns="25400" rIns="25400" bIns="25400" rtlCol="0" anchor="t">
            <a:normAutofit lnSpcReduction="10000"/>
          </a:bodyPr>
          <a:lstStyle/>
          <a:p>
            <a:pPr marL="0" indent="0" algn="l">
              <a:buNone/>
            </a:pPr>
            <a:r>
              <a:rPr lang="en-US" sz="1650" kern="0" spc="165" dirty="0">
                <a:solidFill>
                  <a:srgbClr val="FFFFFF">
                    <a:alpha val="62000"/>
                  </a:srgbClr>
                </a:solidFill>
                <a:latin typeface="Arial" pitchFamily="34" charset="0"/>
                <a:ea typeface="Arial" pitchFamily="34" charset="-122"/>
                <a:cs typeface="Arial" pitchFamily="34" charset="-120"/>
              </a:rPr>
              <a:t>PRESENTED BY</a:t>
            </a:r>
            <a:endParaRPr lang="en-US" sz="1650" dirty="0"/>
          </a:p>
        </p:txBody>
      </p:sp>
      <p:sp>
        <p:nvSpPr>
          <p:cNvPr id="31" name="Text 7">
            <a:extLst>
              <a:ext uri="{FF2B5EF4-FFF2-40B4-BE49-F238E27FC236}">
                <a16:creationId xmlns:a16="http://schemas.microsoft.com/office/drawing/2014/main" id="{355030AE-408A-49C8-CBDF-CB668DFC711B}"/>
              </a:ext>
            </a:extLst>
          </p:cNvPr>
          <p:cNvSpPr/>
          <p:nvPr/>
        </p:nvSpPr>
        <p:spPr>
          <a:xfrm>
            <a:off x="10078371" y="8797290"/>
            <a:ext cx="5488245" cy="365760"/>
          </a:xfrm>
          <a:prstGeom prst="rect">
            <a:avLst/>
          </a:prstGeom>
          <a:noFill/>
          <a:ln/>
        </p:spPr>
        <p:txBody>
          <a:bodyPr wrap="square" lIns="25400" tIns="25400" rIns="25400" bIns="25400" rtlCol="0" anchor="t">
            <a:normAutofit lnSpcReduction="10000"/>
          </a:bodyPr>
          <a:lstStyle/>
          <a:p>
            <a:r>
              <a:rPr lang="en-US" sz="2250" b="1" dirty="0">
                <a:solidFill>
                  <a:srgbClr val="FFFFFF"/>
                </a:solidFill>
                <a:ea typeface="+mn-lt"/>
                <a:cs typeface="+mn-lt"/>
              </a:rPr>
              <a:t>Mamun Shake</a:t>
            </a:r>
            <a:endParaRPr lang="en-US" b="1" dirty="0">
              <a:ea typeface="Calibri"/>
              <a:cs typeface="Calibri"/>
            </a:endParaRPr>
          </a:p>
        </p:txBody>
      </p:sp>
      <p:sp>
        <p:nvSpPr>
          <p:cNvPr id="33" name="Text 8">
            <a:extLst>
              <a:ext uri="{FF2B5EF4-FFF2-40B4-BE49-F238E27FC236}">
                <a16:creationId xmlns:a16="http://schemas.microsoft.com/office/drawing/2014/main" id="{32841CFB-A64D-2EB4-B17D-3EC1A812FA85}"/>
              </a:ext>
            </a:extLst>
          </p:cNvPr>
          <p:cNvSpPr/>
          <p:nvPr/>
        </p:nvSpPr>
        <p:spPr>
          <a:xfrm>
            <a:off x="10128246" y="9183370"/>
            <a:ext cx="1746250" cy="312420"/>
          </a:xfrm>
          <a:prstGeom prst="rect">
            <a:avLst/>
          </a:prstGeom>
          <a:noFill/>
          <a:ln/>
        </p:spPr>
        <p:txBody>
          <a:bodyPr wrap="square" lIns="25400" tIns="25400" rIns="25400" bIns="25400" rtlCol="0" anchor="t">
            <a:normAutofit lnSpcReduction="10000"/>
          </a:bodyPr>
          <a:lstStyle/>
          <a:p>
            <a:r>
              <a:rPr lang="en-US" sz="1850" dirty="0">
                <a:solidFill>
                  <a:srgbClr val="FFFFFF">
                    <a:alpha val="78000"/>
                  </a:srgbClr>
                </a:solidFill>
                <a:latin typeface="Arial"/>
                <a:ea typeface="Arial" pitchFamily="34" charset="-122"/>
                <a:cs typeface="Arial"/>
              </a:rPr>
              <a:t>ID: </a:t>
            </a:r>
            <a:r>
              <a:rPr lang="en-US" sz="1850" dirty="0">
                <a:solidFill>
                  <a:srgbClr val="FFFFFF">
                    <a:alpha val="78000"/>
                  </a:srgbClr>
                </a:solidFill>
                <a:ea typeface="+mn-lt"/>
                <a:cs typeface="+mn-lt"/>
              </a:rPr>
              <a:t>2233081255</a:t>
            </a:r>
            <a:endParaRPr lang="en-US" sz="1850" dirty="0">
              <a:latin typeface="Arial"/>
              <a:cs typeface="Arial"/>
            </a:endParaRPr>
          </a:p>
        </p:txBody>
      </p:sp>
      <p:sp>
        <p:nvSpPr>
          <p:cNvPr id="35" name="TextBox 34">
            <a:extLst>
              <a:ext uri="{FF2B5EF4-FFF2-40B4-BE49-F238E27FC236}">
                <a16:creationId xmlns:a16="http://schemas.microsoft.com/office/drawing/2014/main" id="{CAE03472-C2CD-E4BE-5297-3FC9EA959DDB}"/>
              </a:ext>
            </a:extLst>
          </p:cNvPr>
          <p:cNvSpPr txBox="1"/>
          <p:nvPr/>
        </p:nvSpPr>
        <p:spPr>
          <a:xfrm>
            <a:off x="9475528" y="9502140"/>
            <a:ext cx="3321049" cy="369332"/>
          </a:xfrm>
          <a:prstGeom prst="rect">
            <a:avLst/>
          </a:prstGeom>
          <a:noFill/>
        </p:spPr>
        <p:txBody>
          <a:bodyPr wrap="square" rtlCol="0">
            <a:spAutoFit/>
          </a:bodyPr>
          <a:lstStyle/>
          <a:p>
            <a:r>
              <a:rPr lang="en-US" dirty="0">
                <a:solidFill>
                  <a:srgbClr val="FFFFFF">
                    <a:alpha val="78000"/>
                  </a:srgbClr>
                </a:solidFill>
                <a:latin typeface="Arial"/>
                <a:ea typeface="Arial" pitchFamily="34" charset="-122"/>
                <a:cs typeface="Arial"/>
              </a:rPr>
              <a:t>[Program, e.g. B.Sc. in CSE]</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047750" y="857250"/>
            <a:ext cx="17811750" cy="312420"/>
          </a:xfrm>
          <a:prstGeom prst="rect">
            <a:avLst/>
          </a:prstGeom>
          <a:noFill/>
          <a:ln/>
        </p:spPr>
        <p:txBody>
          <a:bodyPr wrap="square" lIns="25400" tIns="25400" rIns="25400" bIns="25400" rtlCol="0" anchor="t">
            <a:normAutofit lnSpcReduction="10000"/>
          </a:bodyPr>
          <a:lstStyle/>
          <a:p>
            <a:pPr marL="0" indent="0" algn="l">
              <a:buNone/>
            </a:pPr>
            <a:r>
              <a:rPr lang="en-US" sz="1875" b="1" kern="0" spc="263">
                <a:solidFill>
                  <a:srgbClr val="1200FF"/>
                </a:solidFill>
                <a:latin typeface="Arial" pitchFamily="34" charset="0"/>
                <a:ea typeface="Arial" pitchFamily="34" charset="-122"/>
                <a:cs typeface="Arial" pitchFamily="34" charset="-120"/>
              </a:rPr>
              <a:t>PRESENTATION OUTLINE</a:t>
            </a:r>
            <a:endParaRPr lang="en-US" sz="1875"/>
          </a:p>
        </p:txBody>
      </p:sp>
      <p:sp>
        <p:nvSpPr>
          <p:cNvPr id="3" name="Text 1"/>
          <p:cNvSpPr/>
          <p:nvPr/>
        </p:nvSpPr>
        <p:spPr>
          <a:xfrm>
            <a:off x="1047750" y="1264920"/>
            <a:ext cx="17811750" cy="693420"/>
          </a:xfrm>
          <a:prstGeom prst="rect">
            <a:avLst/>
          </a:prstGeom>
          <a:noFill/>
          <a:ln/>
        </p:spPr>
        <p:txBody>
          <a:bodyPr wrap="square" lIns="25400" tIns="25400" rIns="25400" bIns="25400" rtlCol="0" anchor="t">
            <a:normAutofit lnSpcReduction="10000"/>
          </a:bodyPr>
          <a:lstStyle/>
          <a:p>
            <a:pPr marL="0" indent="0" algn="l">
              <a:buNone/>
            </a:pPr>
            <a:r>
              <a:rPr lang="en-US" sz="4500" b="1" kern="0" spc="-45">
                <a:solidFill>
                  <a:srgbClr val="10101B"/>
                </a:solidFill>
                <a:latin typeface="Arial" pitchFamily="34" charset="0"/>
                <a:ea typeface="Arial" pitchFamily="34" charset="-122"/>
                <a:cs typeface="Arial" pitchFamily="34" charset="-120"/>
              </a:rPr>
              <a:t>What We'll Cover</a:t>
            </a:r>
            <a:endParaRPr lang="en-US" sz="4500"/>
          </a:p>
        </p:txBody>
      </p:sp>
      <p:sp>
        <p:nvSpPr>
          <p:cNvPr id="4" name="Shape 2"/>
          <p:cNvSpPr/>
          <p:nvPr/>
        </p:nvSpPr>
        <p:spPr>
          <a:xfrm>
            <a:off x="1047750" y="4379595"/>
            <a:ext cx="7715250" cy="9525"/>
          </a:xfrm>
          <a:prstGeom prst="rect">
            <a:avLst/>
          </a:prstGeom>
          <a:solidFill>
            <a:srgbClr val="E1E3F0"/>
          </a:solidFill>
          <a:ln/>
        </p:spPr>
      </p:sp>
      <p:sp>
        <p:nvSpPr>
          <p:cNvPr id="5" name="Text 3"/>
          <p:cNvSpPr/>
          <p:nvPr/>
        </p:nvSpPr>
        <p:spPr>
          <a:xfrm>
            <a:off x="1047750" y="3823335"/>
            <a:ext cx="609600" cy="403860"/>
          </a:xfrm>
          <a:prstGeom prst="rect">
            <a:avLst/>
          </a:prstGeom>
          <a:noFill/>
          <a:ln/>
        </p:spPr>
        <p:txBody>
          <a:bodyPr wrap="square" lIns="25400" tIns="25400" rIns="25400" bIns="25400" rtlCol="0" anchor="t">
            <a:normAutofit lnSpcReduction="10000"/>
          </a:bodyPr>
          <a:lstStyle/>
          <a:p>
            <a:pPr marL="0" indent="0" algn="l">
              <a:buNone/>
            </a:pPr>
            <a:r>
              <a:rPr lang="en-US" sz="2550" b="1">
                <a:solidFill>
                  <a:srgbClr val="1200FF"/>
                </a:solidFill>
                <a:latin typeface="Arial" pitchFamily="34" charset="0"/>
                <a:ea typeface="Arial" pitchFamily="34" charset="-122"/>
                <a:cs typeface="Arial" pitchFamily="34" charset="-120"/>
              </a:rPr>
              <a:t>01</a:t>
            </a:r>
            <a:endParaRPr lang="en-US" sz="2550"/>
          </a:p>
        </p:txBody>
      </p:sp>
      <p:sp>
        <p:nvSpPr>
          <p:cNvPr id="6" name="Text 4"/>
          <p:cNvSpPr/>
          <p:nvPr/>
        </p:nvSpPr>
        <p:spPr>
          <a:xfrm>
            <a:off x="1809750" y="3853815"/>
            <a:ext cx="4068675" cy="365760"/>
          </a:xfrm>
          <a:prstGeom prst="rect">
            <a:avLst/>
          </a:prstGeom>
          <a:noFill/>
          <a:ln/>
        </p:spPr>
        <p:txBody>
          <a:bodyPr wrap="square" lIns="25400" tIns="25400" rIns="25400" bIns="25400" rtlCol="0" anchor="t">
            <a:normAutofit lnSpcReduction="10000"/>
          </a:bodyPr>
          <a:lstStyle/>
          <a:p>
            <a:pPr marL="0" indent="0" algn="l">
              <a:buNone/>
            </a:pPr>
            <a:r>
              <a:rPr lang="en-US" sz="2250" b="1">
                <a:solidFill>
                  <a:srgbClr val="10101B"/>
                </a:solidFill>
                <a:ea typeface="+mn-lt"/>
                <a:cs typeface="+mn-lt"/>
              </a:rPr>
              <a:t>Introduction &amp; Motivation</a:t>
            </a:r>
            <a:endParaRPr lang="en-US" b="1">
              <a:ea typeface="Calibri"/>
              <a:cs typeface="Calibri"/>
            </a:endParaRPr>
          </a:p>
        </p:txBody>
      </p:sp>
      <p:sp>
        <p:nvSpPr>
          <p:cNvPr id="7" name="Shape 5"/>
          <p:cNvSpPr/>
          <p:nvPr/>
        </p:nvSpPr>
        <p:spPr>
          <a:xfrm>
            <a:off x="9525000" y="4379595"/>
            <a:ext cx="7715250" cy="9525"/>
          </a:xfrm>
          <a:prstGeom prst="rect">
            <a:avLst/>
          </a:prstGeom>
          <a:solidFill>
            <a:srgbClr val="E1E3F0"/>
          </a:solidFill>
          <a:ln/>
        </p:spPr>
      </p:sp>
      <p:sp>
        <p:nvSpPr>
          <p:cNvPr id="8" name="Text 6"/>
          <p:cNvSpPr/>
          <p:nvPr/>
        </p:nvSpPr>
        <p:spPr>
          <a:xfrm>
            <a:off x="9525000" y="3823335"/>
            <a:ext cx="609600" cy="403860"/>
          </a:xfrm>
          <a:prstGeom prst="rect">
            <a:avLst/>
          </a:prstGeom>
          <a:noFill/>
          <a:ln/>
        </p:spPr>
        <p:txBody>
          <a:bodyPr wrap="square" lIns="25400" tIns="25400" rIns="25400" bIns="25400" rtlCol="0" anchor="t">
            <a:normAutofit lnSpcReduction="10000"/>
          </a:bodyPr>
          <a:lstStyle/>
          <a:p>
            <a:pPr marL="0" indent="0" algn="l">
              <a:buNone/>
            </a:pPr>
            <a:r>
              <a:rPr lang="en-US" sz="2550" b="1">
                <a:solidFill>
                  <a:srgbClr val="1200FF"/>
                </a:solidFill>
                <a:latin typeface="Arial" pitchFamily="34" charset="0"/>
                <a:ea typeface="Arial" pitchFamily="34" charset="-122"/>
                <a:cs typeface="Arial" pitchFamily="34" charset="-120"/>
              </a:rPr>
              <a:t>02</a:t>
            </a:r>
            <a:endParaRPr lang="en-US" sz="2550"/>
          </a:p>
        </p:txBody>
      </p:sp>
      <p:sp>
        <p:nvSpPr>
          <p:cNvPr id="9" name="Text 7"/>
          <p:cNvSpPr/>
          <p:nvPr/>
        </p:nvSpPr>
        <p:spPr>
          <a:xfrm>
            <a:off x="10287000" y="3853815"/>
            <a:ext cx="2864548" cy="365760"/>
          </a:xfrm>
          <a:prstGeom prst="rect">
            <a:avLst/>
          </a:prstGeom>
          <a:noFill/>
          <a:ln/>
        </p:spPr>
        <p:txBody>
          <a:bodyPr wrap="square" lIns="25400" tIns="25400" rIns="25400" bIns="25400" rtlCol="0" anchor="t">
            <a:normAutofit lnSpcReduction="10000"/>
          </a:bodyPr>
          <a:lstStyle/>
          <a:p>
            <a:pPr marL="0" indent="0" algn="l">
              <a:buNone/>
            </a:pPr>
            <a:r>
              <a:rPr lang="en-US" sz="2250" b="1">
                <a:solidFill>
                  <a:srgbClr val="10101B"/>
                </a:solidFill>
                <a:latin typeface="Arial" pitchFamily="34" charset="0"/>
                <a:ea typeface="Arial" pitchFamily="34" charset="-122"/>
                <a:cs typeface="Arial" pitchFamily="34" charset="-120"/>
              </a:rPr>
              <a:t>Problem Statement</a:t>
            </a:r>
            <a:endParaRPr lang="en-US" sz="2250"/>
          </a:p>
        </p:txBody>
      </p:sp>
      <p:sp>
        <p:nvSpPr>
          <p:cNvPr id="10" name="Shape 8"/>
          <p:cNvSpPr/>
          <p:nvPr/>
        </p:nvSpPr>
        <p:spPr>
          <a:xfrm>
            <a:off x="1047750" y="5172075"/>
            <a:ext cx="7715250" cy="9525"/>
          </a:xfrm>
          <a:prstGeom prst="rect">
            <a:avLst/>
          </a:prstGeom>
          <a:solidFill>
            <a:srgbClr val="E1E3F0"/>
          </a:solidFill>
          <a:ln/>
        </p:spPr>
      </p:sp>
      <p:sp>
        <p:nvSpPr>
          <p:cNvPr id="11" name="Text 9"/>
          <p:cNvSpPr/>
          <p:nvPr/>
        </p:nvSpPr>
        <p:spPr>
          <a:xfrm>
            <a:off x="1047750" y="4615815"/>
            <a:ext cx="609600" cy="403860"/>
          </a:xfrm>
          <a:prstGeom prst="rect">
            <a:avLst/>
          </a:prstGeom>
          <a:noFill/>
          <a:ln/>
        </p:spPr>
        <p:txBody>
          <a:bodyPr wrap="square" lIns="25400" tIns="25400" rIns="25400" bIns="25400" rtlCol="0" anchor="t">
            <a:normAutofit lnSpcReduction="10000"/>
          </a:bodyPr>
          <a:lstStyle/>
          <a:p>
            <a:pPr marL="0" indent="0" algn="l">
              <a:buNone/>
            </a:pPr>
            <a:r>
              <a:rPr lang="en-US" sz="2550" b="1">
                <a:solidFill>
                  <a:srgbClr val="1200FF"/>
                </a:solidFill>
                <a:latin typeface="Arial" pitchFamily="34" charset="0"/>
                <a:ea typeface="Arial" pitchFamily="34" charset="-122"/>
                <a:cs typeface="Arial" pitchFamily="34" charset="-120"/>
              </a:rPr>
              <a:t>03</a:t>
            </a:r>
            <a:endParaRPr lang="en-US" sz="2550"/>
          </a:p>
        </p:txBody>
      </p:sp>
      <p:sp>
        <p:nvSpPr>
          <p:cNvPr id="12" name="Text 10"/>
          <p:cNvSpPr/>
          <p:nvPr/>
        </p:nvSpPr>
        <p:spPr>
          <a:xfrm>
            <a:off x="1809750" y="4646295"/>
            <a:ext cx="3092696" cy="365760"/>
          </a:xfrm>
          <a:prstGeom prst="rect">
            <a:avLst/>
          </a:prstGeom>
          <a:noFill/>
          <a:ln/>
        </p:spPr>
        <p:txBody>
          <a:bodyPr wrap="square" lIns="25400" tIns="25400" rIns="25400" bIns="25400" rtlCol="0" anchor="t">
            <a:normAutofit lnSpcReduction="10000"/>
          </a:bodyPr>
          <a:lstStyle/>
          <a:p>
            <a:pPr marL="0" indent="0" algn="l">
              <a:buNone/>
            </a:pPr>
            <a:r>
              <a:rPr lang="en-US" sz="2250" b="1">
                <a:solidFill>
                  <a:srgbClr val="10101B"/>
                </a:solidFill>
                <a:latin typeface="Arial" pitchFamily="34" charset="0"/>
                <a:ea typeface="Arial" pitchFamily="34" charset="-122"/>
                <a:cs typeface="Arial" pitchFamily="34" charset="-120"/>
              </a:rPr>
              <a:t>Research Objectives</a:t>
            </a:r>
            <a:endParaRPr lang="en-US" sz="2250"/>
          </a:p>
        </p:txBody>
      </p:sp>
      <p:sp>
        <p:nvSpPr>
          <p:cNvPr id="13" name="Shape 11"/>
          <p:cNvSpPr/>
          <p:nvPr/>
        </p:nvSpPr>
        <p:spPr>
          <a:xfrm>
            <a:off x="9525000" y="5172075"/>
            <a:ext cx="7715250" cy="9525"/>
          </a:xfrm>
          <a:prstGeom prst="rect">
            <a:avLst/>
          </a:prstGeom>
          <a:solidFill>
            <a:srgbClr val="E1E3F0"/>
          </a:solidFill>
          <a:ln/>
        </p:spPr>
      </p:sp>
      <p:sp>
        <p:nvSpPr>
          <p:cNvPr id="14" name="Text 12"/>
          <p:cNvSpPr/>
          <p:nvPr/>
        </p:nvSpPr>
        <p:spPr>
          <a:xfrm>
            <a:off x="9525000" y="4615815"/>
            <a:ext cx="609600" cy="403860"/>
          </a:xfrm>
          <a:prstGeom prst="rect">
            <a:avLst/>
          </a:prstGeom>
          <a:noFill/>
          <a:ln/>
        </p:spPr>
        <p:txBody>
          <a:bodyPr wrap="square" lIns="25400" tIns="25400" rIns="25400" bIns="25400" rtlCol="0" anchor="t">
            <a:normAutofit lnSpcReduction="10000"/>
          </a:bodyPr>
          <a:lstStyle/>
          <a:p>
            <a:pPr marL="0" indent="0" algn="l">
              <a:buNone/>
            </a:pPr>
            <a:r>
              <a:rPr lang="en-US" sz="2550" b="1">
                <a:solidFill>
                  <a:srgbClr val="1200FF"/>
                </a:solidFill>
                <a:latin typeface="Arial" pitchFamily="34" charset="0"/>
                <a:ea typeface="Arial" pitchFamily="34" charset="-122"/>
                <a:cs typeface="Arial" pitchFamily="34" charset="-120"/>
              </a:rPr>
              <a:t>04</a:t>
            </a:r>
            <a:endParaRPr lang="en-US" sz="2550"/>
          </a:p>
        </p:txBody>
      </p:sp>
      <p:sp>
        <p:nvSpPr>
          <p:cNvPr id="15" name="Text 13"/>
          <p:cNvSpPr/>
          <p:nvPr/>
        </p:nvSpPr>
        <p:spPr>
          <a:xfrm>
            <a:off x="10287000" y="4646295"/>
            <a:ext cx="2620423" cy="365760"/>
          </a:xfrm>
          <a:prstGeom prst="rect">
            <a:avLst/>
          </a:prstGeom>
          <a:noFill/>
          <a:ln/>
        </p:spPr>
        <p:txBody>
          <a:bodyPr wrap="square" lIns="25400" tIns="25400" rIns="25400" bIns="25400" rtlCol="0" anchor="t">
            <a:normAutofit lnSpcReduction="10000"/>
          </a:bodyPr>
          <a:lstStyle/>
          <a:p>
            <a:pPr marL="0" indent="0" algn="l">
              <a:buNone/>
            </a:pPr>
            <a:r>
              <a:rPr lang="en-US" sz="2250" b="1">
                <a:solidFill>
                  <a:srgbClr val="10101B"/>
                </a:solidFill>
                <a:latin typeface="Arial" pitchFamily="34" charset="0"/>
                <a:ea typeface="Arial" pitchFamily="34" charset="-122"/>
                <a:cs typeface="Arial" pitchFamily="34" charset="-120"/>
              </a:rPr>
              <a:t>Literature Review</a:t>
            </a:r>
            <a:endParaRPr lang="en-US" sz="2250"/>
          </a:p>
        </p:txBody>
      </p:sp>
      <p:sp>
        <p:nvSpPr>
          <p:cNvPr id="16" name="Shape 14"/>
          <p:cNvSpPr/>
          <p:nvPr/>
        </p:nvSpPr>
        <p:spPr>
          <a:xfrm>
            <a:off x="1047750" y="5964555"/>
            <a:ext cx="7715250" cy="9525"/>
          </a:xfrm>
          <a:prstGeom prst="rect">
            <a:avLst/>
          </a:prstGeom>
          <a:solidFill>
            <a:srgbClr val="E1E3F0"/>
          </a:solidFill>
          <a:ln/>
        </p:spPr>
      </p:sp>
      <p:sp>
        <p:nvSpPr>
          <p:cNvPr id="17" name="Text 15"/>
          <p:cNvSpPr/>
          <p:nvPr/>
        </p:nvSpPr>
        <p:spPr>
          <a:xfrm>
            <a:off x="1047750" y="5408295"/>
            <a:ext cx="609600" cy="403860"/>
          </a:xfrm>
          <a:prstGeom prst="rect">
            <a:avLst/>
          </a:prstGeom>
          <a:noFill/>
          <a:ln/>
        </p:spPr>
        <p:txBody>
          <a:bodyPr wrap="square" lIns="25400" tIns="25400" rIns="25400" bIns="25400" rtlCol="0" anchor="t">
            <a:normAutofit lnSpcReduction="10000"/>
          </a:bodyPr>
          <a:lstStyle/>
          <a:p>
            <a:pPr marL="0" indent="0" algn="l">
              <a:buNone/>
            </a:pPr>
            <a:r>
              <a:rPr lang="en-US" sz="2550" b="1">
                <a:solidFill>
                  <a:srgbClr val="1200FF"/>
                </a:solidFill>
                <a:latin typeface="Arial" pitchFamily="34" charset="0"/>
                <a:ea typeface="Arial" pitchFamily="34" charset="-122"/>
                <a:cs typeface="Arial" pitchFamily="34" charset="-120"/>
              </a:rPr>
              <a:t>05</a:t>
            </a:r>
            <a:endParaRPr lang="en-US" sz="2550"/>
          </a:p>
        </p:txBody>
      </p:sp>
      <p:sp>
        <p:nvSpPr>
          <p:cNvPr id="18" name="Text 16"/>
          <p:cNvSpPr/>
          <p:nvPr/>
        </p:nvSpPr>
        <p:spPr>
          <a:xfrm>
            <a:off x="1809750" y="5438775"/>
            <a:ext cx="1955494" cy="365760"/>
          </a:xfrm>
          <a:prstGeom prst="rect">
            <a:avLst/>
          </a:prstGeom>
          <a:noFill/>
          <a:ln/>
        </p:spPr>
        <p:txBody>
          <a:bodyPr wrap="square" lIns="25400" tIns="25400" rIns="25400" bIns="25400" rtlCol="0" anchor="t">
            <a:normAutofit lnSpcReduction="10000"/>
          </a:bodyPr>
          <a:lstStyle/>
          <a:p>
            <a:pPr marL="0" indent="0" algn="l">
              <a:buNone/>
            </a:pPr>
            <a:r>
              <a:rPr lang="en-US" sz="2250" b="1">
                <a:solidFill>
                  <a:srgbClr val="10101B"/>
                </a:solidFill>
                <a:latin typeface="Arial" pitchFamily="34" charset="0"/>
                <a:ea typeface="Arial" pitchFamily="34" charset="-122"/>
                <a:cs typeface="Arial" pitchFamily="34" charset="-120"/>
              </a:rPr>
              <a:t>Methodology</a:t>
            </a:r>
            <a:endParaRPr lang="en-US" sz="2250"/>
          </a:p>
        </p:txBody>
      </p:sp>
      <p:sp>
        <p:nvSpPr>
          <p:cNvPr id="19" name="Shape 17"/>
          <p:cNvSpPr/>
          <p:nvPr/>
        </p:nvSpPr>
        <p:spPr>
          <a:xfrm>
            <a:off x="9525000" y="5964555"/>
            <a:ext cx="7715250" cy="9525"/>
          </a:xfrm>
          <a:prstGeom prst="rect">
            <a:avLst/>
          </a:prstGeom>
          <a:solidFill>
            <a:srgbClr val="E1E3F0"/>
          </a:solidFill>
          <a:ln/>
        </p:spPr>
      </p:sp>
      <p:sp>
        <p:nvSpPr>
          <p:cNvPr id="20" name="Text 18"/>
          <p:cNvSpPr/>
          <p:nvPr/>
        </p:nvSpPr>
        <p:spPr>
          <a:xfrm>
            <a:off x="9525000" y="5408295"/>
            <a:ext cx="609600" cy="403860"/>
          </a:xfrm>
          <a:prstGeom prst="rect">
            <a:avLst/>
          </a:prstGeom>
          <a:noFill/>
          <a:ln/>
        </p:spPr>
        <p:txBody>
          <a:bodyPr wrap="square" lIns="25400" tIns="25400" rIns="25400" bIns="25400" rtlCol="0" anchor="t">
            <a:normAutofit lnSpcReduction="10000"/>
          </a:bodyPr>
          <a:lstStyle/>
          <a:p>
            <a:pPr marL="0" indent="0" algn="l">
              <a:buNone/>
            </a:pPr>
            <a:r>
              <a:rPr lang="en-US" sz="2550" b="1">
                <a:solidFill>
                  <a:srgbClr val="1200FF"/>
                </a:solidFill>
                <a:latin typeface="Arial" pitchFamily="34" charset="0"/>
                <a:ea typeface="Arial" pitchFamily="34" charset="-122"/>
                <a:cs typeface="Arial" pitchFamily="34" charset="-120"/>
              </a:rPr>
              <a:t>06</a:t>
            </a:r>
            <a:endParaRPr lang="en-US" sz="2550"/>
          </a:p>
        </p:txBody>
      </p:sp>
      <p:sp>
        <p:nvSpPr>
          <p:cNvPr id="21" name="Text 19"/>
          <p:cNvSpPr/>
          <p:nvPr/>
        </p:nvSpPr>
        <p:spPr>
          <a:xfrm>
            <a:off x="10287000" y="5438775"/>
            <a:ext cx="2253579" cy="365760"/>
          </a:xfrm>
          <a:prstGeom prst="rect">
            <a:avLst/>
          </a:prstGeom>
          <a:noFill/>
          <a:ln/>
        </p:spPr>
        <p:txBody>
          <a:bodyPr wrap="square" lIns="25400" tIns="25400" rIns="25400" bIns="25400" rtlCol="0" anchor="t">
            <a:normAutofit lnSpcReduction="10000"/>
          </a:bodyPr>
          <a:lstStyle/>
          <a:p>
            <a:pPr marL="0" indent="0" algn="l">
              <a:buNone/>
            </a:pPr>
            <a:r>
              <a:rPr lang="en-US" sz="2250" b="1">
                <a:solidFill>
                  <a:srgbClr val="10101B"/>
                </a:solidFill>
                <a:latin typeface="Arial" pitchFamily="34" charset="0"/>
                <a:ea typeface="Arial" pitchFamily="34" charset="-122"/>
                <a:cs typeface="Arial" pitchFamily="34" charset="-120"/>
              </a:rPr>
              <a:t>System Design</a:t>
            </a:r>
            <a:endParaRPr lang="en-US" sz="2250"/>
          </a:p>
        </p:txBody>
      </p:sp>
      <p:sp>
        <p:nvSpPr>
          <p:cNvPr id="22" name="Shape 20"/>
          <p:cNvSpPr/>
          <p:nvPr/>
        </p:nvSpPr>
        <p:spPr>
          <a:xfrm>
            <a:off x="1047750" y="6757035"/>
            <a:ext cx="7715250" cy="9525"/>
          </a:xfrm>
          <a:prstGeom prst="rect">
            <a:avLst/>
          </a:prstGeom>
          <a:solidFill>
            <a:srgbClr val="E1E3F0"/>
          </a:solidFill>
          <a:ln/>
        </p:spPr>
      </p:sp>
      <p:sp>
        <p:nvSpPr>
          <p:cNvPr id="23" name="Text 21"/>
          <p:cNvSpPr/>
          <p:nvPr/>
        </p:nvSpPr>
        <p:spPr>
          <a:xfrm>
            <a:off x="1047750" y="6200775"/>
            <a:ext cx="609600" cy="403860"/>
          </a:xfrm>
          <a:prstGeom prst="rect">
            <a:avLst/>
          </a:prstGeom>
          <a:noFill/>
          <a:ln/>
        </p:spPr>
        <p:txBody>
          <a:bodyPr wrap="square" lIns="25400" tIns="25400" rIns="25400" bIns="25400" rtlCol="0" anchor="t">
            <a:normAutofit lnSpcReduction="10000"/>
          </a:bodyPr>
          <a:lstStyle/>
          <a:p>
            <a:pPr marL="0" indent="0" algn="l">
              <a:buNone/>
            </a:pPr>
            <a:r>
              <a:rPr lang="en-US" sz="2550" b="1">
                <a:solidFill>
                  <a:srgbClr val="1200FF"/>
                </a:solidFill>
                <a:latin typeface="Arial" pitchFamily="34" charset="0"/>
                <a:ea typeface="Arial" pitchFamily="34" charset="-122"/>
                <a:cs typeface="Arial" pitchFamily="34" charset="-120"/>
              </a:rPr>
              <a:t>07</a:t>
            </a:r>
            <a:endParaRPr lang="en-US" sz="2550"/>
          </a:p>
        </p:txBody>
      </p:sp>
      <p:sp>
        <p:nvSpPr>
          <p:cNvPr id="24" name="Text 22"/>
          <p:cNvSpPr/>
          <p:nvPr/>
        </p:nvSpPr>
        <p:spPr>
          <a:xfrm>
            <a:off x="1809750" y="6231255"/>
            <a:ext cx="2322862" cy="365760"/>
          </a:xfrm>
          <a:prstGeom prst="rect">
            <a:avLst/>
          </a:prstGeom>
          <a:noFill/>
          <a:ln/>
        </p:spPr>
        <p:txBody>
          <a:bodyPr wrap="square" lIns="25400" tIns="25400" rIns="25400" bIns="25400" rtlCol="0" anchor="t">
            <a:normAutofit lnSpcReduction="10000"/>
          </a:bodyPr>
          <a:lstStyle/>
          <a:p>
            <a:pPr marL="0" indent="0" algn="l">
              <a:buNone/>
            </a:pPr>
            <a:r>
              <a:rPr lang="en-US" sz="2250" b="1">
                <a:solidFill>
                  <a:srgbClr val="10101B"/>
                </a:solidFill>
                <a:latin typeface="Arial" pitchFamily="34" charset="0"/>
                <a:ea typeface="Arial" pitchFamily="34" charset="-122"/>
                <a:cs typeface="Arial" pitchFamily="34" charset="-120"/>
              </a:rPr>
              <a:t>Implementation</a:t>
            </a:r>
            <a:endParaRPr lang="en-US" sz="2250"/>
          </a:p>
        </p:txBody>
      </p:sp>
      <p:sp>
        <p:nvSpPr>
          <p:cNvPr id="25" name="Shape 23"/>
          <p:cNvSpPr/>
          <p:nvPr/>
        </p:nvSpPr>
        <p:spPr>
          <a:xfrm>
            <a:off x="9525000" y="6757035"/>
            <a:ext cx="7715250" cy="9525"/>
          </a:xfrm>
          <a:prstGeom prst="rect">
            <a:avLst/>
          </a:prstGeom>
          <a:solidFill>
            <a:srgbClr val="E1E3F0"/>
          </a:solidFill>
          <a:ln/>
        </p:spPr>
      </p:sp>
      <p:sp>
        <p:nvSpPr>
          <p:cNvPr id="26" name="Text 24"/>
          <p:cNvSpPr/>
          <p:nvPr/>
        </p:nvSpPr>
        <p:spPr>
          <a:xfrm>
            <a:off x="9525000" y="6200775"/>
            <a:ext cx="609600" cy="403860"/>
          </a:xfrm>
          <a:prstGeom prst="rect">
            <a:avLst/>
          </a:prstGeom>
          <a:noFill/>
          <a:ln/>
        </p:spPr>
        <p:txBody>
          <a:bodyPr wrap="square" lIns="25400" tIns="25400" rIns="25400" bIns="25400" rtlCol="0" anchor="t">
            <a:normAutofit lnSpcReduction="10000"/>
          </a:bodyPr>
          <a:lstStyle/>
          <a:p>
            <a:pPr marL="0" indent="0" algn="l">
              <a:buNone/>
            </a:pPr>
            <a:r>
              <a:rPr lang="en-US" sz="2550" b="1">
                <a:solidFill>
                  <a:srgbClr val="1200FF"/>
                </a:solidFill>
                <a:latin typeface="Arial" pitchFamily="34" charset="0"/>
                <a:ea typeface="Arial" pitchFamily="34" charset="-122"/>
                <a:cs typeface="Arial" pitchFamily="34" charset="-120"/>
              </a:rPr>
              <a:t>08</a:t>
            </a:r>
            <a:endParaRPr lang="en-US" sz="2550"/>
          </a:p>
        </p:txBody>
      </p:sp>
      <p:sp>
        <p:nvSpPr>
          <p:cNvPr id="27" name="Text 25"/>
          <p:cNvSpPr/>
          <p:nvPr/>
        </p:nvSpPr>
        <p:spPr>
          <a:xfrm>
            <a:off x="10287000" y="6231255"/>
            <a:ext cx="2818448" cy="365760"/>
          </a:xfrm>
          <a:prstGeom prst="rect">
            <a:avLst/>
          </a:prstGeom>
          <a:noFill/>
          <a:ln/>
        </p:spPr>
        <p:txBody>
          <a:bodyPr wrap="square" lIns="25400" tIns="25400" rIns="25400" bIns="25400" rtlCol="0" anchor="t">
            <a:normAutofit lnSpcReduction="10000"/>
          </a:bodyPr>
          <a:lstStyle/>
          <a:p>
            <a:pPr marL="0" indent="0" algn="l">
              <a:buNone/>
            </a:pPr>
            <a:r>
              <a:rPr lang="en-US" sz="2250" b="1">
                <a:solidFill>
                  <a:srgbClr val="10101B"/>
                </a:solidFill>
                <a:latin typeface="Arial" pitchFamily="34" charset="0"/>
                <a:ea typeface="Arial" pitchFamily="34" charset="-122"/>
                <a:cs typeface="Arial" pitchFamily="34" charset="-120"/>
              </a:rPr>
              <a:t>Results &amp; Analysis</a:t>
            </a:r>
            <a:endParaRPr lang="en-US" sz="2250"/>
          </a:p>
        </p:txBody>
      </p:sp>
      <p:sp>
        <p:nvSpPr>
          <p:cNvPr id="28" name="Shape 26"/>
          <p:cNvSpPr/>
          <p:nvPr/>
        </p:nvSpPr>
        <p:spPr>
          <a:xfrm>
            <a:off x="1047750" y="7549515"/>
            <a:ext cx="7715250" cy="9525"/>
          </a:xfrm>
          <a:prstGeom prst="rect">
            <a:avLst/>
          </a:prstGeom>
          <a:solidFill>
            <a:srgbClr val="E1E3F0"/>
          </a:solidFill>
          <a:ln/>
        </p:spPr>
      </p:sp>
      <p:sp>
        <p:nvSpPr>
          <p:cNvPr id="29" name="Text 27"/>
          <p:cNvSpPr/>
          <p:nvPr/>
        </p:nvSpPr>
        <p:spPr>
          <a:xfrm>
            <a:off x="1047750" y="6993255"/>
            <a:ext cx="609600" cy="403860"/>
          </a:xfrm>
          <a:prstGeom prst="rect">
            <a:avLst/>
          </a:prstGeom>
          <a:noFill/>
          <a:ln/>
        </p:spPr>
        <p:txBody>
          <a:bodyPr wrap="square" lIns="25400" tIns="25400" rIns="25400" bIns="25400" rtlCol="0" anchor="t">
            <a:normAutofit lnSpcReduction="10000"/>
          </a:bodyPr>
          <a:lstStyle/>
          <a:p>
            <a:pPr marL="0" indent="0" algn="l">
              <a:buNone/>
            </a:pPr>
            <a:r>
              <a:rPr lang="en-US" sz="2550" b="1">
                <a:solidFill>
                  <a:srgbClr val="1200FF"/>
                </a:solidFill>
                <a:latin typeface="Arial" pitchFamily="34" charset="0"/>
                <a:ea typeface="Arial" pitchFamily="34" charset="-122"/>
                <a:cs typeface="Arial" pitchFamily="34" charset="-120"/>
              </a:rPr>
              <a:t>09</a:t>
            </a:r>
            <a:endParaRPr lang="en-US" sz="2550"/>
          </a:p>
        </p:txBody>
      </p:sp>
      <p:sp>
        <p:nvSpPr>
          <p:cNvPr id="30" name="Text 28"/>
          <p:cNvSpPr/>
          <p:nvPr/>
        </p:nvSpPr>
        <p:spPr>
          <a:xfrm>
            <a:off x="1809750" y="7023735"/>
            <a:ext cx="3912430" cy="365760"/>
          </a:xfrm>
          <a:prstGeom prst="rect">
            <a:avLst/>
          </a:prstGeom>
          <a:noFill/>
          <a:ln/>
        </p:spPr>
        <p:txBody>
          <a:bodyPr wrap="square" lIns="25400" tIns="25400" rIns="25400" bIns="25400" rtlCol="0" anchor="t">
            <a:normAutofit lnSpcReduction="10000"/>
          </a:bodyPr>
          <a:lstStyle/>
          <a:p>
            <a:pPr marL="0" indent="0" algn="l">
              <a:buNone/>
            </a:pPr>
            <a:r>
              <a:rPr lang="en-US" sz="2250" b="1">
                <a:solidFill>
                  <a:srgbClr val="10101B"/>
                </a:solidFill>
                <a:latin typeface="Arial" pitchFamily="34" charset="0"/>
                <a:ea typeface="Arial" pitchFamily="34" charset="-122"/>
                <a:cs typeface="Arial" pitchFamily="34" charset="-120"/>
              </a:rPr>
              <a:t>Comparison &amp; Discussion</a:t>
            </a:r>
            <a:endParaRPr lang="en-US" sz="2250"/>
          </a:p>
        </p:txBody>
      </p:sp>
      <p:sp>
        <p:nvSpPr>
          <p:cNvPr id="31" name="Shape 29"/>
          <p:cNvSpPr/>
          <p:nvPr/>
        </p:nvSpPr>
        <p:spPr>
          <a:xfrm>
            <a:off x="9525000" y="7549515"/>
            <a:ext cx="7715250" cy="9525"/>
          </a:xfrm>
          <a:prstGeom prst="rect">
            <a:avLst/>
          </a:prstGeom>
          <a:solidFill>
            <a:srgbClr val="E1E3F0"/>
          </a:solidFill>
          <a:ln/>
        </p:spPr>
      </p:sp>
      <p:sp>
        <p:nvSpPr>
          <p:cNvPr id="32" name="Text 30"/>
          <p:cNvSpPr/>
          <p:nvPr/>
        </p:nvSpPr>
        <p:spPr>
          <a:xfrm>
            <a:off x="9525000" y="6993255"/>
            <a:ext cx="609600" cy="403860"/>
          </a:xfrm>
          <a:prstGeom prst="rect">
            <a:avLst/>
          </a:prstGeom>
          <a:noFill/>
          <a:ln/>
        </p:spPr>
        <p:txBody>
          <a:bodyPr wrap="square" lIns="25400" tIns="25400" rIns="25400" bIns="25400" rtlCol="0" anchor="t">
            <a:normAutofit lnSpcReduction="10000"/>
          </a:bodyPr>
          <a:lstStyle/>
          <a:p>
            <a:pPr marL="0" indent="0" algn="l">
              <a:buNone/>
            </a:pPr>
            <a:r>
              <a:rPr lang="en-US" sz="2550" b="1">
                <a:solidFill>
                  <a:srgbClr val="1200FF"/>
                </a:solidFill>
                <a:latin typeface="Arial" pitchFamily="34" charset="0"/>
                <a:ea typeface="Arial" pitchFamily="34" charset="-122"/>
                <a:cs typeface="Arial" pitchFamily="34" charset="-120"/>
              </a:rPr>
              <a:t>10</a:t>
            </a:r>
            <a:endParaRPr lang="en-US" sz="2550"/>
          </a:p>
        </p:txBody>
      </p:sp>
      <p:sp>
        <p:nvSpPr>
          <p:cNvPr id="33" name="Text 31"/>
          <p:cNvSpPr/>
          <p:nvPr/>
        </p:nvSpPr>
        <p:spPr>
          <a:xfrm>
            <a:off x="10287000" y="7023735"/>
            <a:ext cx="3958269" cy="365760"/>
          </a:xfrm>
          <a:prstGeom prst="rect">
            <a:avLst/>
          </a:prstGeom>
          <a:noFill/>
          <a:ln/>
        </p:spPr>
        <p:txBody>
          <a:bodyPr wrap="square" lIns="25400" tIns="25400" rIns="25400" bIns="25400" rtlCol="0" anchor="t">
            <a:normAutofit lnSpcReduction="10000"/>
          </a:bodyPr>
          <a:lstStyle/>
          <a:p>
            <a:pPr marL="0" indent="0" algn="l">
              <a:buNone/>
            </a:pPr>
            <a:r>
              <a:rPr lang="en-US" sz="2250" b="1">
                <a:solidFill>
                  <a:srgbClr val="10101B"/>
                </a:solidFill>
                <a:latin typeface="Arial" pitchFamily="34" charset="0"/>
                <a:ea typeface="Arial" pitchFamily="34" charset="-122"/>
                <a:cs typeface="Arial" pitchFamily="34" charset="-120"/>
              </a:rPr>
              <a:t>Conclusion &amp; Future Work</a:t>
            </a:r>
            <a:endParaRPr lang="en-US" sz="2250"/>
          </a:p>
        </p:txBody>
      </p:sp>
      <p:sp>
        <p:nvSpPr>
          <p:cNvPr id="34" name="Shape 32"/>
          <p:cNvSpPr/>
          <p:nvPr/>
        </p:nvSpPr>
        <p:spPr>
          <a:xfrm>
            <a:off x="1047750" y="9041130"/>
            <a:ext cx="16192500" cy="9525"/>
          </a:xfrm>
          <a:prstGeom prst="rect">
            <a:avLst/>
          </a:prstGeom>
          <a:solidFill>
            <a:srgbClr val="E1E3F0"/>
          </a:solidFill>
          <a:ln/>
        </p:spPr>
      </p:sp>
      <p:pic>
        <p:nvPicPr>
          <p:cNvPr id="35" name="Image 0" descr="preencoded.png"/>
          <p:cNvPicPr>
            <a:picLocks noChangeAspect="1"/>
          </p:cNvPicPr>
          <p:nvPr/>
        </p:nvPicPr>
        <p:blipFill>
          <a:blip r:embed="rId3"/>
          <a:stretch>
            <a:fillRect/>
          </a:stretch>
        </p:blipFill>
        <p:spPr>
          <a:xfrm>
            <a:off x="1047750" y="9315450"/>
            <a:ext cx="553283" cy="304800"/>
          </a:xfrm>
          <a:prstGeom prst="rect">
            <a:avLst/>
          </a:prstGeom>
        </p:spPr>
      </p:pic>
      <p:sp>
        <p:nvSpPr>
          <p:cNvPr id="36" name="Text 33"/>
          <p:cNvSpPr/>
          <p:nvPr/>
        </p:nvSpPr>
        <p:spPr>
          <a:xfrm>
            <a:off x="1734384" y="9345930"/>
            <a:ext cx="3907060" cy="281940"/>
          </a:xfrm>
          <a:prstGeom prst="rect">
            <a:avLst/>
          </a:prstGeom>
          <a:noFill/>
          <a:ln/>
        </p:spPr>
        <p:txBody>
          <a:bodyPr wrap="square" lIns="25400" tIns="25400" rIns="25400" bIns="25400" rtlCol="0" anchor="t">
            <a:normAutofit lnSpcReduction="10000"/>
          </a:bodyPr>
          <a:lstStyle/>
          <a:p>
            <a:pPr marL="0" indent="0" algn="l">
              <a:buNone/>
            </a:pPr>
            <a:r>
              <a:rPr lang="en-US" sz="1650">
                <a:solidFill>
                  <a:srgbClr val="4A4A5C"/>
                </a:solidFill>
                <a:latin typeface="Arial" pitchFamily="34" charset="0"/>
                <a:ea typeface="Arial" pitchFamily="34" charset="-122"/>
                <a:cs typeface="Arial" pitchFamily="34" charset="-120"/>
              </a:rPr>
              <a:t>Department of CSE · Uttara University</a:t>
            </a:r>
            <a:endParaRPr lang="en-US" sz="1650"/>
          </a:p>
        </p:txBody>
      </p:sp>
      <p:sp>
        <p:nvSpPr>
          <p:cNvPr id="37" name="Text 34"/>
          <p:cNvSpPr/>
          <p:nvPr/>
        </p:nvSpPr>
        <p:spPr>
          <a:xfrm>
            <a:off x="16599337" y="9345930"/>
            <a:ext cx="717113" cy="281940"/>
          </a:xfrm>
          <a:prstGeom prst="rect">
            <a:avLst/>
          </a:prstGeom>
          <a:noFill/>
          <a:ln/>
        </p:spPr>
        <p:txBody>
          <a:bodyPr wrap="square" lIns="25400" tIns="25400" rIns="25400" bIns="25400" rtlCol="0" anchor="t">
            <a:normAutofit lnSpcReduction="10000"/>
          </a:bodyPr>
          <a:lstStyle/>
          <a:p>
            <a:pPr marL="0" indent="0" algn="l">
              <a:buNone/>
            </a:pPr>
            <a:r>
              <a:rPr lang="en-US" sz="1650">
                <a:solidFill>
                  <a:srgbClr val="4A4A5C"/>
                </a:solidFill>
                <a:latin typeface="Arial" pitchFamily="34" charset="0"/>
                <a:ea typeface="Arial" pitchFamily="34" charset="-122"/>
                <a:cs typeface="Arial" pitchFamily="34" charset="-120"/>
              </a:rPr>
              <a:t>02 / 15</a:t>
            </a:r>
            <a:endParaRPr lang="en-US" sz="165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047750" y="857250"/>
            <a:ext cx="17811750" cy="312420"/>
          </a:xfrm>
          <a:prstGeom prst="rect">
            <a:avLst/>
          </a:prstGeom>
          <a:noFill/>
          <a:ln/>
        </p:spPr>
        <p:txBody>
          <a:bodyPr wrap="square" lIns="25400" tIns="25400" rIns="25400" bIns="25400" rtlCol="0" anchor="t">
            <a:normAutofit lnSpcReduction="10000"/>
          </a:bodyPr>
          <a:lstStyle/>
          <a:p>
            <a:pPr marL="0" indent="0" algn="l">
              <a:buNone/>
            </a:pPr>
            <a:r>
              <a:rPr lang="en-US" sz="1875" b="1" kern="0" spc="263">
                <a:solidFill>
                  <a:srgbClr val="1200FF"/>
                </a:solidFill>
                <a:latin typeface="Arial" pitchFamily="34" charset="0"/>
                <a:ea typeface="Arial" pitchFamily="34" charset="-122"/>
                <a:cs typeface="Arial" pitchFamily="34" charset="-120"/>
              </a:rPr>
              <a:t>01 — INTRODUCTION</a:t>
            </a:r>
            <a:endParaRPr lang="en-US" sz="1875"/>
          </a:p>
        </p:txBody>
      </p:sp>
      <p:sp>
        <p:nvSpPr>
          <p:cNvPr id="3" name="Text 1"/>
          <p:cNvSpPr/>
          <p:nvPr/>
        </p:nvSpPr>
        <p:spPr>
          <a:xfrm>
            <a:off x="1047750" y="1264920"/>
            <a:ext cx="17811750" cy="693420"/>
          </a:xfrm>
          <a:prstGeom prst="rect">
            <a:avLst/>
          </a:prstGeom>
          <a:noFill/>
          <a:ln/>
        </p:spPr>
        <p:txBody>
          <a:bodyPr wrap="square" lIns="25400" tIns="25400" rIns="25400" bIns="25400" rtlCol="0" anchor="t">
            <a:normAutofit lnSpcReduction="10000"/>
          </a:bodyPr>
          <a:lstStyle/>
          <a:p>
            <a:pPr marL="0" indent="0" algn="l">
              <a:buNone/>
            </a:pPr>
            <a:r>
              <a:rPr lang="en-US" sz="4500" b="1" kern="0" spc="-45">
                <a:solidFill>
                  <a:srgbClr val="10101B"/>
                </a:solidFill>
                <a:latin typeface="Arial" pitchFamily="34" charset="0"/>
                <a:ea typeface="Arial" pitchFamily="34" charset="-122"/>
                <a:cs typeface="Arial" pitchFamily="34" charset="-120"/>
              </a:rPr>
              <a:t>Introduction &amp; Background</a:t>
            </a:r>
            <a:endParaRPr lang="en-US" sz="4500"/>
          </a:p>
        </p:txBody>
      </p:sp>
      <p:sp>
        <p:nvSpPr>
          <p:cNvPr id="4" name="Shape 2"/>
          <p:cNvSpPr/>
          <p:nvPr/>
        </p:nvSpPr>
        <p:spPr>
          <a:xfrm>
            <a:off x="1047750" y="2759256"/>
            <a:ext cx="54429" cy="1605642"/>
          </a:xfrm>
          <a:prstGeom prst="roundRect">
            <a:avLst>
              <a:gd name="adj" fmla="val 50000"/>
            </a:avLst>
          </a:prstGeom>
          <a:solidFill>
            <a:srgbClr val="1200FF"/>
          </a:solidFill>
          <a:ln/>
        </p:spPr>
      </p:sp>
      <p:sp>
        <p:nvSpPr>
          <p:cNvPr id="5" name="Text 3"/>
          <p:cNvSpPr/>
          <p:nvPr/>
        </p:nvSpPr>
        <p:spPr>
          <a:xfrm>
            <a:off x="1328057" y="2609578"/>
            <a:ext cx="8507029" cy="1752600"/>
          </a:xfrm>
          <a:prstGeom prst="rect">
            <a:avLst/>
          </a:prstGeom>
          <a:noFill/>
          <a:ln/>
        </p:spPr>
        <p:txBody>
          <a:bodyPr wrap="square" lIns="25400" tIns="25400" rIns="25400" bIns="25400" rtlCol="0" anchor="t">
            <a:noAutofit/>
          </a:bodyPr>
          <a:lstStyle/>
          <a:p>
            <a:pPr>
              <a:lnSpc>
                <a:spcPct val="130814"/>
              </a:lnSpc>
            </a:pPr>
            <a:r>
              <a:rPr lang="en-US" sz="2250">
                <a:solidFill>
                  <a:srgbClr val="10101B"/>
                </a:solidFill>
                <a:ea typeface="+mn-lt"/>
                <a:cs typeface="+mn-lt"/>
              </a:rPr>
              <a:t>Operating within modern healthcare AI, this research focuses on </a:t>
            </a:r>
            <a:r>
              <a:rPr lang="en-US" sz="2250" b="1">
                <a:solidFill>
                  <a:srgbClr val="10101B"/>
                </a:solidFill>
                <a:ea typeface="+mn-lt"/>
                <a:cs typeface="+mn-lt"/>
              </a:rPr>
              <a:t>multimodal learning frameworks like </a:t>
            </a:r>
            <a:r>
              <a:rPr lang="en-US" sz="2250" b="1" err="1">
                <a:solidFill>
                  <a:srgbClr val="10101B"/>
                </a:solidFill>
                <a:ea typeface="+mn-lt"/>
                <a:cs typeface="+mn-lt"/>
              </a:rPr>
              <a:t>UniMod</a:t>
            </a:r>
            <a:r>
              <a:rPr lang="en-US" sz="2250">
                <a:solidFill>
                  <a:srgbClr val="10101B"/>
                </a:solidFill>
                <a:ea typeface="+mn-lt"/>
                <a:cs typeface="+mn-lt"/>
              </a:rPr>
              <a:t> that integrate hetero-</a:t>
            </a:r>
            <a:r>
              <a:rPr lang="en-US" sz="2250" err="1">
                <a:solidFill>
                  <a:srgbClr val="10101B"/>
                </a:solidFill>
                <a:ea typeface="+mn-lt"/>
                <a:cs typeface="+mn-lt"/>
              </a:rPr>
              <a:t>geneous</a:t>
            </a:r>
            <a:r>
              <a:rPr lang="en-US" sz="2250">
                <a:solidFill>
                  <a:srgbClr val="10101B"/>
                </a:solidFill>
                <a:ea typeface="+mn-lt"/>
                <a:cs typeface="+mn-lt"/>
              </a:rPr>
              <a:t> medical images and clinical text to support diagnostic decision-making. </a:t>
            </a:r>
            <a:endParaRPr lang="en-US" sz="2250">
              <a:ea typeface="Calibri"/>
              <a:cs typeface="Calibri"/>
            </a:endParaRPr>
          </a:p>
        </p:txBody>
      </p:sp>
      <p:sp>
        <p:nvSpPr>
          <p:cNvPr id="6" name="Shape 4"/>
          <p:cNvSpPr/>
          <p:nvPr/>
        </p:nvSpPr>
        <p:spPr>
          <a:xfrm>
            <a:off x="1047750" y="4982664"/>
            <a:ext cx="54429" cy="1231445"/>
          </a:xfrm>
          <a:prstGeom prst="roundRect">
            <a:avLst>
              <a:gd name="adj" fmla="val 50000"/>
            </a:avLst>
          </a:prstGeom>
          <a:solidFill>
            <a:srgbClr val="1200FF"/>
          </a:solidFill>
          <a:ln/>
        </p:spPr>
      </p:sp>
      <p:sp>
        <p:nvSpPr>
          <p:cNvPr id="7" name="Text 5"/>
          <p:cNvSpPr/>
          <p:nvPr/>
        </p:nvSpPr>
        <p:spPr>
          <a:xfrm>
            <a:off x="1328057" y="4901020"/>
            <a:ext cx="8509002" cy="1582512"/>
          </a:xfrm>
          <a:prstGeom prst="rect">
            <a:avLst/>
          </a:prstGeom>
          <a:noFill/>
          <a:ln/>
        </p:spPr>
        <p:txBody>
          <a:bodyPr wrap="square" lIns="25400" tIns="25400" rIns="25400" bIns="25400" rtlCol="0" anchor="t">
            <a:noAutofit/>
          </a:bodyPr>
          <a:lstStyle/>
          <a:p>
            <a:pPr>
              <a:lnSpc>
                <a:spcPct val="130814"/>
              </a:lnSpc>
            </a:pPr>
            <a:r>
              <a:rPr lang="en-US" sz="2250">
                <a:solidFill>
                  <a:srgbClr val="10101B"/>
                </a:solidFill>
                <a:ea typeface="+mn-lt"/>
                <a:cs typeface="+mn-lt"/>
              </a:rPr>
              <a:t>Addressing the critical clinical risk where deep learning models produce </a:t>
            </a:r>
            <a:r>
              <a:rPr lang="en-US" sz="2250" b="1">
                <a:solidFill>
                  <a:srgbClr val="10101B"/>
                </a:solidFill>
                <a:ea typeface="+mn-lt"/>
                <a:cs typeface="+mn-lt"/>
              </a:rPr>
              <a:t>overconfident misclassifications</a:t>
            </a:r>
            <a:r>
              <a:rPr lang="en-US" sz="2250">
                <a:solidFill>
                  <a:srgbClr val="10101B"/>
                </a:solidFill>
                <a:ea typeface="+mn-lt"/>
                <a:cs typeface="+mn-lt"/>
              </a:rPr>
              <a:t> that fail to reflect their true likelihood of correctness, thereby threatening patient safety. </a:t>
            </a:r>
            <a:endParaRPr lang="en-US" sz="2250">
              <a:ea typeface="Calibri"/>
              <a:cs typeface="Calibri"/>
            </a:endParaRPr>
          </a:p>
        </p:txBody>
      </p:sp>
      <p:sp>
        <p:nvSpPr>
          <p:cNvPr id="8" name="Shape 6"/>
          <p:cNvSpPr/>
          <p:nvPr/>
        </p:nvSpPr>
        <p:spPr>
          <a:xfrm>
            <a:off x="1047750" y="7172053"/>
            <a:ext cx="54429" cy="1231446"/>
          </a:xfrm>
          <a:prstGeom prst="roundRect">
            <a:avLst>
              <a:gd name="adj" fmla="val 50000"/>
            </a:avLst>
          </a:prstGeom>
          <a:solidFill>
            <a:srgbClr val="1200FF"/>
          </a:solidFill>
          <a:ln/>
        </p:spPr>
      </p:sp>
      <p:sp>
        <p:nvSpPr>
          <p:cNvPr id="9" name="Text 7"/>
          <p:cNvSpPr/>
          <p:nvPr/>
        </p:nvSpPr>
        <p:spPr>
          <a:xfrm>
            <a:off x="1328057" y="7104017"/>
            <a:ext cx="8507704" cy="1568905"/>
          </a:xfrm>
          <a:prstGeom prst="rect">
            <a:avLst/>
          </a:prstGeom>
          <a:noFill/>
          <a:ln/>
        </p:spPr>
        <p:txBody>
          <a:bodyPr wrap="square" lIns="25400" tIns="25400" rIns="25400" bIns="25400" rtlCol="0" anchor="t">
            <a:noAutofit/>
          </a:bodyPr>
          <a:lstStyle/>
          <a:p>
            <a:pPr>
              <a:lnSpc>
                <a:spcPct val="130814"/>
              </a:lnSpc>
            </a:pPr>
            <a:r>
              <a:rPr lang="en-US" sz="2250">
                <a:solidFill>
                  <a:srgbClr val="10101B"/>
                </a:solidFill>
                <a:ea typeface="+mn-lt"/>
                <a:cs typeface="+mn-lt"/>
              </a:rPr>
              <a:t>Investigating </a:t>
            </a:r>
            <a:r>
              <a:rPr lang="en-US" sz="2250" b="1">
                <a:solidFill>
                  <a:srgbClr val="10101B"/>
                </a:solidFill>
                <a:ea typeface="+mn-lt"/>
                <a:cs typeface="+mn-lt"/>
              </a:rPr>
              <a:t>uncertainty estimation and post-processing temperature scaling</a:t>
            </a:r>
            <a:r>
              <a:rPr lang="en-US" sz="2250">
                <a:solidFill>
                  <a:srgbClr val="10101B"/>
                </a:solidFill>
                <a:ea typeface="+mn-lt"/>
                <a:cs typeface="+mn-lt"/>
              </a:rPr>
              <a:t> within </a:t>
            </a:r>
            <a:r>
              <a:rPr lang="en-US" sz="2250" err="1">
                <a:solidFill>
                  <a:srgbClr val="10101B"/>
                </a:solidFill>
                <a:ea typeface="+mn-lt"/>
                <a:cs typeface="+mn-lt"/>
              </a:rPr>
              <a:t>UniMod</a:t>
            </a:r>
            <a:r>
              <a:rPr lang="en-US" sz="2250">
                <a:solidFill>
                  <a:srgbClr val="10101B"/>
                </a:solidFill>
                <a:ea typeface="+mn-lt"/>
                <a:cs typeface="+mn-lt"/>
              </a:rPr>
              <a:t> to align predicted confidence scores with observed accuracy without altering underlying model weights. </a:t>
            </a:r>
            <a:endParaRPr lang="en-US" sz="2250">
              <a:ea typeface="Calibri"/>
              <a:cs typeface="Calibri"/>
            </a:endParaRPr>
          </a:p>
        </p:txBody>
      </p:sp>
      <p:sp>
        <p:nvSpPr>
          <p:cNvPr id="12" name="Shape 10"/>
          <p:cNvSpPr/>
          <p:nvPr/>
        </p:nvSpPr>
        <p:spPr>
          <a:xfrm>
            <a:off x="1047750" y="9041130"/>
            <a:ext cx="16192500" cy="9525"/>
          </a:xfrm>
          <a:prstGeom prst="rect">
            <a:avLst/>
          </a:prstGeom>
          <a:solidFill>
            <a:srgbClr val="E1E3F0"/>
          </a:solidFill>
          <a:ln/>
        </p:spPr>
      </p:sp>
      <p:pic>
        <p:nvPicPr>
          <p:cNvPr id="13" name="Image 0" descr="preencoded.png"/>
          <p:cNvPicPr>
            <a:picLocks noChangeAspect="1"/>
          </p:cNvPicPr>
          <p:nvPr/>
        </p:nvPicPr>
        <p:blipFill>
          <a:blip r:embed="rId3"/>
          <a:stretch>
            <a:fillRect/>
          </a:stretch>
        </p:blipFill>
        <p:spPr>
          <a:xfrm>
            <a:off x="1047750" y="9315450"/>
            <a:ext cx="553283" cy="304800"/>
          </a:xfrm>
          <a:prstGeom prst="rect">
            <a:avLst/>
          </a:prstGeom>
        </p:spPr>
      </p:pic>
      <p:sp>
        <p:nvSpPr>
          <p:cNvPr id="14" name="Text 11"/>
          <p:cNvSpPr/>
          <p:nvPr/>
        </p:nvSpPr>
        <p:spPr>
          <a:xfrm>
            <a:off x="1734384" y="9345930"/>
            <a:ext cx="3907060" cy="281940"/>
          </a:xfrm>
          <a:prstGeom prst="rect">
            <a:avLst/>
          </a:prstGeom>
          <a:noFill/>
          <a:ln/>
        </p:spPr>
        <p:txBody>
          <a:bodyPr wrap="square" lIns="25400" tIns="25400" rIns="25400" bIns="25400" rtlCol="0" anchor="t">
            <a:normAutofit lnSpcReduction="10000"/>
          </a:bodyPr>
          <a:lstStyle/>
          <a:p>
            <a:pPr marL="0" indent="0" algn="l">
              <a:buNone/>
            </a:pPr>
            <a:r>
              <a:rPr lang="en-US" sz="1650">
                <a:solidFill>
                  <a:srgbClr val="4A4A5C"/>
                </a:solidFill>
                <a:latin typeface="Arial" pitchFamily="34" charset="0"/>
                <a:ea typeface="Arial" pitchFamily="34" charset="-122"/>
                <a:cs typeface="Arial" pitchFamily="34" charset="-120"/>
              </a:rPr>
              <a:t>Department of CSE · Uttara University</a:t>
            </a:r>
            <a:endParaRPr lang="en-US" sz="1650"/>
          </a:p>
        </p:txBody>
      </p:sp>
      <p:sp>
        <p:nvSpPr>
          <p:cNvPr id="15" name="Text 12"/>
          <p:cNvSpPr/>
          <p:nvPr/>
        </p:nvSpPr>
        <p:spPr>
          <a:xfrm>
            <a:off x="16599337" y="9345930"/>
            <a:ext cx="717113" cy="281940"/>
          </a:xfrm>
          <a:prstGeom prst="rect">
            <a:avLst/>
          </a:prstGeom>
          <a:noFill/>
          <a:ln/>
        </p:spPr>
        <p:txBody>
          <a:bodyPr wrap="square" lIns="25400" tIns="25400" rIns="25400" bIns="25400" rtlCol="0" anchor="t">
            <a:normAutofit lnSpcReduction="10000"/>
          </a:bodyPr>
          <a:lstStyle/>
          <a:p>
            <a:pPr marL="0" indent="0" algn="l">
              <a:buNone/>
            </a:pPr>
            <a:r>
              <a:rPr lang="en-US" sz="1650">
                <a:solidFill>
                  <a:srgbClr val="4A4A5C"/>
                </a:solidFill>
                <a:latin typeface="Arial" pitchFamily="34" charset="0"/>
                <a:ea typeface="Arial" pitchFamily="34" charset="-122"/>
                <a:cs typeface="Arial" pitchFamily="34" charset="-120"/>
              </a:rPr>
              <a:t>03 / 15</a:t>
            </a:r>
            <a:endParaRPr lang="en-US" sz="1650"/>
          </a:p>
        </p:txBody>
      </p:sp>
      <p:pic>
        <p:nvPicPr>
          <p:cNvPr id="17" name="Picture 16">
            <a:extLst>
              <a:ext uri="{FF2B5EF4-FFF2-40B4-BE49-F238E27FC236}">
                <a16:creationId xmlns:a16="http://schemas.microsoft.com/office/drawing/2014/main" id="{E0191DAE-C5F1-955F-119C-E259FF7F1C42}"/>
              </a:ext>
            </a:extLst>
          </p:cNvPr>
          <p:cNvPicPr>
            <a:picLocks noChangeAspect="1"/>
          </p:cNvPicPr>
          <p:nvPr/>
        </p:nvPicPr>
        <p:blipFill>
          <a:blip r:embed="rId4"/>
          <a:stretch>
            <a:fillRect/>
          </a:stretch>
        </p:blipFill>
        <p:spPr>
          <a:xfrm>
            <a:off x="10060964" y="3770447"/>
            <a:ext cx="7809609" cy="4633052"/>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047750" y="857250"/>
            <a:ext cx="17811750" cy="312420"/>
          </a:xfrm>
          <a:prstGeom prst="rect">
            <a:avLst/>
          </a:prstGeom>
          <a:noFill/>
          <a:ln/>
        </p:spPr>
        <p:txBody>
          <a:bodyPr wrap="square" lIns="25400" tIns="25400" rIns="25400" bIns="25400" rtlCol="0" anchor="t">
            <a:normAutofit lnSpcReduction="10000"/>
          </a:bodyPr>
          <a:lstStyle/>
          <a:p>
            <a:pPr marL="0" indent="0" algn="l">
              <a:buNone/>
            </a:pPr>
            <a:r>
              <a:rPr lang="en-US" sz="1875" b="1" kern="0" spc="263">
                <a:solidFill>
                  <a:srgbClr val="1200FF"/>
                </a:solidFill>
                <a:latin typeface="Arial" pitchFamily="34" charset="0"/>
                <a:ea typeface="Arial" pitchFamily="34" charset="-122"/>
                <a:cs typeface="Arial" pitchFamily="34" charset="-120"/>
              </a:rPr>
              <a:t>02 — PROBLEM STATEMENT</a:t>
            </a:r>
            <a:endParaRPr lang="en-US" sz="1875"/>
          </a:p>
        </p:txBody>
      </p:sp>
      <p:sp>
        <p:nvSpPr>
          <p:cNvPr id="3" name="Text 1"/>
          <p:cNvSpPr/>
          <p:nvPr/>
        </p:nvSpPr>
        <p:spPr>
          <a:xfrm>
            <a:off x="1047750" y="1264920"/>
            <a:ext cx="17811750" cy="693420"/>
          </a:xfrm>
          <a:prstGeom prst="rect">
            <a:avLst/>
          </a:prstGeom>
          <a:noFill/>
          <a:ln/>
        </p:spPr>
        <p:txBody>
          <a:bodyPr wrap="square" lIns="25400" tIns="25400" rIns="25400" bIns="25400" rtlCol="0" anchor="t">
            <a:normAutofit lnSpcReduction="10000"/>
          </a:bodyPr>
          <a:lstStyle/>
          <a:p>
            <a:pPr marL="0" indent="0" algn="l">
              <a:buNone/>
            </a:pPr>
            <a:r>
              <a:rPr lang="en-US" sz="4500" b="1" kern="0" spc="-45">
                <a:solidFill>
                  <a:srgbClr val="10101B"/>
                </a:solidFill>
                <a:latin typeface="Arial" pitchFamily="34" charset="0"/>
                <a:ea typeface="Arial" pitchFamily="34" charset="-122"/>
                <a:cs typeface="Arial" pitchFamily="34" charset="-120"/>
              </a:rPr>
              <a:t>The Problem We Address</a:t>
            </a:r>
            <a:endParaRPr lang="en-US" sz="4500"/>
          </a:p>
        </p:txBody>
      </p:sp>
      <p:sp>
        <p:nvSpPr>
          <p:cNvPr id="4" name="Shape 2"/>
          <p:cNvSpPr/>
          <p:nvPr/>
        </p:nvSpPr>
        <p:spPr>
          <a:xfrm>
            <a:off x="1047750" y="3058725"/>
            <a:ext cx="16192500" cy="2120538"/>
          </a:xfrm>
          <a:prstGeom prst="rect">
            <a:avLst/>
          </a:prstGeom>
          <a:solidFill>
            <a:srgbClr val="F4F5FC"/>
          </a:solidFill>
          <a:ln/>
        </p:spPr>
      </p:sp>
      <p:sp>
        <p:nvSpPr>
          <p:cNvPr id="5" name="Shape 3"/>
          <p:cNvSpPr/>
          <p:nvPr/>
        </p:nvSpPr>
        <p:spPr>
          <a:xfrm>
            <a:off x="1056639" y="3056003"/>
            <a:ext cx="116839" cy="2087497"/>
          </a:xfrm>
          <a:prstGeom prst="rect">
            <a:avLst/>
          </a:prstGeom>
          <a:solidFill>
            <a:srgbClr val="1200FF"/>
          </a:solidFill>
          <a:ln/>
        </p:spPr>
      </p:sp>
      <p:sp>
        <p:nvSpPr>
          <p:cNvPr id="6" name="Text 4"/>
          <p:cNvSpPr/>
          <p:nvPr/>
        </p:nvSpPr>
        <p:spPr>
          <a:xfrm>
            <a:off x="1324391" y="3239167"/>
            <a:ext cx="15794628" cy="1721167"/>
          </a:xfrm>
          <a:prstGeom prst="rect">
            <a:avLst/>
          </a:prstGeom>
          <a:noFill/>
          <a:ln/>
        </p:spPr>
        <p:txBody>
          <a:bodyPr wrap="square" lIns="25400" tIns="25400" rIns="25400" bIns="25400" rtlCol="0" anchor="t">
            <a:noAutofit/>
          </a:bodyPr>
          <a:lstStyle/>
          <a:p>
            <a:pPr>
              <a:lnSpc>
                <a:spcPct val="116189"/>
              </a:lnSpc>
            </a:pPr>
            <a:r>
              <a:rPr lang="en-US" sz="3100" dirty="0">
                <a:solidFill>
                  <a:srgbClr val="10101B"/>
                </a:solidFill>
                <a:ea typeface="+mn-lt"/>
                <a:cs typeface="+mn-lt"/>
              </a:rPr>
              <a:t>Modern multimodal medical diagnostic frameworks (such as </a:t>
            </a:r>
            <a:r>
              <a:rPr lang="en-US" sz="3100" dirty="0" err="1">
                <a:solidFill>
                  <a:srgbClr val="10101B"/>
                </a:solidFill>
                <a:ea typeface="+mn-lt"/>
                <a:cs typeface="+mn-lt"/>
              </a:rPr>
              <a:t>UniMod</a:t>
            </a:r>
            <a:r>
              <a:rPr lang="en-US" sz="3100" dirty="0">
                <a:solidFill>
                  <a:srgbClr val="10101B"/>
                </a:solidFill>
                <a:ea typeface="+mn-lt"/>
                <a:cs typeface="+mn-lt"/>
              </a:rPr>
              <a:t>) often produce uncalibrated confidence scores that fail to reflect their actual diagnostic accuracy, creating severe clinical risks where overconfident misclassifications can dangerously mislead healthcare decision-making.</a:t>
            </a:r>
            <a:endParaRPr lang="en-US" sz="3100" dirty="0">
              <a:ea typeface="Calibri"/>
              <a:cs typeface="Calibri"/>
            </a:endParaRPr>
          </a:p>
        </p:txBody>
      </p:sp>
      <p:sp>
        <p:nvSpPr>
          <p:cNvPr id="7" name="Text 5"/>
          <p:cNvSpPr/>
          <p:nvPr/>
        </p:nvSpPr>
        <p:spPr>
          <a:xfrm>
            <a:off x="1047750" y="6248876"/>
            <a:ext cx="5685747" cy="281940"/>
          </a:xfrm>
          <a:prstGeom prst="rect">
            <a:avLst/>
          </a:prstGeom>
          <a:noFill/>
          <a:ln/>
        </p:spPr>
        <p:txBody>
          <a:bodyPr wrap="square" lIns="25400" tIns="25400" rIns="25400" bIns="25400" rtlCol="0" anchor="t">
            <a:normAutofit lnSpcReduction="10000"/>
          </a:bodyPr>
          <a:lstStyle/>
          <a:p>
            <a:pPr marL="0" indent="0" algn="l">
              <a:buNone/>
            </a:pPr>
            <a:r>
              <a:rPr lang="en-US" sz="1650" b="1" kern="0" spc="132">
                <a:solidFill>
                  <a:srgbClr val="1200FF"/>
                </a:solidFill>
                <a:latin typeface="Arial" pitchFamily="34" charset="0"/>
                <a:ea typeface="Arial" pitchFamily="34" charset="-122"/>
                <a:cs typeface="Arial" pitchFamily="34" charset="-120"/>
              </a:rPr>
              <a:t>WHO IS AFFECTED</a:t>
            </a:r>
            <a:endParaRPr lang="en-US" sz="1650"/>
          </a:p>
        </p:txBody>
      </p:sp>
      <p:sp>
        <p:nvSpPr>
          <p:cNvPr id="8" name="Text 6"/>
          <p:cNvSpPr/>
          <p:nvPr/>
        </p:nvSpPr>
        <p:spPr>
          <a:xfrm>
            <a:off x="1088571" y="6533538"/>
            <a:ext cx="5644926" cy="2303144"/>
          </a:xfrm>
          <a:prstGeom prst="rect">
            <a:avLst/>
          </a:prstGeom>
          <a:noFill/>
          <a:ln/>
        </p:spPr>
        <p:txBody>
          <a:bodyPr wrap="square" lIns="25400" tIns="25400" rIns="25400" bIns="25400" rtlCol="0" anchor="t">
            <a:normAutofit/>
          </a:bodyPr>
          <a:lstStyle/>
          <a:p>
            <a:pPr marL="342900" indent="-342900">
              <a:lnSpc>
                <a:spcPct val="121154"/>
              </a:lnSpc>
              <a:buFont typeface="Arial"/>
              <a:buChar char="•"/>
            </a:pPr>
            <a:r>
              <a:rPr lang="en-US" sz="2000">
                <a:solidFill>
                  <a:srgbClr val="10101B"/>
                </a:solidFill>
                <a:latin typeface="Arial"/>
                <a:ea typeface="+mn-lt"/>
                <a:cs typeface="Arial"/>
              </a:rPr>
              <a:t>Clinicians and Healthcare Professionals</a:t>
            </a:r>
          </a:p>
          <a:p>
            <a:pPr marL="342900" indent="-342900">
              <a:lnSpc>
                <a:spcPct val="121154"/>
              </a:lnSpc>
              <a:buFont typeface="Arial"/>
              <a:buChar char="•"/>
            </a:pPr>
            <a:r>
              <a:rPr lang="en-US" sz="2000">
                <a:solidFill>
                  <a:srgbClr val="10101B"/>
                </a:solidFill>
                <a:latin typeface="Arial"/>
                <a:ea typeface="+mn-lt"/>
                <a:cs typeface="Arial"/>
              </a:rPr>
              <a:t>Patients</a:t>
            </a:r>
          </a:p>
          <a:p>
            <a:pPr marL="342900" indent="-342900">
              <a:lnSpc>
                <a:spcPct val="121154"/>
              </a:lnSpc>
              <a:buFont typeface="Arial"/>
              <a:buChar char="•"/>
            </a:pPr>
            <a:r>
              <a:rPr lang="en-US" sz="2000">
                <a:solidFill>
                  <a:srgbClr val="10101B"/>
                </a:solidFill>
                <a:latin typeface="Arial"/>
                <a:ea typeface="+mn-lt"/>
                <a:cs typeface="Arial"/>
              </a:rPr>
              <a:t>Medical AI Researchers and Developers</a:t>
            </a:r>
            <a:endParaRPr lang="en-US" sz="2000">
              <a:solidFill>
                <a:srgbClr val="10101B"/>
              </a:solidFill>
              <a:latin typeface="Arial"/>
              <a:ea typeface="Calibri" panose="020F0502020204030204"/>
              <a:cs typeface="Arial"/>
            </a:endParaRPr>
          </a:p>
        </p:txBody>
      </p:sp>
      <p:sp>
        <p:nvSpPr>
          <p:cNvPr id="9" name="Text 7"/>
          <p:cNvSpPr/>
          <p:nvPr/>
        </p:nvSpPr>
        <p:spPr>
          <a:xfrm>
            <a:off x="6409832" y="6248876"/>
            <a:ext cx="5685747" cy="281940"/>
          </a:xfrm>
          <a:prstGeom prst="rect">
            <a:avLst/>
          </a:prstGeom>
          <a:noFill/>
          <a:ln/>
        </p:spPr>
        <p:txBody>
          <a:bodyPr wrap="square" lIns="25400" tIns="25400" rIns="25400" bIns="25400" rtlCol="0" anchor="t">
            <a:normAutofit lnSpcReduction="10000"/>
          </a:bodyPr>
          <a:lstStyle/>
          <a:p>
            <a:pPr marL="0" indent="0" algn="l">
              <a:buNone/>
            </a:pPr>
            <a:r>
              <a:rPr lang="en-US" sz="1650" b="1" kern="0" spc="132">
                <a:solidFill>
                  <a:srgbClr val="1200FF"/>
                </a:solidFill>
                <a:latin typeface="Arial" pitchFamily="34" charset="0"/>
                <a:ea typeface="Arial" pitchFamily="34" charset="-122"/>
                <a:cs typeface="Arial" pitchFamily="34" charset="-120"/>
              </a:rPr>
              <a:t>CURRENT LIMITATION</a:t>
            </a:r>
            <a:endParaRPr lang="en-US" sz="1650"/>
          </a:p>
        </p:txBody>
      </p:sp>
      <p:sp>
        <p:nvSpPr>
          <p:cNvPr id="10" name="Text 8"/>
          <p:cNvSpPr/>
          <p:nvPr/>
        </p:nvSpPr>
        <p:spPr>
          <a:xfrm>
            <a:off x="6409832" y="6533538"/>
            <a:ext cx="5508855" cy="2303144"/>
          </a:xfrm>
          <a:prstGeom prst="rect">
            <a:avLst/>
          </a:prstGeom>
          <a:noFill/>
          <a:ln/>
        </p:spPr>
        <p:txBody>
          <a:bodyPr wrap="square" lIns="25400" tIns="25400" rIns="25400" bIns="25400" rtlCol="0" anchor="t">
            <a:normAutofit/>
          </a:bodyPr>
          <a:lstStyle/>
          <a:p>
            <a:pPr marL="342900" indent="-342900">
              <a:lnSpc>
                <a:spcPct val="121154"/>
              </a:lnSpc>
              <a:buFont typeface="Arial"/>
              <a:buChar char="•"/>
            </a:pPr>
            <a:r>
              <a:rPr lang="en-US" sz="2000">
                <a:solidFill>
                  <a:srgbClr val="10101B"/>
                </a:solidFill>
                <a:latin typeface="Arial"/>
                <a:ea typeface="Calibri"/>
                <a:cs typeface="Arial"/>
              </a:rPr>
              <a:t>Focus on Accuracy Over Calibration</a:t>
            </a:r>
          </a:p>
          <a:p>
            <a:pPr marL="342900" indent="-342900">
              <a:lnSpc>
                <a:spcPct val="121154"/>
              </a:lnSpc>
              <a:buFont typeface="Arial"/>
              <a:buChar char="•"/>
            </a:pPr>
            <a:r>
              <a:rPr lang="en-US" sz="2000">
                <a:solidFill>
                  <a:srgbClr val="10101B"/>
                </a:solidFill>
                <a:latin typeface="Arial"/>
                <a:ea typeface="Calibri"/>
                <a:cs typeface="Arial"/>
              </a:rPr>
              <a:t>Inherent </a:t>
            </a:r>
            <a:r>
              <a:rPr lang="en-US" sz="2200">
                <a:solidFill>
                  <a:srgbClr val="10101B"/>
                </a:solidFill>
                <a:latin typeface="Arial"/>
                <a:ea typeface="Calibri"/>
                <a:cs typeface="Arial"/>
              </a:rPr>
              <a:t>Overconfidence</a:t>
            </a:r>
            <a:r>
              <a:rPr lang="en-US" sz="2000">
                <a:solidFill>
                  <a:srgbClr val="10101B"/>
                </a:solidFill>
                <a:latin typeface="Arial"/>
                <a:ea typeface="Calibri"/>
                <a:cs typeface="Arial"/>
              </a:rPr>
              <a:t> in Deep Learning</a:t>
            </a:r>
          </a:p>
          <a:p>
            <a:pPr marL="342900" indent="-342900">
              <a:lnSpc>
                <a:spcPct val="121154"/>
              </a:lnSpc>
              <a:buFont typeface="Arial"/>
              <a:buChar char="•"/>
            </a:pPr>
            <a:r>
              <a:rPr lang="en-US" sz="2000">
                <a:solidFill>
                  <a:srgbClr val="10101B"/>
                </a:solidFill>
                <a:latin typeface="Arial"/>
                <a:ea typeface="Calibri"/>
                <a:cs typeface="Arial"/>
              </a:rPr>
              <a:t>Lack of Multimodal-Specific Calibration Evidence:</a:t>
            </a:r>
          </a:p>
        </p:txBody>
      </p:sp>
      <p:sp>
        <p:nvSpPr>
          <p:cNvPr id="11" name="Text 9"/>
          <p:cNvSpPr/>
          <p:nvPr/>
        </p:nvSpPr>
        <p:spPr>
          <a:xfrm>
            <a:off x="12071271" y="6248876"/>
            <a:ext cx="5685747" cy="281940"/>
          </a:xfrm>
          <a:prstGeom prst="rect">
            <a:avLst/>
          </a:prstGeom>
          <a:noFill/>
          <a:ln/>
        </p:spPr>
        <p:txBody>
          <a:bodyPr wrap="square" lIns="25400" tIns="25400" rIns="25400" bIns="25400" rtlCol="0" anchor="t">
            <a:normAutofit lnSpcReduction="10000"/>
          </a:bodyPr>
          <a:lstStyle/>
          <a:p>
            <a:pPr marL="0" indent="0" algn="l">
              <a:buNone/>
            </a:pPr>
            <a:r>
              <a:rPr lang="en-US" sz="1650" b="1" kern="0" spc="132">
                <a:solidFill>
                  <a:srgbClr val="1200FF"/>
                </a:solidFill>
                <a:latin typeface="Arial" pitchFamily="34" charset="0"/>
                <a:ea typeface="Arial" pitchFamily="34" charset="-122"/>
                <a:cs typeface="Arial" pitchFamily="34" charset="-120"/>
              </a:rPr>
              <a:t>WHY NOW</a:t>
            </a:r>
            <a:endParaRPr lang="en-US" sz="1650"/>
          </a:p>
        </p:txBody>
      </p:sp>
      <p:sp>
        <p:nvSpPr>
          <p:cNvPr id="12" name="Text 10"/>
          <p:cNvSpPr/>
          <p:nvPr/>
        </p:nvSpPr>
        <p:spPr>
          <a:xfrm>
            <a:off x="12071271" y="6533538"/>
            <a:ext cx="5685747" cy="2303144"/>
          </a:xfrm>
          <a:prstGeom prst="rect">
            <a:avLst/>
          </a:prstGeom>
          <a:noFill/>
          <a:ln/>
        </p:spPr>
        <p:txBody>
          <a:bodyPr wrap="square" lIns="25400" tIns="25400" rIns="25400" bIns="25400" rtlCol="0" anchor="t">
            <a:normAutofit/>
          </a:bodyPr>
          <a:lstStyle/>
          <a:p>
            <a:pPr marL="342900" indent="-342900">
              <a:lnSpc>
                <a:spcPct val="121154"/>
              </a:lnSpc>
              <a:buFont typeface="Arial"/>
              <a:buChar char="•"/>
            </a:pPr>
            <a:r>
              <a:rPr lang="en-US" sz="2000">
                <a:solidFill>
                  <a:srgbClr val="10101B"/>
                </a:solidFill>
                <a:latin typeface="Arial"/>
                <a:ea typeface="+mn-lt"/>
                <a:cs typeface="Arial"/>
              </a:rPr>
              <a:t>Rapid Growth of Multimodal Medical AI</a:t>
            </a:r>
          </a:p>
          <a:p>
            <a:pPr marL="342900" indent="-342900">
              <a:lnSpc>
                <a:spcPct val="121154"/>
              </a:lnSpc>
              <a:buFont typeface="Arial"/>
              <a:buChar char="•"/>
            </a:pPr>
            <a:r>
              <a:rPr lang="en-US" sz="2000">
                <a:solidFill>
                  <a:srgbClr val="10101B"/>
                </a:solidFill>
                <a:latin typeface="Arial"/>
                <a:ea typeface="+mn-lt"/>
                <a:cs typeface="Arial"/>
              </a:rPr>
              <a:t>Critical Safety Demand for Trustworthy AI</a:t>
            </a:r>
          </a:p>
          <a:p>
            <a:pPr marL="342900" indent="-342900">
              <a:lnSpc>
                <a:spcPct val="121154"/>
              </a:lnSpc>
              <a:buFont typeface="Arial"/>
              <a:buChar char="•"/>
            </a:pPr>
            <a:r>
              <a:rPr lang="en-US" sz="2000">
                <a:solidFill>
                  <a:srgbClr val="10101B"/>
                </a:solidFill>
                <a:latin typeface="Arial"/>
                <a:ea typeface="+mn-lt"/>
                <a:cs typeface="Arial"/>
              </a:rPr>
              <a:t>Timely Opportunity for Post-Processing Solutions</a:t>
            </a:r>
            <a:endParaRPr lang="en-US" sz="2000">
              <a:solidFill>
                <a:srgbClr val="10101B"/>
              </a:solidFill>
              <a:latin typeface="Arial"/>
              <a:ea typeface="Calibri" panose="020F0502020204030204"/>
              <a:cs typeface="Arial"/>
            </a:endParaRPr>
          </a:p>
        </p:txBody>
      </p:sp>
      <p:sp>
        <p:nvSpPr>
          <p:cNvPr id="13" name="Shape 11"/>
          <p:cNvSpPr/>
          <p:nvPr/>
        </p:nvSpPr>
        <p:spPr>
          <a:xfrm>
            <a:off x="1047750" y="9041130"/>
            <a:ext cx="16192500" cy="9525"/>
          </a:xfrm>
          <a:prstGeom prst="rect">
            <a:avLst/>
          </a:prstGeom>
          <a:solidFill>
            <a:srgbClr val="E1E3F0"/>
          </a:solidFill>
          <a:ln/>
        </p:spPr>
      </p:sp>
      <p:pic>
        <p:nvPicPr>
          <p:cNvPr id="14" name="Image 0" descr="preencoded.png"/>
          <p:cNvPicPr>
            <a:picLocks noChangeAspect="1"/>
          </p:cNvPicPr>
          <p:nvPr/>
        </p:nvPicPr>
        <p:blipFill>
          <a:blip r:embed="rId3"/>
          <a:stretch>
            <a:fillRect/>
          </a:stretch>
        </p:blipFill>
        <p:spPr>
          <a:xfrm>
            <a:off x="1047750" y="9315450"/>
            <a:ext cx="553283" cy="304800"/>
          </a:xfrm>
          <a:prstGeom prst="rect">
            <a:avLst/>
          </a:prstGeom>
        </p:spPr>
      </p:pic>
      <p:sp>
        <p:nvSpPr>
          <p:cNvPr id="15" name="Text 12"/>
          <p:cNvSpPr/>
          <p:nvPr/>
        </p:nvSpPr>
        <p:spPr>
          <a:xfrm>
            <a:off x="1734384" y="9345930"/>
            <a:ext cx="3907060" cy="281940"/>
          </a:xfrm>
          <a:prstGeom prst="rect">
            <a:avLst/>
          </a:prstGeom>
          <a:noFill/>
          <a:ln/>
        </p:spPr>
        <p:txBody>
          <a:bodyPr wrap="square" lIns="25400" tIns="25400" rIns="25400" bIns="25400" rtlCol="0" anchor="t">
            <a:normAutofit lnSpcReduction="10000"/>
          </a:bodyPr>
          <a:lstStyle/>
          <a:p>
            <a:pPr marL="0" indent="0" algn="l">
              <a:buNone/>
            </a:pPr>
            <a:r>
              <a:rPr lang="en-US" sz="1650">
                <a:solidFill>
                  <a:srgbClr val="4A4A5C"/>
                </a:solidFill>
                <a:latin typeface="Arial" pitchFamily="34" charset="0"/>
                <a:ea typeface="Arial" pitchFamily="34" charset="-122"/>
                <a:cs typeface="Arial" pitchFamily="34" charset="-120"/>
              </a:rPr>
              <a:t>Department of CSE · Uttara University</a:t>
            </a:r>
            <a:endParaRPr lang="en-US" sz="1650"/>
          </a:p>
        </p:txBody>
      </p:sp>
      <p:sp>
        <p:nvSpPr>
          <p:cNvPr id="16" name="Text 13"/>
          <p:cNvSpPr/>
          <p:nvPr/>
        </p:nvSpPr>
        <p:spPr>
          <a:xfrm>
            <a:off x="16599337" y="9345930"/>
            <a:ext cx="717113" cy="281940"/>
          </a:xfrm>
          <a:prstGeom prst="rect">
            <a:avLst/>
          </a:prstGeom>
          <a:noFill/>
          <a:ln/>
        </p:spPr>
        <p:txBody>
          <a:bodyPr wrap="square" lIns="25400" tIns="25400" rIns="25400" bIns="25400" rtlCol="0" anchor="t">
            <a:normAutofit lnSpcReduction="10000"/>
          </a:bodyPr>
          <a:lstStyle/>
          <a:p>
            <a:pPr marL="0" indent="0" algn="l">
              <a:buNone/>
            </a:pPr>
            <a:r>
              <a:rPr lang="en-US" sz="1650">
                <a:solidFill>
                  <a:srgbClr val="4A4A5C"/>
                </a:solidFill>
                <a:latin typeface="Arial" pitchFamily="34" charset="0"/>
                <a:ea typeface="Arial" pitchFamily="34" charset="-122"/>
                <a:cs typeface="Arial" pitchFamily="34" charset="-120"/>
              </a:rPr>
              <a:t>04 / 15</a:t>
            </a:r>
            <a:endParaRPr lang="en-US" sz="165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047750" y="857250"/>
            <a:ext cx="17811750" cy="312420"/>
          </a:xfrm>
          <a:prstGeom prst="rect">
            <a:avLst/>
          </a:prstGeom>
          <a:noFill/>
          <a:ln/>
        </p:spPr>
        <p:txBody>
          <a:bodyPr wrap="square" lIns="25400" tIns="25400" rIns="25400" bIns="25400" rtlCol="0" anchor="t">
            <a:normAutofit lnSpcReduction="10000"/>
          </a:bodyPr>
          <a:lstStyle/>
          <a:p>
            <a:pPr marL="0" indent="0" algn="l">
              <a:buNone/>
            </a:pPr>
            <a:r>
              <a:rPr lang="en-US" sz="1875" b="1" kern="0" spc="263">
                <a:solidFill>
                  <a:srgbClr val="1200FF"/>
                </a:solidFill>
                <a:latin typeface="Arial" pitchFamily="34" charset="0"/>
                <a:ea typeface="Arial" pitchFamily="34" charset="-122"/>
                <a:cs typeface="Arial" pitchFamily="34" charset="-120"/>
              </a:rPr>
              <a:t>03 — OBJECTIVES</a:t>
            </a:r>
            <a:endParaRPr lang="en-US" sz="1875"/>
          </a:p>
        </p:txBody>
      </p:sp>
      <p:sp>
        <p:nvSpPr>
          <p:cNvPr id="3" name="Text 1"/>
          <p:cNvSpPr/>
          <p:nvPr/>
        </p:nvSpPr>
        <p:spPr>
          <a:xfrm>
            <a:off x="1047750" y="1264920"/>
            <a:ext cx="17811750" cy="693420"/>
          </a:xfrm>
          <a:prstGeom prst="rect">
            <a:avLst/>
          </a:prstGeom>
          <a:noFill/>
          <a:ln/>
        </p:spPr>
        <p:txBody>
          <a:bodyPr wrap="square" lIns="25400" tIns="25400" rIns="25400" bIns="25400" rtlCol="0" anchor="t">
            <a:normAutofit lnSpcReduction="10000"/>
          </a:bodyPr>
          <a:lstStyle/>
          <a:p>
            <a:pPr marL="0" indent="0" algn="l">
              <a:buNone/>
            </a:pPr>
            <a:r>
              <a:rPr lang="en-US" sz="4500" b="1" kern="0" spc="-45">
                <a:solidFill>
                  <a:srgbClr val="10101B"/>
                </a:solidFill>
                <a:latin typeface="Arial" pitchFamily="34" charset="0"/>
                <a:ea typeface="Arial" pitchFamily="34" charset="-122"/>
                <a:cs typeface="Arial" pitchFamily="34" charset="-120"/>
              </a:rPr>
              <a:t>Research Objectives</a:t>
            </a:r>
            <a:endParaRPr lang="en-US" sz="4500"/>
          </a:p>
        </p:txBody>
      </p:sp>
      <p:sp>
        <p:nvSpPr>
          <p:cNvPr id="4" name="Shape 2"/>
          <p:cNvSpPr/>
          <p:nvPr/>
        </p:nvSpPr>
        <p:spPr>
          <a:xfrm>
            <a:off x="1047750" y="3185432"/>
            <a:ext cx="7943850" cy="2284366"/>
          </a:xfrm>
          <a:prstGeom prst="roundRect">
            <a:avLst>
              <a:gd name="adj" fmla="val 10090"/>
            </a:avLst>
          </a:prstGeom>
          <a:ln w="7620">
            <a:solidFill>
              <a:srgbClr val="E1E3F0"/>
            </a:solidFill>
            <a:prstDash val="solid"/>
          </a:ln>
        </p:spPr>
      </p:sp>
      <p:sp>
        <p:nvSpPr>
          <p:cNvPr id="5" name="Text 3"/>
          <p:cNvSpPr/>
          <p:nvPr/>
        </p:nvSpPr>
        <p:spPr>
          <a:xfrm>
            <a:off x="1436370" y="3478802"/>
            <a:ext cx="7883271" cy="480060"/>
          </a:xfrm>
          <a:prstGeom prst="rect">
            <a:avLst/>
          </a:prstGeom>
          <a:noFill/>
          <a:ln/>
        </p:spPr>
        <p:txBody>
          <a:bodyPr wrap="square" lIns="25400" tIns="25400" rIns="25400" bIns="25400" rtlCol="0" anchor="t">
            <a:normAutofit lnSpcReduction="10000"/>
          </a:bodyPr>
          <a:lstStyle/>
          <a:p>
            <a:pPr marL="0" indent="0" algn="l">
              <a:buNone/>
            </a:pPr>
            <a:r>
              <a:rPr lang="en-US" sz="3000" b="1">
                <a:solidFill>
                  <a:srgbClr val="1200FF"/>
                </a:solidFill>
                <a:latin typeface="Arial" pitchFamily="34" charset="0"/>
                <a:ea typeface="Arial" pitchFamily="34" charset="-122"/>
                <a:cs typeface="Arial" pitchFamily="34" charset="-120"/>
              </a:rPr>
              <a:t>01</a:t>
            </a:r>
            <a:endParaRPr lang="en-US" sz="3000"/>
          </a:p>
        </p:txBody>
      </p:sp>
      <p:sp>
        <p:nvSpPr>
          <p:cNvPr id="6" name="Text 4"/>
          <p:cNvSpPr/>
          <p:nvPr/>
        </p:nvSpPr>
        <p:spPr>
          <a:xfrm>
            <a:off x="1436370" y="4073162"/>
            <a:ext cx="7434236" cy="1399902"/>
          </a:xfrm>
          <a:prstGeom prst="rect">
            <a:avLst/>
          </a:prstGeom>
          <a:noFill/>
          <a:ln/>
        </p:spPr>
        <p:txBody>
          <a:bodyPr wrap="square" lIns="25400" tIns="25400" rIns="25400" bIns="25400" rtlCol="0" anchor="t">
            <a:normAutofit/>
          </a:bodyPr>
          <a:lstStyle/>
          <a:p>
            <a:r>
              <a:rPr lang="en-US" sz="2250" b="1">
                <a:solidFill>
                  <a:srgbClr val="10101B"/>
                </a:solidFill>
                <a:latin typeface="Arial"/>
                <a:ea typeface="+mn-lt"/>
                <a:cs typeface="Arial"/>
              </a:rPr>
              <a:t>Evaluate the baseline diagnostic performance and confidence score distributions of the </a:t>
            </a:r>
            <a:r>
              <a:rPr lang="en-US" sz="2250" b="1" err="1">
                <a:solidFill>
                  <a:srgbClr val="10101B"/>
                </a:solidFill>
                <a:latin typeface="Arial"/>
                <a:ea typeface="+mn-lt"/>
                <a:cs typeface="Arial"/>
              </a:rPr>
              <a:t>UniMod</a:t>
            </a:r>
            <a:r>
              <a:rPr lang="en-US" sz="2250" b="1">
                <a:solidFill>
                  <a:srgbClr val="10101B"/>
                </a:solidFill>
                <a:latin typeface="Arial"/>
                <a:ea typeface="+mn-lt"/>
                <a:cs typeface="Arial"/>
              </a:rPr>
              <a:t> framework using suitable medical image-text data. </a:t>
            </a:r>
            <a:endParaRPr lang="en-US" b="1">
              <a:latin typeface="Arial"/>
              <a:cs typeface="Arial"/>
            </a:endParaRPr>
          </a:p>
        </p:txBody>
      </p:sp>
      <p:sp>
        <p:nvSpPr>
          <p:cNvPr id="7" name="Shape 5"/>
          <p:cNvSpPr/>
          <p:nvPr/>
        </p:nvSpPr>
        <p:spPr>
          <a:xfrm>
            <a:off x="9296400" y="3185432"/>
            <a:ext cx="8025492" cy="2284366"/>
          </a:xfrm>
          <a:prstGeom prst="roundRect">
            <a:avLst>
              <a:gd name="adj" fmla="val 10090"/>
            </a:avLst>
          </a:prstGeom>
          <a:ln w="7620">
            <a:solidFill>
              <a:srgbClr val="E1E3F0"/>
            </a:solidFill>
            <a:prstDash val="solid"/>
          </a:ln>
        </p:spPr>
      </p:sp>
      <p:sp>
        <p:nvSpPr>
          <p:cNvPr id="8" name="Text 6"/>
          <p:cNvSpPr/>
          <p:nvPr/>
        </p:nvSpPr>
        <p:spPr>
          <a:xfrm>
            <a:off x="9685020" y="3329123"/>
            <a:ext cx="7883271" cy="480060"/>
          </a:xfrm>
          <a:prstGeom prst="rect">
            <a:avLst/>
          </a:prstGeom>
          <a:noFill/>
          <a:ln/>
        </p:spPr>
        <p:txBody>
          <a:bodyPr wrap="square" lIns="25400" tIns="25400" rIns="25400" bIns="25400" rtlCol="0" anchor="t">
            <a:normAutofit lnSpcReduction="10000"/>
          </a:bodyPr>
          <a:lstStyle/>
          <a:p>
            <a:pPr marL="0" indent="0" algn="l">
              <a:buNone/>
            </a:pPr>
            <a:r>
              <a:rPr lang="en-US" sz="3000" b="1">
                <a:solidFill>
                  <a:srgbClr val="1200FF"/>
                </a:solidFill>
                <a:latin typeface="Arial" pitchFamily="34" charset="0"/>
                <a:ea typeface="Arial" pitchFamily="34" charset="-122"/>
                <a:cs typeface="Arial" pitchFamily="34" charset="-120"/>
              </a:rPr>
              <a:t>02</a:t>
            </a:r>
            <a:endParaRPr lang="en-US" sz="3000"/>
          </a:p>
        </p:txBody>
      </p:sp>
      <p:sp>
        <p:nvSpPr>
          <p:cNvPr id="9" name="Text 7"/>
          <p:cNvSpPr/>
          <p:nvPr/>
        </p:nvSpPr>
        <p:spPr>
          <a:xfrm>
            <a:off x="9685020" y="3950697"/>
            <a:ext cx="7284557" cy="1372688"/>
          </a:xfrm>
          <a:prstGeom prst="rect">
            <a:avLst/>
          </a:prstGeom>
          <a:noFill/>
          <a:ln/>
        </p:spPr>
        <p:txBody>
          <a:bodyPr wrap="square" lIns="25400" tIns="25400" rIns="25400" bIns="25400" rtlCol="0" anchor="t">
            <a:normAutofit/>
          </a:bodyPr>
          <a:lstStyle/>
          <a:p>
            <a:r>
              <a:rPr lang="en-US" sz="2250" b="1">
                <a:solidFill>
                  <a:srgbClr val="10101B"/>
                </a:solidFill>
                <a:latin typeface="Arial"/>
                <a:ea typeface="+mn-lt"/>
                <a:cs typeface="Arial"/>
              </a:rPr>
              <a:t>Measure confidence calibration quantitatively using the Expected Calibration Error (ECE) and the Brier Score across confidence intervals.</a:t>
            </a:r>
            <a:endParaRPr lang="en-US" b="1">
              <a:latin typeface="Arial"/>
              <a:ea typeface="Calibri"/>
              <a:cs typeface="Arial"/>
            </a:endParaRPr>
          </a:p>
        </p:txBody>
      </p:sp>
      <p:sp>
        <p:nvSpPr>
          <p:cNvPr id="10" name="Shape 8"/>
          <p:cNvSpPr/>
          <p:nvPr/>
        </p:nvSpPr>
        <p:spPr>
          <a:xfrm>
            <a:off x="1047750" y="5720171"/>
            <a:ext cx="7943850" cy="2284367"/>
          </a:xfrm>
          <a:prstGeom prst="roundRect">
            <a:avLst>
              <a:gd name="adj" fmla="val 10090"/>
            </a:avLst>
          </a:prstGeom>
          <a:ln w="7620">
            <a:solidFill>
              <a:srgbClr val="E1E3F0"/>
            </a:solidFill>
            <a:prstDash val="solid"/>
          </a:ln>
        </p:spPr>
      </p:sp>
      <p:sp>
        <p:nvSpPr>
          <p:cNvPr id="11" name="Text 9"/>
          <p:cNvSpPr/>
          <p:nvPr/>
        </p:nvSpPr>
        <p:spPr>
          <a:xfrm>
            <a:off x="1436370" y="5836648"/>
            <a:ext cx="7883271" cy="480060"/>
          </a:xfrm>
          <a:prstGeom prst="rect">
            <a:avLst/>
          </a:prstGeom>
          <a:noFill/>
          <a:ln/>
        </p:spPr>
        <p:txBody>
          <a:bodyPr wrap="square" lIns="25400" tIns="25400" rIns="25400" bIns="25400" rtlCol="0" anchor="t">
            <a:normAutofit lnSpcReduction="10000"/>
          </a:bodyPr>
          <a:lstStyle/>
          <a:p>
            <a:pPr marL="0" indent="0" algn="l">
              <a:buNone/>
            </a:pPr>
            <a:r>
              <a:rPr lang="en-US" sz="3000" b="1">
                <a:solidFill>
                  <a:srgbClr val="1200FF"/>
                </a:solidFill>
                <a:latin typeface="Arial" pitchFamily="34" charset="0"/>
                <a:ea typeface="Arial" pitchFamily="34" charset="-122"/>
                <a:cs typeface="Arial" pitchFamily="34" charset="-120"/>
              </a:rPr>
              <a:t>03</a:t>
            </a:r>
            <a:endParaRPr lang="en-US" sz="3000"/>
          </a:p>
        </p:txBody>
      </p:sp>
      <p:sp>
        <p:nvSpPr>
          <p:cNvPr id="12" name="Text 10"/>
          <p:cNvSpPr/>
          <p:nvPr/>
        </p:nvSpPr>
        <p:spPr>
          <a:xfrm>
            <a:off x="1436370" y="6431008"/>
            <a:ext cx="7175700" cy="1712867"/>
          </a:xfrm>
          <a:prstGeom prst="rect">
            <a:avLst/>
          </a:prstGeom>
          <a:noFill/>
          <a:ln/>
        </p:spPr>
        <p:txBody>
          <a:bodyPr wrap="square" lIns="25400" tIns="25400" rIns="25400" bIns="25400" rtlCol="0" anchor="t">
            <a:normAutofit/>
          </a:bodyPr>
          <a:lstStyle/>
          <a:p>
            <a:r>
              <a:rPr lang="en-US" sz="2250" b="1">
                <a:solidFill>
                  <a:srgbClr val="10101B"/>
                </a:solidFill>
                <a:latin typeface="Arial"/>
                <a:ea typeface="+mn-lt"/>
                <a:cs typeface="Arial"/>
              </a:rPr>
              <a:t>Investigate whether post-processing temperature scaling can effectively improve confidence calibration and minimize the calibration error of </a:t>
            </a:r>
            <a:r>
              <a:rPr lang="en-US" sz="2250" b="1" err="1">
                <a:solidFill>
                  <a:srgbClr val="10101B"/>
                </a:solidFill>
                <a:latin typeface="Arial"/>
                <a:ea typeface="+mn-lt"/>
                <a:cs typeface="Arial"/>
              </a:rPr>
              <a:t>UniMod</a:t>
            </a:r>
            <a:r>
              <a:rPr lang="en-US" sz="2250" b="1">
                <a:solidFill>
                  <a:srgbClr val="10101B"/>
                </a:solidFill>
                <a:latin typeface="Arial"/>
                <a:ea typeface="+mn-lt"/>
                <a:cs typeface="Arial"/>
              </a:rPr>
              <a:t>. </a:t>
            </a:r>
            <a:endParaRPr lang="en-US" b="1">
              <a:latin typeface="Arial"/>
              <a:cs typeface="Arial"/>
            </a:endParaRPr>
          </a:p>
        </p:txBody>
      </p:sp>
      <p:sp>
        <p:nvSpPr>
          <p:cNvPr id="13" name="Shape 11"/>
          <p:cNvSpPr/>
          <p:nvPr/>
        </p:nvSpPr>
        <p:spPr>
          <a:xfrm>
            <a:off x="9296400" y="5720171"/>
            <a:ext cx="8025492" cy="2284366"/>
          </a:xfrm>
          <a:prstGeom prst="roundRect">
            <a:avLst>
              <a:gd name="adj" fmla="val 10090"/>
            </a:avLst>
          </a:prstGeom>
          <a:ln w="7620">
            <a:solidFill>
              <a:srgbClr val="E1E3F0"/>
            </a:solidFill>
            <a:prstDash val="solid"/>
          </a:ln>
        </p:spPr>
      </p:sp>
      <p:sp>
        <p:nvSpPr>
          <p:cNvPr id="14" name="Text 12"/>
          <p:cNvSpPr/>
          <p:nvPr/>
        </p:nvSpPr>
        <p:spPr>
          <a:xfrm>
            <a:off x="9685020" y="5836648"/>
            <a:ext cx="7883271" cy="480060"/>
          </a:xfrm>
          <a:prstGeom prst="rect">
            <a:avLst/>
          </a:prstGeom>
          <a:noFill/>
          <a:ln/>
        </p:spPr>
        <p:txBody>
          <a:bodyPr wrap="square" lIns="25400" tIns="25400" rIns="25400" bIns="25400" rtlCol="0" anchor="t">
            <a:normAutofit lnSpcReduction="10000"/>
          </a:bodyPr>
          <a:lstStyle/>
          <a:p>
            <a:pPr marL="0" indent="0" algn="l">
              <a:buNone/>
            </a:pPr>
            <a:r>
              <a:rPr lang="en-US" sz="3000" b="1">
                <a:solidFill>
                  <a:srgbClr val="1200FF"/>
                </a:solidFill>
                <a:latin typeface="Arial" pitchFamily="34" charset="0"/>
                <a:ea typeface="Arial" pitchFamily="34" charset="-122"/>
                <a:cs typeface="Arial" pitchFamily="34" charset="-120"/>
              </a:rPr>
              <a:t>04</a:t>
            </a:r>
            <a:endParaRPr lang="en-US" sz="3000"/>
          </a:p>
        </p:txBody>
      </p:sp>
      <p:sp>
        <p:nvSpPr>
          <p:cNvPr id="15" name="Text 13"/>
          <p:cNvSpPr/>
          <p:nvPr/>
        </p:nvSpPr>
        <p:spPr>
          <a:xfrm>
            <a:off x="9685020" y="6431008"/>
            <a:ext cx="7883271" cy="1712867"/>
          </a:xfrm>
          <a:prstGeom prst="rect">
            <a:avLst/>
          </a:prstGeom>
          <a:noFill/>
          <a:ln/>
        </p:spPr>
        <p:txBody>
          <a:bodyPr wrap="square" lIns="25400" tIns="25400" rIns="25400" bIns="25400" rtlCol="0" anchor="t">
            <a:normAutofit/>
          </a:bodyPr>
          <a:lstStyle/>
          <a:p>
            <a:r>
              <a:rPr lang="en-US" sz="2250" b="1">
                <a:solidFill>
                  <a:srgbClr val="10101B"/>
                </a:solidFill>
                <a:latin typeface="Arial"/>
                <a:ea typeface="+mn-lt"/>
                <a:cs typeface="Arial"/>
              </a:rPr>
              <a:t>Compare overall model performance, probability reliability, and prediction coverage before and after calibration to assess the practical viability of the approach. </a:t>
            </a:r>
            <a:endParaRPr lang="en-US" b="1">
              <a:latin typeface="Arial"/>
              <a:cs typeface="Arial"/>
            </a:endParaRPr>
          </a:p>
        </p:txBody>
      </p:sp>
      <p:sp>
        <p:nvSpPr>
          <p:cNvPr id="16" name="Shape 14"/>
          <p:cNvSpPr/>
          <p:nvPr/>
        </p:nvSpPr>
        <p:spPr>
          <a:xfrm>
            <a:off x="1047750" y="9041130"/>
            <a:ext cx="16192500" cy="9525"/>
          </a:xfrm>
          <a:prstGeom prst="rect">
            <a:avLst/>
          </a:prstGeom>
          <a:solidFill>
            <a:srgbClr val="E1E3F0"/>
          </a:solidFill>
          <a:ln/>
        </p:spPr>
      </p:sp>
      <p:pic>
        <p:nvPicPr>
          <p:cNvPr id="17" name="Image 0" descr="preencoded.png"/>
          <p:cNvPicPr>
            <a:picLocks noChangeAspect="1"/>
          </p:cNvPicPr>
          <p:nvPr/>
        </p:nvPicPr>
        <p:blipFill>
          <a:blip r:embed="rId3"/>
          <a:stretch>
            <a:fillRect/>
          </a:stretch>
        </p:blipFill>
        <p:spPr>
          <a:xfrm>
            <a:off x="1047750" y="9315450"/>
            <a:ext cx="553283" cy="304800"/>
          </a:xfrm>
          <a:prstGeom prst="rect">
            <a:avLst/>
          </a:prstGeom>
        </p:spPr>
      </p:pic>
      <p:sp>
        <p:nvSpPr>
          <p:cNvPr id="18" name="Text 15"/>
          <p:cNvSpPr/>
          <p:nvPr/>
        </p:nvSpPr>
        <p:spPr>
          <a:xfrm>
            <a:off x="1734384" y="9345930"/>
            <a:ext cx="3907060" cy="281940"/>
          </a:xfrm>
          <a:prstGeom prst="rect">
            <a:avLst/>
          </a:prstGeom>
          <a:noFill/>
          <a:ln/>
        </p:spPr>
        <p:txBody>
          <a:bodyPr wrap="square" lIns="25400" tIns="25400" rIns="25400" bIns="25400" rtlCol="0" anchor="t">
            <a:normAutofit lnSpcReduction="10000"/>
          </a:bodyPr>
          <a:lstStyle/>
          <a:p>
            <a:pPr marL="0" indent="0" algn="l">
              <a:buNone/>
            </a:pPr>
            <a:r>
              <a:rPr lang="en-US" sz="1650">
                <a:solidFill>
                  <a:srgbClr val="4A4A5C"/>
                </a:solidFill>
                <a:latin typeface="Arial" pitchFamily="34" charset="0"/>
                <a:ea typeface="Arial" pitchFamily="34" charset="-122"/>
                <a:cs typeface="Arial" pitchFamily="34" charset="-120"/>
              </a:rPr>
              <a:t>Department of CSE · Uttara University</a:t>
            </a:r>
            <a:endParaRPr lang="en-US" sz="1650"/>
          </a:p>
        </p:txBody>
      </p:sp>
      <p:sp>
        <p:nvSpPr>
          <p:cNvPr id="19" name="Text 16"/>
          <p:cNvSpPr/>
          <p:nvPr/>
        </p:nvSpPr>
        <p:spPr>
          <a:xfrm>
            <a:off x="16599337" y="9345930"/>
            <a:ext cx="717113" cy="281940"/>
          </a:xfrm>
          <a:prstGeom prst="rect">
            <a:avLst/>
          </a:prstGeom>
          <a:noFill/>
          <a:ln/>
        </p:spPr>
        <p:txBody>
          <a:bodyPr wrap="square" lIns="25400" tIns="25400" rIns="25400" bIns="25400" rtlCol="0" anchor="t">
            <a:normAutofit lnSpcReduction="10000"/>
          </a:bodyPr>
          <a:lstStyle/>
          <a:p>
            <a:pPr marL="0" indent="0" algn="l">
              <a:buNone/>
            </a:pPr>
            <a:r>
              <a:rPr lang="en-US" sz="1650">
                <a:solidFill>
                  <a:srgbClr val="4A4A5C"/>
                </a:solidFill>
                <a:latin typeface="Arial" pitchFamily="34" charset="0"/>
                <a:ea typeface="Arial" pitchFamily="34" charset="-122"/>
                <a:cs typeface="Arial" pitchFamily="34" charset="-120"/>
              </a:rPr>
              <a:t>05 / 15</a:t>
            </a:r>
            <a:endParaRPr lang="en-US" sz="165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047750" y="857250"/>
            <a:ext cx="17811750" cy="312420"/>
          </a:xfrm>
          <a:prstGeom prst="rect">
            <a:avLst/>
          </a:prstGeom>
          <a:noFill/>
          <a:ln/>
        </p:spPr>
        <p:txBody>
          <a:bodyPr wrap="square" lIns="25400" tIns="25400" rIns="25400" bIns="25400" rtlCol="0" anchor="t">
            <a:normAutofit lnSpcReduction="10000"/>
          </a:bodyPr>
          <a:lstStyle/>
          <a:p>
            <a:pPr marL="0" indent="0" algn="l">
              <a:buNone/>
            </a:pPr>
            <a:r>
              <a:rPr lang="en-US" sz="1875" b="1" kern="0" spc="263">
                <a:solidFill>
                  <a:srgbClr val="1200FF"/>
                </a:solidFill>
                <a:latin typeface="Arial" pitchFamily="34" charset="0"/>
                <a:ea typeface="Arial" pitchFamily="34" charset="-122"/>
                <a:cs typeface="Arial" pitchFamily="34" charset="-120"/>
              </a:rPr>
              <a:t>04 — LITERATURE REVIEW</a:t>
            </a:r>
            <a:endParaRPr lang="en-US" sz="1875"/>
          </a:p>
        </p:txBody>
      </p:sp>
      <p:sp>
        <p:nvSpPr>
          <p:cNvPr id="3" name="Text 1"/>
          <p:cNvSpPr/>
          <p:nvPr/>
        </p:nvSpPr>
        <p:spPr>
          <a:xfrm>
            <a:off x="1047750" y="1264920"/>
            <a:ext cx="17811750" cy="693420"/>
          </a:xfrm>
          <a:prstGeom prst="rect">
            <a:avLst/>
          </a:prstGeom>
          <a:noFill/>
          <a:ln/>
        </p:spPr>
        <p:txBody>
          <a:bodyPr wrap="square" lIns="25400" tIns="25400" rIns="25400" bIns="25400" rtlCol="0" anchor="t">
            <a:normAutofit lnSpcReduction="10000"/>
          </a:bodyPr>
          <a:lstStyle/>
          <a:p>
            <a:pPr marL="0" indent="0" algn="l">
              <a:buNone/>
            </a:pPr>
            <a:r>
              <a:rPr lang="en-US" sz="4500" b="1" kern="0" spc="-45">
                <a:solidFill>
                  <a:srgbClr val="10101B"/>
                </a:solidFill>
                <a:latin typeface="Arial" pitchFamily="34" charset="0"/>
                <a:ea typeface="Arial" pitchFamily="34" charset="-122"/>
                <a:cs typeface="Arial" pitchFamily="34" charset="-120"/>
              </a:rPr>
              <a:t>Related Work</a:t>
            </a:r>
            <a:endParaRPr lang="en-US" sz="4500"/>
          </a:p>
        </p:txBody>
      </p:sp>
      <p:sp>
        <p:nvSpPr>
          <p:cNvPr id="4" name="Shape 2"/>
          <p:cNvSpPr/>
          <p:nvPr/>
        </p:nvSpPr>
        <p:spPr>
          <a:xfrm>
            <a:off x="1047750" y="4248150"/>
            <a:ext cx="16192500" cy="15240"/>
          </a:xfrm>
          <a:prstGeom prst="rect">
            <a:avLst/>
          </a:prstGeom>
          <a:solidFill>
            <a:srgbClr val="10101B"/>
          </a:solidFill>
          <a:ln/>
        </p:spPr>
      </p:sp>
      <p:sp>
        <p:nvSpPr>
          <p:cNvPr id="5" name="Text 3"/>
          <p:cNvSpPr/>
          <p:nvPr/>
        </p:nvSpPr>
        <p:spPr>
          <a:xfrm>
            <a:off x="1047750" y="3802380"/>
            <a:ext cx="4898231" cy="312420"/>
          </a:xfrm>
          <a:prstGeom prst="rect">
            <a:avLst/>
          </a:prstGeom>
          <a:noFill/>
          <a:ln/>
        </p:spPr>
        <p:txBody>
          <a:bodyPr wrap="square" lIns="25400" tIns="25400" rIns="25400" bIns="25400" rtlCol="0" anchor="t">
            <a:normAutofit lnSpcReduction="10000"/>
          </a:bodyPr>
          <a:lstStyle/>
          <a:p>
            <a:pPr marL="0" indent="0" algn="l">
              <a:buNone/>
            </a:pPr>
            <a:r>
              <a:rPr lang="en-US" sz="1875" b="1" kern="0" spc="113">
                <a:solidFill>
                  <a:srgbClr val="4A4A5C"/>
                </a:solidFill>
                <a:latin typeface="Arial" pitchFamily="34" charset="0"/>
                <a:ea typeface="Arial" pitchFamily="34" charset="-122"/>
                <a:cs typeface="Arial" pitchFamily="34" charset="-120"/>
              </a:rPr>
              <a:t>AUTHOR / YEAR</a:t>
            </a:r>
            <a:endParaRPr lang="en-US" sz="1875"/>
          </a:p>
        </p:txBody>
      </p:sp>
      <p:sp>
        <p:nvSpPr>
          <p:cNvPr id="6" name="Text 4"/>
          <p:cNvSpPr/>
          <p:nvPr/>
        </p:nvSpPr>
        <p:spPr>
          <a:xfrm>
            <a:off x="5500688" y="3802380"/>
            <a:ext cx="7124700" cy="312420"/>
          </a:xfrm>
          <a:prstGeom prst="rect">
            <a:avLst/>
          </a:prstGeom>
          <a:noFill/>
          <a:ln/>
        </p:spPr>
        <p:txBody>
          <a:bodyPr wrap="square" lIns="25400" tIns="25400" rIns="25400" bIns="25400" rtlCol="0" anchor="t">
            <a:normAutofit lnSpcReduction="10000"/>
          </a:bodyPr>
          <a:lstStyle/>
          <a:p>
            <a:pPr marL="0" indent="0" algn="l">
              <a:buNone/>
            </a:pPr>
            <a:r>
              <a:rPr lang="en-US" sz="1875" b="1" kern="0" spc="113">
                <a:solidFill>
                  <a:srgbClr val="4A4A5C"/>
                </a:solidFill>
                <a:latin typeface="Arial" pitchFamily="34" charset="0"/>
                <a:ea typeface="Arial" pitchFamily="34" charset="-122"/>
                <a:cs typeface="Arial" pitchFamily="34" charset="-120"/>
              </a:rPr>
              <a:t>APPROACH</a:t>
            </a:r>
            <a:endParaRPr lang="en-US" sz="1875"/>
          </a:p>
        </p:txBody>
      </p:sp>
      <p:sp>
        <p:nvSpPr>
          <p:cNvPr id="7" name="Text 5"/>
          <p:cNvSpPr/>
          <p:nvPr/>
        </p:nvSpPr>
        <p:spPr>
          <a:xfrm>
            <a:off x="11977688" y="3802380"/>
            <a:ext cx="5788819" cy="312420"/>
          </a:xfrm>
          <a:prstGeom prst="rect">
            <a:avLst/>
          </a:prstGeom>
          <a:noFill/>
          <a:ln/>
        </p:spPr>
        <p:txBody>
          <a:bodyPr wrap="square" lIns="25400" tIns="25400" rIns="25400" bIns="25400" rtlCol="0" anchor="t">
            <a:normAutofit lnSpcReduction="10000"/>
          </a:bodyPr>
          <a:lstStyle/>
          <a:p>
            <a:pPr marL="0" indent="0" algn="l">
              <a:buNone/>
            </a:pPr>
            <a:r>
              <a:rPr lang="en-US" sz="1875" b="1" kern="0" spc="113">
                <a:solidFill>
                  <a:srgbClr val="4A4A5C"/>
                </a:solidFill>
                <a:latin typeface="Arial" pitchFamily="34" charset="0"/>
                <a:ea typeface="Arial" pitchFamily="34" charset="-122"/>
                <a:cs typeface="Arial" pitchFamily="34" charset="-120"/>
              </a:rPr>
              <a:t>LIMITATION</a:t>
            </a:r>
            <a:endParaRPr lang="en-US" sz="1875"/>
          </a:p>
        </p:txBody>
      </p:sp>
      <p:sp>
        <p:nvSpPr>
          <p:cNvPr id="8" name="Shape 6"/>
          <p:cNvSpPr/>
          <p:nvPr/>
        </p:nvSpPr>
        <p:spPr>
          <a:xfrm>
            <a:off x="1047750" y="5086350"/>
            <a:ext cx="16192500" cy="9525"/>
          </a:xfrm>
          <a:prstGeom prst="rect">
            <a:avLst/>
          </a:prstGeom>
          <a:solidFill>
            <a:srgbClr val="E1E3F0"/>
          </a:solidFill>
          <a:ln/>
        </p:spPr>
      </p:sp>
      <p:sp>
        <p:nvSpPr>
          <p:cNvPr id="9" name="Text 7"/>
          <p:cNvSpPr/>
          <p:nvPr/>
        </p:nvSpPr>
        <p:spPr>
          <a:xfrm>
            <a:off x="1047750" y="4511040"/>
            <a:ext cx="4898231" cy="365760"/>
          </a:xfrm>
          <a:prstGeom prst="rect">
            <a:avLst/>
          </a:prstGeom>
          <a:noFill/>
          <a:ln/>
        </p:spPr>
        <p:txBody>
          <a:bodyPr wrap="square" lIns="25400" tIns="25400" rIns="25400" bIns="25400" rtlCol="0" anchor="t">
            <a:noAutofit/>
          </a:bodyPr>
          <a:lstStyle/>
          <a:p>
            <a:r>
              <a:rPr lang="en-US" sz="3000" b="1">
                <a:solidFill>
                  <a:srgbClr val="10101B"/>
                </a:solidFill>
                <a:ea typeface="+mn-lt"/>
                <a:cs typeface="+mn-lt"/>
              </a:rPr>
              <a:t>Guo et al. (2017)</a:t>
            </a:r>
            <a:endParaRPr lang="en-US" sz="3000" b="1">
              <a:ea typeface="Calibri"/>
              <a:cs typeface="Calibri"/>
            </a:endParaRPr>
          </a:p>
        </p:txBody>
      </p:sp>
      <p:sp>
        <p:nvSpPr>
          <p:cNvPr id="10" name="Text 8"/>
          <p:cNvSpPr/>
          <p:nvPr/>
        </p:nvSpPr>
        <p:spPr>
          <a:xfrm>
            <a:off x="5500688" y="4511040"/>
            <a:ext cx="7124700" cy="365760"/>
          </a:xfrm>
          <a:prstGeom prst="rect">
            <a:avLst/>
          </a:prstGeom>
          <a:noFill/>
          <a:ln/>
        </p:spPr>
        <p:txBody>
          <a:bodyPr wrap="square" lIns="25400" tIns="25400" rIns="25400" bIns="25400" rtlCol="0" anchor="t">
            <a:noAutofit/>
          </a:bodyPr>
          <a:lstStyle/>
          <a:p>
            <a:r>
              <a:rPr lang="en-US" sz="2800">
                <a:solidFill>
                  <a:srgbClr val="10101B"/>
                </a:solidFill>
                <a:ea typeface="+mn-lt"/>
                <a:cs typeface="+mn-lt"/>
              </a:rPr>
              <a:t>Temperature scaling for calibration</a:t>
            </a:r>
            <a:endParaRPr lang="en-US" sz="2800">
              <a:ea typeface="Calibri"/>
              <a:cs typeface="Calibri"/>
            </a:endParaRPr>
          </a:p>
          <a:p>
            <a:pPr marL="0" indent="0" algn="l">
              <a:buNone/>
            </a:pPr>
            <a:endParaRPr lang="en-US" sz="2400">
              <a:solidFill>
                <a:srgbClr val="10101B"/>
              </a:solidFill>
              <a:latin typeface="Arial"/>
              <a:cs typeface="Arial"/>
            </a:endParaRPr>
          </a:p>
        </p:txBody>
      </p:sp>
      <p:sp>
        <p:nvSpPr>
          <p:cNvPr id="11" name="Text 9"/>
          <p:cNvSpPr/>
          <p:nvPr/>
        </p:nvSpPr>
        <p:spPr>
          <a:xfrm>
            <a:off x="11977688" y="4511040"/>
            <a:ext cx="5788819" cy="365760"/>
          </a:xfrm>
          <a:prstGeom prst="rect">
            <a:avLst/>
          </a:prstGeom>
          <a:noFill/>
          <a:ln/>
        </p:spPr>
        <p:txBody>
          <a:bodyPr wrap="square" lIns="25400" tIns="25400" rIns="25400" bIns="25400" rtlCol="0" anchor="t">
            <a:noAutofit/>
          </a:bodyPr>
          <a:lstStyle/>
          <a:p>
            <a:r>
              <a:rPr lang="en-US" sz="2800">
                <a:solidFill>
                  <a:srgbClr val="4A4A5C"/>
                </a:solidFill>
                <a:ea typeface="+mn-lt"/>
                <a:cs typeface="+mn-lt"/>
              </a:rPr>
              <a:t>Not specific to </a:t>
            </a:r>
            <a:r>
              <a:rPr lang="en-US" sz="2800" err="1">
                <a:solidFill>
                  <a:srgbClr val="4A4A5C"/>
                </a:solidFill>
                <a:ea typeface="+mn-lt"/>
                <a:cs typeface="+mn-lt"/>
              </a:rPr>
              <a:t>UniMod</a:t>
            </a:r>
            <a:endParaRPr lang="en-US" sz="2800">
              <a:ea typeface="Calibri"/>
              <a:cs typeface="Calibri"/>
            </a:endParaRPr>
          </a:p>
        </p:txBody>
      </p:sp>
      <p:sp>
        <p:nvSpPr>
          <p:cNvPr id="12" name="Shape 10"/>
          <p:cNvSpPr/>
          <p:nvPr/>
        </p:nvSpPr>
        <p:spPr>
          <a:xfrm>
            <a:off x="1047750" y="5916930"/>
            <a:ext cx="16192500" cy="9525"/>
          </a:xfrm>
          <a:prstGeom prst="rect">
            <a:avLst/>
          </a:prstGeom>
          <a:solidFill>
            <a:srgbClr val="E1E3F0"/>
          </a:solidFill>
          <a:ln/>
        </p:spPr>
      </p:sp>
      <p:sp>
        <p:nvSpPr>
          <p:cNvPr id="13" name="Text 11"/>
          <p:cNvSpPr/>
          <p:nvPr/>
        </p:nvSpPr>
        <p:spPr>
          <a:xfrm>
            <a:off x="1047750" y="5341620"/>
            <a:ext cx="4898231" cy="365760"/>
          </a:xfrm>
          <a:prstGeom prst="rect">
            <a:avLst/>
          </a:prstGeom>
          <a:noFill/>
          <a:ln/>
        </p:spPr>
        <p:txBody>
          <a:bodyPr wrap="square" lIns="25400" tIns="25400" rIns="25400" bIns="25400" rtlCol="0" anchor="t">
            <a:noAutofit/>
          </a:bodyPr>
          <a:lstStyle/>
          <a:p>
            <a:r>
              <a:rPr lang="en-US" sz="2800" b="1">
                <a:solidFill>
                  <a:srgbClr val="10101B"/>
                </a:solidFill>
                <a:ea typeface="+mn-lt"/>
                <a:cs typeface="+mn-lt"/>
              </a:rPr>
              <a:t>Nixon et al. (2019)</a:t>
            </a:r>
            <a:endParaRPr lang="en-US" sz="2800" b="1">
              <a:ea typeface="Calibri"/>
              <a:cs typeface="Calibri"/>
            </a:endParaRPr>
          </a:p>
        </p:txBody>
      </p:sp>
      <p:sp>
        <p:nvSpPr>
          <p:cNvPr id="14" name="Text 12"/>
          <p:cNvSpPr/>
          <p:nvPr/>
        </p:nvSpPr>
        <p:spPr>
          <a:xfrm>
            <a:off x="5500688" y="5341620"/>
            <a:ext cx="7124700" cy="365760"/>
          </a:xfrm>
          <a:prstGeom prst="rect">
            <a:avLst/>
          </a:prstGeom>
          <a:noFill/>
          <a:ln/>
        </p:spPr>
        <p:txBody>
          <a:bodyPr wrap="square" lIns="25400" tIns="25400" rIns="25400" bIns="25400" rtlCol="0" anchor="t">
            <a:noAutofit/>
          </a:bodyPr>
          <a:lstStyle/>
          <a:p>
            <a:r>
              <a:rPr lang="en-US" sz="2800">
                <a:solidFill>
                  <a:srgbClr val="10101B"/>
                </a:solidFill>
                <a:ea typeface="+mn-lt"/>
                <a:cs typeface="+mn-lt"/>
              </a:rPr>
              <a:t>Calibration metrics (ECE, ACE)</a:t>
            </a:r>
            <a:endParaRPr lang="en-US" sz="2800">
              <a:ea typeface="Calibri"/>
              <a:cs typeface="Calibri"/>
            </a:endParaRPr>
          </a:p>
        </p:txBody>
      </p:sp>
      <p:sp>
        <p:nvSpPr>
          <p:cNvPr id="15" name="Text 13"/>
          <p:cNvSpPr/>
          <p:nvPr/>
        </p:nvSpPr>
        <p:spPr>
          <a:xfrm>
            <a:off x="11977688" y="5341620"/>
            <a:ext cx="5788819" cy="365760"/>
          </a:xfrm>
          <a:prstGeom prst="rect">
            <a:avLst/>
          </a:prstGeom>
          <a:noFill/>
          <a:ln/>
        </p:spPr>
        <p:txBody>
          <a:bodyPr wrap="square" lIns="25400" tIns="25400" rIns="25400" bIns="25400" rtlCol="0" anchor="t">
            <a:noAutofit/>
          </a:bodyPr>
          <a:lstStyle/>
          <a:p>
            <a:r>
              <a:rPr lang="en-US" sz="2800">
                <a:solidFill>
                  <a:srgbClr val="4A4A5C"/>
                </a:solidFill>
                <a:ea typeface="+mn-lt"/>
                <a:cs typeface="+mn-lt"/>
              </a:rPr>
              <a:t>Metrics have limitations</a:t>
            </a:r>
            <a:endParaRPr lang="en-US" sz="2800">
              <a:ea typeface="Calibri"/>
              <a:cs typeface="Calibri"/>
            </a:endParaRPr>
          </a:p>
        </p:txBody>
      </p:sp>
      <p:sp>
        <p:nvSpPr>
          <p:cNvPr id="16" name="Shape 14"/>
          <p:cNvSpPr/>
          <p:nvPr/>
        </p:nvSpPr>
        <p:spPr>
          <a:xfrm>
            <a:off x="1047750" y="6747510"/>
            <a:ext cx="16192500" cy="9525"/>
          </a:xfrm>
          <a:prstGeom prst="rect">
            <a:avLst/>
          </a:prstGeom>
          <a:solidFill>
            <a:srgbClr val="E1E3F0"/>
          </a:solidFill>
          <a:ln/>
        </p:spPr>
      </p:sp>
      <p:sp>
        <p:nvSpPr>
          <p:cNvPr id="17" name="Text 15"/>
          <p:cNvSpPr/>
          <p:nvPr/>
        </p:nvSpPr>
        <p:spPr>
          <a:xfrm>
            <a:off x="1047750" y="6172200"/>
            <a:ext cx="4898231" cy="365760"/>
          </a:xfrm>
          <a:prstGeom prst="rect">
            <a:avLst/>
          </a:prstGeom>
          <a:noFill/>
          <a:ln/>
        </p:spPr>
        <p:txBody>
          <a:bodyPr wrap="square" lIns="25400" tIns="25400" rIns="25400" bIns="25400" rtlCol="0" anchor="t">
            <a:noAutofit/>
          </a:bodyPr>
          <a:lstStyle/>
          <a:p>
            <a:r>
              <a:rPr lang="en-US" sz="2800" b="1">
                <a:solidFill>
                  <a:srgbClr val="10101B"/>
                </a:solidFill>
                <a:ea typeface="+mn-lt"/>
                <a:cs typeface="+mn-lt"/>
              </a:rPr>
              <a:t>Kurz et al. (2022)</a:t>
            </a:r>
            <a:endParaRPr lang="en-US" sz="2800" b="1">
              <a:ea typeface="Calibri"/>
              <a:cs typeface="Calibri"/>
            </a:endParaRPr>
          </a:p>
        </p:txBody>
      </p:sp>
      <p:sp>
        <p:nvSpPr>
          <p:cNvPr id="18" name="Text 16"/>
          <p:cNvSpPr/>
          <p:nvPr/>
        </p:nvSpPr>
        <p:spPr>
          <a:xfrm>
            <a:off x="5500688" y="6172200"/>
            <a:ext cx="7124700" cy="365760"/>
          </a:xfrm>
          <a:prstGeom prst="rect">
            <a:avLst/>
          </a:prstGeom>
          <a:noFill/>
          <a:ln/>
        </p:spPr>
        <p:txBody>
          <a:bodyPr wrap="square" lIns="25400" tIns="25400" rIns="25400" bIns="25400" rtlCol="0" anchor="t">
            <a:noAutofit/>
          </a:bodyPr>
          <a:lstStyle/>
          <a:p>
            <a:r>
              <a:rPr lang="en-US" sz="2800">
                <a:solidFill>
                  <a:srgbClr val="10101B"/>
                </a:solidFill>
                <a:ea typeface="+mn-lt"/>
                <a:cs typeface="+mn-lt"/>
              </a:rPr>
              <a:t>Reviews medical AI uncertainty methods</a:t>
            </a:r>
            <a:endParaRPr lang="en-US" sz="2800">
              <a:ea typeface="Calibri"/>
              <a:cs typeface="Calibri"/>
            </a:endParaRPr>
          </a:p>
        </p:txBody>
      </p:sp>
      <p:sp>
        <p:nvSpPr>
          <p:cNvPr id="19" name="Text 17"/>
          <p:cNvSpPr/>
          <p:nvPr/>
        </p:nvSpPr>
        <p:spPr>
          <a:xfrm>
            <a:off x="11977688" y="6172200"/>
            <a:ext cx="5788819" cy="365760"/>
          </a:xfrm>
          <a:prstGeom prst="rect">
            <a:avLst/>
          </a:prstGeom>
          <a:noFill/>
          <a:ln/>
        </p:spPr>
        <p:txBody>
          <a:bodyPr wrap="square" lIns="25400" tIns="25400" rIns="25400" bIns="25400" rtlCol="0" anchor="t">
            <a:noAutofit/>
          </a:bodyPr>
          <a:lstStyle/>
          <a:p>
            <a:r>
              <a:rPr lang="en-US" sz="2800">
                <a:solidFill>
                  <a:srgbClr val="4A4A5C"/>
                </a:solidFill>
                <a:ea typeface="+mn-lt"/>
                <a:cs typeface="+mn-lt"/>
              </a:rPr>
              <a:t>Not focused on </a:t>
            </a:r>
            <a:r>
              <a:rPr lang="en-US" sz="2800" err="1">
                <a:solidFill>
                  <a:srgbClr val="4A4A5C"/>
                </a:solidFill>
                <a:ea typeface="+mn-lt"/>
                <a:cs typeface="+mn-lt"/>
              </a:rPr>
              <a:t>UniMod</a:t>
            </a:r>
            <a:r>
              <a:rPr lang="en-US" sz="2800">
                <a:solidFill>
                  <a:srgbClr val="4A4A5C"/>
                </a:solidFill>
                <a:ea typeface="+mn-lt"/>
                <a:cs typeface="+mn-lt"/>
              </a:rPr>
              <a:t> calibration</a:t>
            </a:r>
            <a:endParaRPr lang="en-US" sz="2800">
              <a:ea typeface="Calibri"/>
              <a:cs typeface="Calibri"/>
            </a:endParaRPr>
          </a:p>
        </p:txBody>
      </p:sp>
      <p:sp>
        <p:nvSpPr>
          <p:cNvPr id="20" name="Text 18"/>
          <p:cNvSpPr/>
          <p:nvPr/>
        </p:nvSpPr>
        <p:spPr>
          <a:xfrm>
            <a:off x="1047750" y="7002780"/>
            <a:ext cx="4898231" cy="365760"/>
          </a:xfrm>
          <a:prstGeom prst="rect">
            <a:avLst/>
          </a:prstGeom>
          <a:noFill/>
          <a:ln/>
        </p:spPr>
        <p:txBody>
          <a:bodyPr wrap="square" lIns="25400" tIns="25400" rIns="25400" bIns="25400" rtlCol="0" anchor="t">
            <a:noAutofit/>
          </a:bodyPr>
          <a:lstStyle/>
          <a:p>
            <a:r>
              <a:rPr lang="en-US" sz="2800" b="1">
                <a:solidFill>
                  <a:srgbClr val="10101B"/>
                </a:solidFill>
                <a:ea typeface="+mn-lt"/>
                <a:cs typeface="+mn-lt"/>
              </a:rPr>
              <a:t>Lambert et al. (2024)</a:t>
            </a:r>
            <a:endParaRPr lang="en-US" sz="2800" b="1">
              <a:ea typeface="Calibri"/>
              <a:cs typeface="Calibri"/>
            </a:endParaRPr>
          </a:p>
        </p:txBody>
      </p:sp>
      <p:sp>
        <p:nvSpPr>
          <p:cNvPr id="21" name="Text 19"/>
          <p:cNvSpPr/>
          <p:nvPr/>
        </p:nvSpPr>
        <p:spPr>
          <a:xfrm>
            <a:off x="5500688" y="7002780"/>
            <a:ext cx="7124700" cy="365760"/>
          </a:xfrm>
          <a:prstGeom prst="rect">
            <a:avLst/>
          </a:prstGeom>
          <a:noFill/>
          <a:ln/>
        </p:spPr>
        <p:txBody>
          <a:bodyPr wrap="square" lIns="25400" tIns="25400" rIns="25400" bIns="25400" rtlCol="0" anchor="t">
            <a:noAutofit/>
          </a:bodyPr>
          <a:lstStyle/>
          <a:p>
            <a:r>
              <a:rPr lang="en-US" sz="2800">
                <a:solidFill>
                  <a:srgbClr val="10101B"/>
                </a:solidFill>
                <a:ea typeface="+mn-lt"/>
                <a:cs typeface="+mn-lt"/>
              </a:rPr>
              <a:t>Reviews uncertainty in clinical AI</a:t>
            </a:r>
            <a:endParaRPr lang="en-US" sz="2800">
              <a:ea typeface="Calibri"/>
              <a:cs typeface="Calibri"/>
            </a:endParaRPr>
          </a:p>
        </p:txBody>
      </p:sp>
      <p:sp>
        <p:nvSpPr>
          <p:cNvPr id="22" name="Text 20"/>
          <p:cNvSpPr/>
          <p:nvPr/>
        </p:nvSpPr>
        <p:spPr>
          <a:xfrm>
            <a:off x="11977688" y="7018225"/>
            <a:ext cx="5479901" cy="350315"/>
          </a:xfrm>
          <a:prstGeom prst="rect">
            <a:avLst/>
          </a:prstGeom>
          <a:noFill/>
          <a:ln/>
        </p:spPr>
        <p:txBody>
          <a:bodyPr wrap="square" lIns="25400" tIns="25400" rIns="25400" bIns="25400" rtlCol="0" anchor="t">
            <a:noAutofit/>
          </a:bodyPr>
          <a:lstStyle/>
          <a:p>
            <a:r>
              <a:rPr lang="en-US" sz="2800" err="1">
                <a:solidFill>
                  <a:srgbClr val="4A4A5C"/>
                </a:solidFill>
                <a:ea typeface="+mn-lt"/>
                <a:cs typeface="+mn-lt"/>
              </a:rPr>
              <a:t>UniMod</a:t>
            </a:r>
            <a:r>
              <a:rPr lang="en-US" sz="2800">
                <a:solidFill>
                  <a:srgbClr val="4A4A5C"/>
                </a:solidFill>
                <a:ea typeface="+mn-lt"/>
                <a:cs typeface="+mn-lt"/>
              </a:rPr>
              <a:t> specific calibration remains to be evaluated</a:t>
            </a:r>
            <a:endParaRPr lang="en-US" sz="2800">
              <a:ea typeface="Calibri"/>
              <a:cs typeface="Calibri"/>
            </a:endParaRPr>
          </a:p>
        </p:txBody>
      </p:sp>
      <p:sp>
        <p:nvSpPr>
          <p:cNvPr id="23" name="Shape 21"/>
          <p:cNvSpPr/>
          <p:nvPr/>
        </p:nvSpPr>
        <p:spPr>
          <a:xfrm>
            <a:off x="1047750" y="9041130"/>
            <a:ext cx="16192500" cy="9525"/>
          </a:xfrm>
          <a:prstGeom prst="rect">
            <a:avLst/>
          </a:prstGeom>
          <a:solidFill>
            <a:srgbClr val="E1E3F0"/>
          </a:solidFill>
          <a:ln/>
        </p:spPr>
      </p:sp>
      <p:pic>
        <p:nvPicPr>
          <p:cNvPr id="24" name="Image 0" descr="preencoded.png"/>
          <p:cNvPicPr>
            <a:picLocks noChangeAspect="1"/>
          </p:cNvPicPr>
          <p:nvPr/>
        </p:nvPicPr>
        <p:blipFill>
          <a:blip r:embed="rId3"/>
          <a:stretch>
            <a:fillRect/>
          </a:stretch>
        </p:blipFill>
        <p:spPr>
          <a:xfrm>
            <a:off x="1047750" y="9315450"/>
            <a:ext cx="553283" cy="304800"/>
          </a:xfrm>
          <a:prstGeom prst="rect">
            <a:avLst/>
          </a:prstGeom>
        </p:spPr>
      </p:pic>
      <p:sp>
        <p:nvSpPr>
          <p:cNvPr id="25" name="Text 22"/>
          <p:cNvSpPr/>
          <p:nvPr/>
        </p:nvSpPr>
        <p:spPr>
          <a:xfrm>
            <a:off x="1734384" y="9345930"/>
            <a:ext cx="3907060" cy="281940"/>
          </a:xfrm>
          <a:prstGeom prst="rect">
            <a:avLst/>
          </a:prstGeom>
          <a:noFill/>
          <a:ln/>
        </p:spPr>
        <p:txBody>
          <a:bodyPr wrap="square" lIns="25400" tIns="25400" rIns="25400" bIns="25400" rtlCol="0" anchor="t">
            <a:normAutofit lnSpcReduction="10000"/>
          </a:bodyPr>
          <a:lstStyle/>
          <a:p>
            <a:pPr marL="0" indent="0" algn="l">
              <a:buNone/>
            </a:pPr>
            <a:r>
              <a:rPr lang="en-US" sz="1650">
                <a:solidFill>
                  <a:srgbClr val="4A4A5C"/>
                </a:solidFill>
                <a:latin typeface="Arial" pitchFamily="34" charset="0"/>
                <a:ea typeface="Arial" pitchFamily="34" charset="-122"/>
                <a:cs typeface="Arial" pitchFamily="34" charset="-120"/>
              </a:rPr>
              <a:t>Department of CSE · Uttara University</a:t>
            </a:r>
            <a:endParaRPr lang="en-US" sz="1650"/>
          </a:p>
        </p:txBody>
      </p:sp>
      <p:sp>
        <p:nvSpPr>
          <p:cNvPr id="26" name="Text 23"/>
          <p:cNvSpPr/>
          <p:nvPr/>
        </p:nvSpPr>
        <p:spPr>
          <a:xfrm>
            <a:off x="16599337" y="9345930"/>
            <a:ext cx="717113" cy="281940"/>
          </a:xfrm>
          <a:prstGeom prst="rect">
            <a:avLst/>
          </a:prstGeom>
          <a:noFill/>
          <a:ln/>
        </p:spPr>
        <p:txBody>
          <a:bodyPr wrap="square" lIns="25400" tIns="25400" rIns="25400" bIns="25400" rtlCol="0" anchor="t">
            <a:normAutofit lnSpcReduction="10000"/>
          </a:bodyPr>
          <a:lstStyle/>
          <a:p>
            <a:pPr marL="0" indent="0" algn="l">
              <a:buNone/>
            </a:pPr>
            <a:r>
              <a:rPr lang="en-US" sz="1650">
                <a:solidFill>
                  <a:srgbClr val="4A4A5C"/>
                </a:solidFill>
                <a:latin typeface="Arial" pitchFamily="34" charset="0"/>
                <a:ea typeface="Arial" pitchFamily="34" charset="-122"/>
                <a:cs typeface="Arial" pitchFamily="34" charset="-120"/>
              </a:rPr>
              <a:t>06 / 15</a:t>
            </a:r>
            <a:endParaRPr lang="en-US" sz="165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047750" y="857250"/>
            <a:ext cx="17811750" cy="312420"/>
          </a:xfrm>
          <a:prstGeom prst="rect">
            <a:avLst/>
          </a:prstGeom>
          <a:noFill/>
          <a:ln/>
        </p:spPr>
        <p:txBody>
          <a:bodyPr wrap="square" lIns="25400" tIns="25400" rIns="25400" bIns="25400" rtlCol="0" anchor="t">
            <a:normAutofit lnSpcReduction="10000"/>
          </a:bodyPr>
          <a:lstStyle/>
          <a:p>
            <a:pPr marL="0" indent="0" algn="l">
              <a:buNone/>
            </a:pPr>
            <a:r>
              <a:rPr lang="en-US" sz="1875" b="1" kern="0" spc="263">
                <a:solidFill>
                  <a:srgbClr val="1200FF"/>
                </a:solidFill>
                <a:latin typeface="Arial" pitchFamily="34" charset="0"/>
                <a:ea typeface="Arial" pitchFamily="34" charset="-122"/>
                <a:cs typeface="Arial" pitchFamily="34" charset="-120"/>
              </a:rPr>
              <a:t>05 — METHODOLOGY</a:t>
            </a:r>
            <a:endParaRPr lang="en-US" sz="1875"/>
          </a:p>
        </p:txBody>
      </p:sp>
      <p:sp>
        <p:nvSpPr>
          <p:cNvPr id="3" name="Text 1"/>
          <p:cNvSpPr/>
          <p:nvPr/>
        </p:nvSpPr>
        <p:spPr>
          <a:xfrm>
            <a:off x="1047750" y="1264920"/>
            <a:ext cx="17811750" cy="693420"/>
          </a:xfrm>
          <a:prstGeom prst="rect">
            <a:avLst/>
          </a:prstGeom>
          <a:noFill/>
          <a:ln/>
        </p:spPr>
        <p:txBody>
          <a:bodyPr wrap="square" lIns="25400" tIns="25400" rIns="25400" bIns="25400" rtlCol="0" anchor="t">
            <a:normAutofit lnSpcReduction="10000"/>
          </a:bodyPr>
          <a:lstStyle/>
          <a:p>
            <a:pPr marL="0" indent="0" algn="l">
              <a:buNone/>
            </a:pPr>
            <a:r>
              <a:rPr lang="en-US" sz="4500" b="1" kern="0" spc="-45">
                <a:solidFill>
                  <a:srgbClr val="10101B"/>
                </a:solidFill>
                <a:latin typeface="Arial" pitchFamily="34" charset="0"/>
                <a:ea typeface="Arial" pitchFamily="34" charset="-122"/>
                <a:cs typeface="Arial" pitchFamily="34" charset="-120"/>
              </a:rPr>
              <a:t>Research Methodology</a:t>
            </a:r>
            <a:endParaRPr lang="en-US" sz="4500"/>
          </a:p>
        </p:txBody>
      </p:sp>
      <p:sp>
        <p:nvSpPr>
          <p:cNvPr id="4" name="Shape 2"/>
          <p:cNvSpPr/>
          <p:nvPr/>
        </p:nvSpPr>
        <p:spPr>
          <a:xfrm>
            <a:off x="1047750" y="2574199"/>
            <a:ext cx="3619500" cy="2299607"/>
          </a:xfrm>
          <a:prstGeom prst="roundRect">
            <a:avLst>
              <a:gd name="adj" fmla="val 7500"/>
            </a:avLst>
          </a:prstGeom>
          <a:solidFill>
            <a:srgbClr val="F4F5FC"/>
          </a:solidFill>
          <a:ln w="7620">
            <a:solidFill>
              <a:srgbClr val="E1E3F0"/>
            </a:solidFill>
            <a:prstDash val="solid"/>
          </a:ln>
        </p:spPr>
      </p:sp>
      <p:sp>
        <p:nvSpPr>
          <p:cNvPr id="5" name="Shape 3"/>
          <p:cNvSpPr/>
          <p:nvPr/>
        </p:nvSpPr>
        <p:spPr>
          <a:xfrm>
            <a:off x="1303020" y="2911112"/>
            <a:ext cx="495300" cy="495300"/>
          </a:xfrm>
          <a:prstGeom prst="ellipse">
            <a:avLst/>
          </a:prstGeom>
          <a:solidFill>
            <a:srgbClr val="1200FF"/>
          </a:solidFill>
          <a:ln/>
        </p:spPr>
      </p:sp>
      <p:sp>
        <p:nvSpPr>
          <p:cNvPr id="6" name="Text 4"/>
          <p:cNvSpPr/>
          <p:nvPr/>
        </p:nvSpPr>
        <p:spPr>
          <a:xfrm>
            <a:off x="1264920" y="2911112"/>
            <a:ext cx="571500" cy="533400"/>
          </a:xfrm>
          <a:prstGeom prst="rect">
            <a:avLst/>
          </a:prstGeom>
          <a:noFill/>
          <a:ln/>
        </p:spPr>
        <p:txBody>
          <a:bodyPr wrap="square" lIns="25400" tIns="25400" rIns="25400" bIns="25400" rtlCol="0" anchor="ctr">
            <a:normAutofit/>
          </a:bodyPr>
          <a:lstStyle/>
          <a:p>
            <a:pPr marL="0" indent="0" algn="ctr">
              <a:buNone/>
            </a:pPr>
            <a:r>
              <a:rPr lang="en-US" sz="1950" b="1">
                <a:solidFill>
                  <a:srgbClr val="FFFFFF"/>
                </a:solidFill>
                <a:latin typeface="Arial" pitchFamily="34" charset="0"/>
                <a:ea typeface="Arial" pitchFamily="34" charset="-122"/>
                <a:cs typeface="Arial" pitchFamily="34" charset="-120"/>
              </a:rPr>
              <a:t>1</a:t>
            </a:r>
            <a:endParaRPr lang="en-US" sz="1950"/>
          </a:p>
        </p:txBody>
      </p:sp>
      <p:sp>
        <p:nvSpPr>
          <p:cNvPr id="7" name="Text 5"/>
          <p:cNvSpPr/>
          <p:nvPr/>
        </p:nvSpPr>
        <p:spPr>
          <a:xfrm>
            <a:off x="1303020" y="3539762"/>
            <a:ext cx="3419856" cy="312420"/>
          </a:xfrm>
          <a:prstGeom prst="rect">
            <a:avLst/>
          </a:prstGeom>
          <a:noFill/>
          <a:ln/>
        </p:spPr>
        <p:txBody>
          <a:bodyPr wrap="square" lIns="25400" tIns="25400" rIns="25400" bIns="25400" rtlCol="0" anchor="t">
            <a:normAutofit lnSpcReduction="10000"/>
          </a:bodyPr>
          <a:lstStyle/>
          <a:p>
            <a:r>
              <a:rPr lang="en-US" sz="1850" b="1">
                <a:solidFill>
                  <a:srgbClr val="10101B"/>
                </a:solidFill>
                <a:latin typeface="Arial"/>
                <a:ea typeface="+mn-lt"/>
                <a:cs typeface="Arial"/>
              </a:rPr>
              <a:t>Review </a:t>
            </a:r>
            <a:r>
              <a:rPr lang="en-US" sz="1850" b="1" err="1">
                <a:solidFill>
                  <a:srgbClr val="10101B"/>
                </a:solidFill>
                <a:latin typeface="Arial"/>
                <a:ea typeface="+mn-lt"/>
                <a:cs typeface="Arial"/>
              </a:rPr>
              <a:t>UniMod</a:t>
            </a:r>
            <a:endParaRPr lang="en-US" b="1">
              <a:latin typeface="Arial"/>
              <a:cs typeface="Arial"/>
            </a:endParaRPr>
          </a:p>
        </p:txBody>
      </p:sp>
      <p:sp>
        <p:nvSpPr>
          <p:cNvPr id="8" name="Text 6"/>
          <p:cNvSpPr/>
          <p:nvPr/>
        </p:nvSpPr>
        <p:spPr>
          <a:xfrm>
            <a:off x="1289413" y="3920218"/>
            <a:ext cx="3338214" cy="1039040"/>
          </a:xfrm>
          <a:prstGeom prst="rect">
            <a:avLst/>
          </a:prstGeom>
          <a:noFill/>
          <a:ln/>
        </p:spPr>
        <p:txBody>
          <a:bodyPr wrap="square" lIns="25400" tIns="25400" rIns="25400" bIns="25400" rtlCol="0" anchor="t">
            <a:normAutofit/>
          </a:bodyPr>
          <a:lstStyle/>
          <a:p>
            <a:pPr>
              <a:lnSpc>
                <a:spcPct val="120312"/>
              </a:lnSpc>
            </a:pPr>
            <a:r>
              <a:rPr lang="en-US" sz="1650">
                <a:solidFill>
                  <a:srgbClr val="4A4A5C"/>
                </a:solidFill>
                <a:latin typeface="Arial"/>
                <a:ea typeface="+mn-lt"/>
                <a:cs typeface="Arial"/>
              </a:rPr>
              <a:t>Confirm the model architecture, available codebase, and supported diagnostic tasks.</a:t>
            </a:r>
            <a:endParaRPr lang="en-US">
              <a:latin typeface="Arial"/>
              <a:cs typeface="Arial"/>
            </a:endParaRPr>
          </a:p>
        </p:txBody>
      </p:sp>
      <p:sp>
        <p:nvSpPr>
          <p:cNvPr id="9" name="Text 7"/>
          <p:cNvSpPr/>
          <p:nvPr/>
        </p:nvSpPr>
        <p:spPr>
          <a:xfrm>
            <a:off x="4629150" y="3520712"/>
            <a:ext cx="647700" cy="403860"/>
          </a:xfrm>
          <a:prstGeom prst="rect">
            <a:avLst/>
          </a:prstGeom>
          <a:noFill/>
          <a:ln/>
        </p:spPr>
        <p:txBody>
          <a:bodyPr wrap="square" lIns="25400" tIns="25400" rIns="25400" bIns="25400" rtlCol="0" anchor="t">
            <a:normAutofit lnSpcReduction="10000"/>
          </a:bodyPr>
          <a:lstStyle/>
          <a:p>
            <a:pPr marL="0" indent="0" algn="ctr">
              <a:buNone/>
            </a:pPr>
            <a:r>
              <a:rPr lang="en-US" sz="2550">
                <a:solidFill>
                  <a:srgbClr val="1200FF"/>
                </a:solidFill>
                <a:latin typeface="Arial" pitchFamily="34" charset="0"/>
                <a:ea typeface="Arial" pitchFamily="34" charset="-122"/>
                <a:cs typeface="Arial" pitchFamily="34" charset="-120"/>
              </a:rPr>
              <a:t>→</a:t>
            </a:r>
            <a:endParaRPr lang="en-US" sz="2550"/>
          </a:p>
        </p:txBody>
      </p:sp>
      <p:sp>
        <p:nvSpPr>
          <p:cNvPr id="10" name="Shape 8"/>
          <p:cNvSpPr/>
          <p:nvPr/>
        </p:nvSpPr>
        <p:spPr>
          <a:xfrm>
            <a:off x="5279571" y="2574199"/>
            <a:ext cx="3537858" cy="2313214"/>
          </a:xfrm>
          <a:prstGeom prst="roundRect">
            <a:avLst>
              <a:gd name="adj" fmla="val 7500"/>
            </a:avLst>
          </a:prstGeom>
          <a:solidFill>
            <a:srgbClr val="F4F5FC"/>
          </a:solidFill>
          <a:ln w="7620">
            <a:solidFill>
              <a:srgbClr val="E1E3F0"/>
            </a:solidFill>
            <a:prstDash val="solid"/>
          </a:ln>
        </p:spPr>
      </p:sp>
      <p:sp>
        <p:nvSpPr>
          <p:cNvPr id="11" name="Shape 9"/>
          <p:cNvSpPr/>
          <p:nvPr/>
        </p:nvSpPr>
        <p:spPr>
          <a:xfrm>
            <a:off x="5494020" y="2911112"/>
            <a:ext cx="495300" cy="495300"/>
          </a:xfrm>
          <a:prstGeom prst="ellipse">
            <a:avLst/>
          </a:prstGeom>
          <a:solidFill>
            <a:srgbClr val="1200FF"/>
          </a:solidFill>
          <a:ln/>
        </p:spPr>
      </p:sp>
      <p:sp>
        <p:nvSpPr>
          <p:cNvPr id="12" name="Text 10"/>
          <p:cNvSpPr/>
          <p:nvPr/>
        </p:nvSpPr>
        <p:spPr>
          <a:xfrm>
            <a:off x="5455920" y="2911112"/>
            <a:ext cx="571500" cy="533400"/>
          </a:xfrm>
          <a:prstGeom prst="rect">
            <a:avLst/>
          </a:prstGeom>
          <a:noFill/>
          <a:ln/>
        </p:spPr>
        <p:txBody>
          <a:bodyPr wrap="square" lIns="25400" tIns="25400" rIns="25400" bIns="25400" rtlCol="0" anchor="ctr">
            <a:normAutofit/>
          </a:bodyPr>
          <a:lstStyle/>
          <a:p>
            <a:pPr marL="0" indent="0" algn="ctr">
              <a:buNone/>
            </a:pPr>
            <a:r>
              <a:rPr lang="en-US" sz="1950" b="1">
                <a:solidFill>
                  <a:srgbClr val="FFFFFF"/>
                </a:solidFill>
                <a:latin typeface="Arial" pitchFamily="34" charset="0"/>
                <a:ea typeface="Arial" pitchFamily="34" charset="-122"/>
                <a:cs typeface="Arial" pitchFamily="34" charset="-120"/>
              </a:rPr>
              <a:t>2</a:t>
            </a:r>
            <a:endParaRPr lang="en-US" sz="1950"/>
          </a:p>
        </p:txBody>
      </p:sp>
      <p:sp>
        <p:nvSpPr>
          <p:cNvPr id="13" name="Text 11"/>
          <p:cNvSpPr/>
          <p:nvPr/>
        </p:nvSpPr>
        <p:spPr>
          <a:xfrm>
            <a:off x="5494020" y="3539762"/>
            <a:ext cx="3419856" cy="312420"/>
          </a:xfrm>
          <a:prstGeom prst="rect">
            <a:avLst/>
          </a:prstGeom>
          <a:noFill/>
          <a:ln/>
        </p:spPr>
        <p:txBody>
          <a:bodyPr wrap="square" lIns="25400" tIns="25400" rIns="25400" bIns="25400" rtlCol="0" anchor="t">
            <a:normAutofit lnSpcReduction="10000"/>
          </a:bodyPr>
          <a:lstStyle/>
          <a:p>
            <a:r>
              <a:rPr lang="en-US" sz="1850" b="1">
                <a:solidFill>
                  <a:srgbClr val="10101B"/>
                </a:solidFill>
                <a:latin typeface="Arial"/>
                <a:ea typeface="+mn-lt"/>
                <a:cs typeface="Arial"/>
              </a:rPr>
              <a:t>Select and Prepare Data</a:t>
            </a:r>
            <a:endParaRPr lang="en-US" b="1">
              <a:latin typeface="Arial"/>
              <a:cs typeface="Arial"/>
            </a:endParaRPr>
          </a:p>
        </p:txBody>
      </p:sp>
      <p:sp>
        <p:nvSpPr>
          <p:cNvPr id="14" name="Text 12"/>
          <p:cNvSpPr/>
          <p:nvPr/>
        </p:nvSpPr>
        <p:spPr>
          <a:xfrm>
            <a:off x="5453199" y="3920218"/>
            <a:ext cx="3242964" cy="971005"/>
          </a:xfrm>
          <a:prstGeom prst="rect">
            <a:avLst/>
          </a:prstGeom>
          <a:noFill/>
          <a:ln/>
        </p:spPr>
        <p:txBody>
          <a:bodyPr wrap="square" lIns="25400" tIns="25400" rIns="25400" bIns="25400" rtlCol="0" anchor="t">
            <a:normAutofit/>
          </a:bodyPr>
          <a:lstStyle/>
          <a:p>
            <a:pPr>
              <a:lnSpc>
                <a:spcPct val="120312"/>
              </a:lnSpc>
            </a:pPr>
            <a:r>
              <a:rPr lang="en-US" sz="1650">
                <a:solidFill>
                  <a:srgbClr val="4A4A5C"/>
                </a:solidFill>
                <a:latin typeface="Arial"/>
                <a:ea typeface="+mn-lt"/>
                <a:cs typeface="Arial"/>
              </a:rPr>
              <a:t>Inspect modalities, labels, permissions and data splits</a:t>
            </a:r>
          </a:p>
        </p:txBody>
      </p:sp>
      <p:sp>
        <p:nvSpPr>
          <p:cNvPr id="15" name="Text 13"/>
          <p:cNvSpPr/>
          <p:nvPr/>
        </p:nvSpPr>
        <p:spPr>
          <a:xfrm>
            <a:off x="8820150" y="3520712"/>
            <a:ext cx="647700" cy="403860"/>
          </a:xfrm>
          <a:prstGeom prst="rect">
            <a:avLst/>
          </a:prstGeom>
          <a:noFill/>
          <a:ln/>
        </p:spPr>
        <p:txBody>
          <a:bodyPr wrap="square" lIns="25400" tIns="25400" rIns="25400" bIns="25400" rtlCol="0" anchor="t">
            <a:normAutofit lnSpcReduction="10000"/>
          </a:bodyPr>
          <a:lstStyle/>
          <a:p>
            <a:pPr marL="0" indent="0" algn="ctr">
              <a:buNone/>
            </a:pPr>
            <a:r>
              <a:rPr lang="en-US" sz="2550">
                <a:solidFill>
                  <a:srgbClr val="1200FF"/>
                </a:solidFill>
                <a:latin typeface="Arial" pitchFamily="34" charset="0"/>
                <a:ea typeface="Arial" pitchFamily="34" charset="-122"/>
                <a:cs typeface="Arial" pitchFamily="34" charset="-120"/>
              </a:rPr>
              <a:t>→</a:t>
            </a:r>
            <a:endParaRPr lang="en-US" sz="2550"/>
          </a:p>
        </p:txBody>
      </p:sp>
      <p:sp>
        <p:nvSpPr>
          <p:cNvPr id="16" name="Shape 14"/>
          <p:cNvSpPr/>
          <p:nvPr/>
        </p:nvSpPr>
        <p:spPr>
          <a:xfrm>
            <a:off x="9470571" y="2574199"/>
            <a:ext cx="3537858" cy="2313214"/>
          </a:xfrm>
          <a:prstGeom prst="roundRect">
            <a:avLst>
              <a:gd name="adj" fmla="val 7500"/>
            </a:avLst>
          </a:prstGeom>
          <a:solidFill>
            <a:srgbClr val="F4F5FC"/>
          </a:solidFill>
          <a:ln w="7620">
            <a:solidFill>
              <a:srgbClr val="E1E3F0"/>
            </a:solidFill>
            <a:prstDash val="solid"/>
          </a:ln>
        </p:spPr>
      </p:sp>
      <p:sp>
        <p:nvSpPr>
          <p:cNvPr id="17" name="Shape 15"/>
          <p:cNvSpPr/>
          <p:nvPr/>
        </p:nvSpPr>
        <p:spPr>
          <a:xfrm>
            <a:off x="9685020" y="2911112"/>
            <a:ext cx="495300" cy="495300"/>
          </a:xfrm>
          <a:prstGeom prst="ellipse">
            <a:avLst/>
          </a:prstGeom>
          <a:solidFill>
            <a:srgbClr val="1200FF"/>
          </a:solidFill>
          <a:ln/>
        </p:spPr>
      </p:sp>
      <p:sp>
        <p:nvSpPr>
          <p:cNvPr id="18" name="Text 16"/>
          <p:cNvSpPr/>
          <p:nvPr/>
        </p:nvSpPr>
        <p:spPr>
          <a:xfrm>
            <a:off x="9646920" y="2911112"/>
            <a:ext cx="571500" cy="533400"/>
          </a:xfrm>
          <a:prstGeom prst="rect">
            <a:avLst/>
          </a:prstGeom>
          <a:noFill/>
          <a:ln/>
        </p:spPr>
        <p:txBody>
          <a:bodyPr wrap="square" lIns="25400" tIns="25400" rIns="25400" bIns="25400" rtlCol="0" anchor="ctr">
            <a:normAutofit/>
          </a:bodyPr>
          <a:lstStyle/>
          <a:p>
            <a:pPr marL="0" indent="0" algn="ctr">
              <a:buNone/>
            </a:pPr>
            <a:r>
              <a:rPr lang="en-US" sz="1950" b="1">
                <a:solidFill>
                  <a:srgbClr val="FFFFFF"/>
                </a:solidFill>
                <a:latin typeface="Arial" pitchFamily="34" charset="0"/>
                <a:ea typeface="Arial" pitchFamily="34" charset="-122"/>
                <a:cs typeface="Arial" pitchFamily="34" charset="-120"/>
              </a:rPr>
              <a:t>3</a:t>
            </a:r>
            <a:endParaRPr lang="en-US" sz="1950"/>
          </a:p>
        </p:txBody>
      </p:sp>
      <p:sp>
        <p:nvSpPr>
          <p:cNvPr id="19" name="Text 17"/>
          <p:cNvSpPr/>
          <p:nvPr/>
        </p:nvSpPr>
        <p:spPr>
          <a:xfrm>
            <a:off x="9685020" y="3539762"/>
            <a:ext cx="3419856" cy="312420"/>
          </a:xfrm>
          <a:prstGeom prst="rect">
            <a:avLst/>
          </a:prstGeom>
          <a:noFill/>
          <a:ln/>
        </p:spPr>
        <p:txBody>
          <a:bodyPr wrap="square" lIns="25400" tIns="25400" rIns="25400" bIns="25400" rtlCol="0" anchor="t">
            <a:normAutofit lnSpcReduction="10000"/>
          </a:bodyPr>
          <a:lstStyle/>
          <a:p>
            <a:r>
              <a:rPr lang="en-US" sz="1850" b="1">
                <a:solidFill>
                  <a:srgbClr val="10101B"/>
                </a:solidFill>
                <a:latin typeface="Arial"/>
                <a:cs typeface="Arial"/>
              </a:rPr>
              <a:t>Evaluate Baseline</a:t>
            </a:r>
            <a:endParaRPr lang="en-US"/>
          </a:p>
        </p:txBody>
      </p:sp>
      <p:sp>
        <p:nvSpPr>
          <p:cNvPr id="20" name="Text 18"/>
          <p:cNvSpPr/>
          <p:nvPr/>
        </p:nvSpPr>
        <p:spPr>
          <a:xfrm>
            <a:off x="9644199" y="3920218"/>
            <a:ext cx="3379035" cy="943791"/>
          </a:xfrm>
          <a:prstGeom prst="rect">
            <a:avLst/>
          </a:prstGeom>
          <a:noFill/>
          <a:ln/>
        </p:spPr>
        <p:txBody>
          <a:bodyPr wrap="square" lIns="25400" tIns="25400" rIns="25400" bIns="25400" rtlCol="0" anchor="t">
            <a:normAutofit/>
          </a:bodyPr>
          <a:lstStyle/>
          <a:p>
            <a:pPr>
              <a:lnSpc>
                <a:spcPct val="120312"/>
              </a:lnSpc>
            </a:pPr>
            <a:r>
              <a:rPr lang="en-US" sz="1650">
                <a:solidFill>
                  <a:srgbClr val="4A4A5C"/>
                </a:solidFill>
                <a:latin typeface="Arial"/>
                <a:ea typeface="+mn-lt"/>
                <a:cs typeface="Arial"/>
              </a:rPr>
              <a:t>Save logits or probabilities, predicted classes and labels.</a:t>
            </a:r>
            <a:endParaRPr lang="en-US">
              <a:latin typeface="Arial"/>
              <a:cs typeface="Arial"/>
            </a:endParaRPr>
          </a:p>
        </p:txBody>
      </p:sp>
      <p:sp>
        <p:nvSpPr>
          <p:cNvPr id="21" name="Text 19"/>
          <p:cNvSpPr/>
          <p:nvPr/>
        </p:nvSpPr>
        <p:spPr>
          <a:xfrm>
            <a:off x="13011150" y="3520712"/>
            <a:ext cx="647700" cy="403860"/>
          </a:xfrm>
          <a:prstGeom prst="rect">
            <a:avLst/>
          </a:prstGeom>
          <a:noFill/>
          <a:ln/>
        </p:spPr>
        <p:txBody>
          <a:bodyPr wrap="square" lIns="25400" tIns="25400" rIns="25400" bIns="25400" rtlCol="0" anchor="t">
            <a:normAutofit lnSpcReduction="10000"/>
          </a:bodyPr>
          <a:lstStyle/>
          <a:p>
            <a:pPr marL="0" indent="0" algn="ctr">
              <a:buNone/>
            </a:pPr>
            <a:r>
              <a:rPr lang="en-US" sz="2550">
                <a:solidFill>
                  <a:srgbClr val="1200FF"/>
                </a:solidFill>
                <a:latin typeface="Arial" pitchFamily="34" charset="0"/>
                <a:ea typeface="Arial" pitchFamily="34" charset="-122"/>
                <a:cs typeface="Arial" pitchFamily="34" charset="-120"/>
              </a:rPr>
              <a:t>→</a:t>
            </a:r>
            <a:endParaRPr lang="en-US" sz="2550"/>
          </a:p>
        </p:txBody>
      </p:sp>
      <p:sp>
        <p:nvSpPr>
          <p:cNvPr id="22" name="Shape 20"/>
          <p:cNvSpPr/>
          <p:nvPr/>
        </p:nvSpPr>
        <p:spPr>
          <a:xfrm>
            <a:off x="13661571" y="2574199"/>
            <a:ext cx="3619500" cy="2313214"/>
          </a:xfrm>
          <a:prstGeom prst="roundRect">
            <a:avLst>
              <a:gd name="adj" fmla="val 7500"/>
            </a:avLst>
          </a:prstGeom>
          <a:solidFill>
            <a:srgbClr val="F4F5FC"/>
          </a:solidFill>
          <a:ln w="7620">
            <a:solidFill>
              <a:srgbClr val="E1E3F0"/>
            </a:solidFill>
            <a:prstDash val="solid"/>
          </a:ln>
        </p:spPr>
      </p:sp>
      <p:sp>
        <p:nvSpPr>
          <p:cNvPr id="23" name="Shape 21"/>
          <p:cNvSpPr/>
          <p:nvPr/>
        </p:nvSpPr>
        <p:spPr>
          <a:xfrm>
            <a:off x="13876020" y="2911112"/>
            <a:ext cx="495300" cy="495300"/>
          </a:xfrm>
          <a:prstGeom prst="ellipse">
            <a:avLst/>
          </a:prstGeom>
          <a:solidFill>
            <a:srgbClr val="1200FF"/>
          </a:solidFill>
          <a:ln/>
        </p:spPr>
      </p:sp>
      <p:sp>
        <p:nvSpPr>
          <p:cNvPr id="24" name="Text 22"/>
          <p:cNvSpPr/>
          <p:nvPr/>
        </p:nvSpPr>
        <p:spPr>
          <a:xfrm>
            <a:off x="13837920" y="2911112"/>
            <a:ext cx="571500" cy="533400"/>
          </a:xfrm>
          <a:prstGeom prst="rect">
            <a:avLst/>
          </a:prstGeom>
          <a:noFill/>
          <a:ln/>
        </p:spPr>
        <p:txBody>
          <a:bodyPr wrap="square" lIns="25400" tIns="25400" rIns="25400" bIns="25400" rtlCol="0" anchor="ctr">
            <a:normAutofit/>
          </a:bodyPr>
          <a:lstStyle/>
          <a:p>
            <a:pPr marL="0" indent="0" algn="ctr">
              <a:buNone/>
            </a:pPr>
            <a:r>
              <a:rPr lang="en-US" sz="1950" b="1">
                <a:solidFill>
                  <a:srgbClr val="FFFFFF"/>
                </a:solidFill>
                <a:latin typeface="Arial" pitchFamily="34" charset="0"/>
                <a:ea typeface="Arial" pitchFamily="34" charset="-122"/>
                <a:cs typeface="Arial" pitchFamily="34" charset="-120"/>
              </a:rPr>
              <a:t>4</a:t>
            </a:r>
            <a:endParaRPr lang="en-US" sz="1950"/>
          </a:p>
        </p:txBody>
      </p:sp>
      <p:sp>
        <p:nvSpPr>
          <p:cNvPr id="25" name="Text 23"/>
          <p:cNvSpPr/>
          <p:nvPr/>
        </p:nvSpPr>
        <p:spPr>
          <a:xfrm>
            <a:off x="13876020" y="3539762"/>
            <a:ext cx="3419856" cy="312420"/>
          </a:xfrm>
          <a:prstGeom prst="rect">
            <a:avLst/>
          </a:prstGeom>
          <a:noFill/>
          <a:ln/>
        </p:spPr>
        <p:txBody>
          <a:bodyPr wrap="square" lIns="25400" tIns="25400" rIns="25400" bIns="25400" rtlCol="0" anchor="t">
            <a:normAutofit lnSpcReduction="10000"/>
          </a:bodyPr>
          <a:lstStyle/>
          <a:p>
            <a:r>
              <a:rPr lang="en-US" sz="1850" b="1">
                <a:solidFill>
                  <a:srgbClr val="10101B"/>
                </a:solidFill>
                <a:latin typeface="Arial"/>
                <a:ea typeface="+mn-lt"/>
                <a:cs typeface="Arial"/>
              </a:rPr>
              <a:t>Fit Temperature Scaling</a:t>
            </a:r>
            <a:endParaRPr lang="en-US" b="1">
              <a:latin typeface="Arial"/>
              <a:cs typeface="Arial"/>
            </a:endParaRPr>
          </a:p>
        </p:txBody>
      </p:sp>
      <p:sp>
        <p:nvSpPr>
          <p:cNvPr id="26" name="Text 24"/>
          <p:cNvSpPr/>
          <p:nvPr/>
        </p:nvSpPr>
        <p:spPr>
          <a:xfrm>
            <a:off x="13835199" y="3920218"/>
            <a:ext cx="3447070" cy="943791"/>
          </a:xfrm>
          <a:prstGeom prst="rect">
            <a:avLst/>
          </a:prstGeom>
          <a:noFill/>
          <a:ln/>
        </p:spPr>
        <p:txBody>
          <a:bodyPr wrap="square" lIns="25400" tIns="25400" rIns="25400" bIns="25400" rtlCol="0" anchor="t">
            <a:normAutofit/>
          </a:bodyPr>
          <a:lstStyle/>
          <a:p>
            <a:pPr>
              <a:lnSpc>
                <a:spcPct val="120312"/>
              </a:lnSpc>
            </a:pPr>
            <a:r>
              <a:rPr lang="en-US" sz="1650">
                <a:solidFill>
                  <a:srgbClr val="4A4A5C"/>
                </a:solidFill>
                <a:latin typeface="Arial"/>
                <a:ea typeface="+mn-lt"/>
                <a:cs typeface="Arial"/>
              </a:rPr>
              <a:t>Optimize the temperature using validation data.</a:t>
            </a:r>
            <a:endParaRPr lang="en-US">
              <a:latin typeface="Arial"/>
              <a:cs typeface="Arial"/>
            </a:endParaRPr>
          </a:p>
        </p:txBody>
      </p:sp>
      <p:sp>
        <p:nvSpPr>
          <p:cNvPr id="27" name="Shape 25"/>
          <p:cNvSpPr/>
          <p:nvPr/>
        </p:nvSpPr>
        <p:spPr>
          <a:xfrm>
            <a:off x="1047750" y="9041130"/>
            <a:ext cx="16192500" cy="9525"/>
          </a:xfrm>
          <a:prstGeom prst="rect">
            <a:avLst/>
          </a:prstGeom>
          <a:solidFill>
            <a:srgbClr val="E1E3F0"/>
          </a:solidFill>
          <a:ln/>
        </p:spPr>
      </p:sp>
      <p:pic>
        <p:nvPicPr>
          <p:cNvPr id="28" name="Image 0" descr="preencoded.png"/>
          <p:cNvPicPr>
            <a:picLocks noChangeAspect="1"/>
          </p:cNvPicPr>
          <p:nvPr/>
        </p:nvPicPr>
        <p:blipFill>
          <a:blip r:embed="rId3"/>
          <a:stretch>
            <a:fillRect/>
          </a:stretch>
        </p:blipFill>
        <p:spPr>
          <a:xfrm>
            <a:off x="1047750" y="9315450"/>
            <a:ext cx="553283" cy="304800"/>
          </a:xfrm>
          <a:prstGeom prst="rect">
            <a:avLst/>
          </a:prstGeom>
        </p:spPr>
      </p:pic>
      <p:sp>
        <p:nvSpPr>
          <p:cNvPr id="29" name="Text 26"/>
          <p:cNvSpPr/>
          <p:nvPr/>
        </p:nvSpPr>
        <p:spPr>
          <a:xfrm>
            <a:off x="1734384" y="9345930"/>
            <a:ext cx="3907060" cy="281940"/>
          </a:xfrm>
          <a:prstGeom prst="rect">
            <a:avLst/>
          </a:prstGeom>
          <a:noFill/>
          <a:ln/>
        </p:spPr>
        <p:txBody>
          <a:bodyPr wrap="square" lIns="25400" tIns="25400" rIns="25400" bIns="25400" rtlCol="0" anchor="t">
            <a:normAutofit lnSpcReduction="10000"/>
          </a:bodyPr>
          <a:lstStyle/>
          <a:p>
            <a:pPr marL="0" indent="0" algn="l">
              <a:buNone/>
            </a:pPr>
            <a:r>
              <a:rPr lang="en-US" sz="1650">
                <a:solidFill>
                  <a:srgbClr val="4A4A5C"/>
                </a:solidFill>
                <a:latin typeface="Arial" pitchFamily="34" charset="0"/>
                <a:ea typeface="Arial" pitchFamily="34" charset="-122"/>
                <a:cs typeface="Arial" pitchFamily="34" charset="-120"/>
              </a:rPr>
              <a:t>Department of CSE · Uttara University</a:t>
            </a:r>
            <a:endParaRPr lang="en-US" sz="1650"/>
          </a:p>
        </p:txBody>
      </p:sp>
      <p:sp>
        <p:nvSpPr>
          <p:cNvPr id="30" name="Text 27"/>
          <p:cNvSpPr/>
          <p:nvPr/>
        </p:nvSpPr>
        <p:spPr>
          <a:xfrm>
            <a:off x="16599337" y="9345930"/>
            <a:ext cx="717113" cy="281940"/>
          </a:xfrm>
          <a:prstGeom prst="rect">
            <a:avLst/>
          </a:prstGeom>
          <a:noFill/>
          <a:ln/>
        </p:spPr>
        <p:txBody>
          <a:bodyPr wrap="square" lIns="25400" tIns="25400" rIns="25400" bIns="25400" rtlCol="0" anchor="t">
            <a:normAutofit lnSpcReduction="10000"/>
          </a:bodyPr>
          <a:lstStyle/>
          <a:p>
            <a:pPr marL="0" indent="0" algn="l">
              <a:buNone/>
            </a:pPr>
            <a:r>
              <a:rPr lang="en-US" sz="1650">
                <a:solidFill>
                  <a:srgbClr val="4A4A5C"/>
                </a:solidFill>
                <a:latin typeface="Arial" pitchFamily="34" charset="0"/>
                <a:ea typeface="Arial" pitchFamily="34" charset="-122"/>
                <a:cs typeface="Arial" pitchFamily="34" charset="-120"/>
              </a:rPr>
              <a:t>07 / 15</a:t>
            </a:r>
            <a:endParaRPr lang="en-US" sz="1650"/>
          </a:p>
        </p:txBody>
      </p:sp>
      <p:sp>
        <p:nvSpPr>
          <p:cNvPr id="31" name="Text 13">
            <a:extLst>
              <a:ext uri="{FF2B5EF4-FFF2-40B4-BE49-F238E27FC236}">
                <a16:creationId xmlns:a16="http://schemas.microsoft.com/office/drawing/2014/main" id="{3426E020-0780-F478-AAFE-7462472D3D7D}"/>
              </a:ext>
            </a:extLst>
          </p:cNvPr>
          <p:cNvSpPr/>
          <p:nvPr/>
        </p:nvSpPr>
        <p:spPr>
          <a:xfrm rot="5400000">
            <a:off x="15229114" y="5139961"/>
            <a:ext cx="647700" cy="403860"/>
          </a:xfrm>
          <a:prstGeom prst="rect">
            <a:avLst/>
          </a:prstGeom>
          <a:noFill/>
          <a:ln/>
        </p:spPr>
        <p:txBody>
          <a:bodyPr wrap="square" lIns="25400" tIns="25400" rIns="25400" bIns="25400" rtlCol="0" anchor="t">
            <a:normAutofit lnSpcReduction="10000"/>
          </a:bodyPr>
          <a:lstStyle/>
          <a:p>
            <a:pPr marL="0" indent="0" algn="ctr">
              <a:buNone/>
            </a:pPr>
            <a:r>
              <a:rPr lang="en-US" sz="2550">
                <a:solidFill>
                  <a:srgbClr val="1200FF"/>
                </a:solidFill>
                <a:latin typeface="Arial" pitchFamily="34" charset="0"/>
                <a:ea typeface="Arial" pitchFamily="34" charset="-122"/>
                <a:cs typeface="Arial" pitchFamily="34" charset="-120"/>
              </a:rPr>
              <a:t>→</a:t>
            </a:r>
            <a:endParaRPr lang="en-US" sz="2550"/>
          </a:p>
        </p:txBody>
      </p:sp>
      <p:sp>
        <p:nvSpPr>
          <p:cNvPr id="32" name="Shape 14">
            <a:extLst>
              <a:ext uri="{FF2B5EF4-FFF2-40B4-BE49-F238E27FC236}">
                <a16:creationId xmlns:a16="http://schemas.microsoft.com/office/drawing/2014/main" id="{DD439B04-2B42-305F-0786-3305D8AF489E}"/>
              </a:ext>
            </a:extLst>
          </p:cNvPr>
          <p:cNvSpPr/>
          <p:nvPr/>
        </p:nvSpPr>
        <p:spPr>
          <a:xfrm>
            <a:off x="9497785" y="5989591"/>
            <a:ext cx="3537858" cy="2313214"/>
          </a:xfrm>
          <a:prstGeom prst="roundRect">
            <a:avLst>
              <a:gd name="adj" fmla="val 7500"/>
            </a:avLst>
          </a:prstGeom>
          <a:solidFill>
            <a:srgbClr val="F4F5FC"/>
          </a:solidFill>
          <a:ln w="7620">
            <a:solidFill>
              <a:srgbClr val="E1E3F0"/>
            </a:solidFill>
            <a:prstDash val="solid"/>
          </a:ln>
        </p:spPr>
      </p:sp>
      <p:sp>
        <p:nvSpPr>
          <p:cNvPr id="33" name="Shape 15">
            <a:extLst>
              <a:ext uri="{FF2B5EF4-FFF2-40B4-BE49-F238E27FC236}">
                <a16:creationId xmlns:a16="http://schemas.microsoft.com/office/drawing/2014/main" id="{12ABAD8A-C12A-AAEB-3BF4-169430F46563}"/>
              </a:ext>
            </a:extLst>
          </p:cNvPr>
          <p:cNvSpPr/>
          <p:nvPr/>
        </p:nvSpPr>
        <p:spPr>
          <a:xfrm>
            <a:off x="9712234" y="6326504"/>
            <a:ext cx="495300" cy="495300"/>
          </a:xfrm>
          <a:prstGeom prst="ellipse">
            <a:avLst/>
          </a:prstGeom>
          <a:solidFill>
            <a:srgbClr val="1200FF"/>
          </a:solidFill>
          <a:ln/>
        </p:spPr>
      </p:sp>
      <p:sp>
        <p:nvSpPr>
          <p:cNvPr id="34" name="Text 16">
            <a:extLst>
              <a:ext uri="{FF2B5EF4-FFF2-40B4-BE49-F238E27FC236}">
                <a16:creationId xmlns:a16="http://schemas.microsoft.com/office/drawing/2014/main" id="{C129B578-3985-B5FC-D871-49DD32BD589C}"/>
              </a:ext>
            </a:extLst>
          </p:cNvPr>
          <p:cNvSpPr/>
          <p:nvPr/>
        </p:nvSpPr>
        <p:spPr>
          <a:xfrm>
            <a:off x="9674134" y="6326504"/>
            <a:ext cx="571500" cy="533400"/>
          </a:xfrm>
          <a:prstGeom prst="rect">
            <a:avLst/>
          </a:prstGeom>
          <a:noFill/>
          <a:ln/>
        </p:spPr>
        <p:txBody>
          <a:bodyPr wrap="square" lIns="25400" tIns="25400" rIns="25400" bIns="25400" rtlCol="0" anchor="ctr">
            <a:normAutofit/>
          </a:bodyPr>
          <a:lstStyle/>
          <a:p>
            <a:pPr marL="0" indent="0" algn="ctr">
              <a:buNone/>
            </a:pPr>
            <a:r>
              <a:rPr lang="en-US" sz="1950" b="1">
                <a:solidFill>
                  <a:srgbClr val="FFFFFF"/>
                </a:solidFill>
                <a:latin typeface="Arial"/>
                <a:cs typeface="Arial"/>
              </a:rPr>
              <a:t>6</a:t>
            </a:r>
          </a:p>
        </p:txBody>
      </p:sp>
      <p:sp>
        <p:nvSpPr>
          <p:cNvPr id="35" name="Text 17">
            <a:extLst>
              <a:ext uri="{FF2B5EF4-FFF2-40B4-BE49-F238E27FC236}">
                <a16:creationId xmlns:a16="http://schemas.microsoft.com/office/drawing/2014/main" id="{AA330414-FA8A-440D-440E-97FC730A1A6C}"/>
              </a:ext>
            </a:extLst>
          </p:cNvPr>
          <p:cNvSpPr/>
          <p:nvPr/>
        </p:nvSpPr>
        <p:spPr>
          <a:xfrm>
            <a:off x="9712234" y="6955154"/>
            <a:ext cx="3419856" cy="312420"/>
          </a:xfrm>
          <a:prstGeom prst="rect">
            <a:avLst/>
          </a:prstGeom>
          <a:noFill/>
          <a:ln/>
        </p:spPr>
        <p:txBody>
          <a:bodyPr wrap="square" lIns="25400" tIns="25400" rIns="25400" bIns="25400" rtlCol="0" anchor="t">
            <a:normAutofit lnSpcReduction="10000"/>
          </a:bodyPr>
          <a:lstStyle/>
          <a:p>
            <a:r>
              <a:rPr lang="en-US" sz="1850" b="1">
                <a:solidFill>
                  <a:srgbClr val="10101B"/>
                </a:solidFill>
                <a:ea typeface="+mn-lt"/>
                <a:cs typeface="+mn-lt"/>
              </a:rPr>
              <a:t>Compare Results</a:t>
            </a:r>
            <a:endParaRPr lang="en-US" b="1">
              <a:ea typeface="Calibri"/>
              <a:cs typeface="Calibri"/>
            </a:endParaRPr>
          </a:p>
        </p:txBody>
      </p:sp>
      <p:sp>
        <p:nvSpPr>
          <p:cNvPr id="36" name="Text 18">
            <a:extLst>
              <a:ext uri="{FF2B5EF4-FFF2-40B4-BE49-F238E27FC236}">
                <a16:creationId xmlns:a16="http://schemas.microsoft.com/office/drawing/2014/main" id="{176A641B-83D9-2D61-9090-C73C357A2F9C}"/>
              </a:ext>
            </a:extLst>
          </p:cNvPr>
          <p:cNvSpPr/>
          <p:nvPr/>
        </p:nvSpPr>
        <p:spPr>
          <a:xfrm>
            <a:off x="9671413" y="7335610"/>
            <a:ext cx="3379035" cy="943791"/>
          </a:xfrm>
          <a:prstGeom prst="rect">
            <a:avLst/>
          </a:prstGeom>
          <a:noFill/>
          <a:ln/>
        </p:spPr>
        <p:txBody>
          <a:bodyPr wrap="square" lIns="25400" tIns="25400" rIns="25400" bIns="25400" rtlCol="0" anchor="t">
            <a:normAutofit/>
          </a:bodyPr>
          <a:lstStyle/>
          <a:p>
            <a:pPr>
              <a:lnSpc>
                <a:spcPct val="120312"/>
              </a:lnSpc>
            </a:pPr>
            <a:r>
              <a:rPr lang="en-US" sz="1650">
                <a:solidFill>
                  <a:srgbClr val="4A4A5C"/>
                </a:solidFill>
                <a:ea typeface="+mn-lt"/>
                <a:cs typeface="+mn-lt"/>
              </a:rPr>
              <a:t>Analyze metric changes and discuss limitations</a:t>
            </a:r>
            <a:endParaRPr lang="en-US"/>
          </a:p>
        </p:txBody>
      </p:sp>
      <p:sp>
        <p:nvSpPr>
          <p:cNvPr id="37" name="Text 19">
            <a:extLst>
              <a:ext uri="{FF2B5EF4-FFF2-40B4-BE49-F238E27FC236}">
                <a16:creationId xmlns:a16="http://schemas.microsoft.com/office/drawing/2014/main" id="{A7BBBC5D-97AC-8D7A-586C-EA500E2D0B32}"/>
              </a:ext>
            </a:extLst>
          </p:cNvPr>
          <p:cNvSpPr/>
          <p:nvPr/>
        </p:nvSpPr>
        <p:spPr>
          <a:xfrm rot="10800000">
            <a:off x="13038364" y="6936104"/>
            <a:ext cx="647700" cy="403860"/>
          </a:xfrm>
          <a:prstGeom prst="rect">
            <a:avLst/>
          </a:prstGeom>
          <a:noFill/>
          <a:ln/>
        </p:spPr>
        <p:txBody>
          <a:bodyPr wrap="square" lIns="25400" tIns="25400" rIns="25400" bIns="25400" rtlCol="0" anchor="t">
            <a:normAutofit lnSpcReduction="10000"/>
          </a:bodyPr>
          <a:lstStyle/>
          <a:p>
            <a:pPr marL="0" indent="0" algn="ctr">
              <a:buNone/>
            </a:pPr>
            <a:r>
              <a:rPr lang="en-US" sz="2550">
                <a:solidFill>
                  <a:srgbClr val="1200FF"/>
                </a:solidFill>
                <a:latin typeface="Arial" pitchFamily="34" charset="0"/>
                <a:ea typeface="Arial" pitchFamily="34" charset="-122"/>
                <a:cs typeface="Arial" pitchFamily="34" charset="-120"/>
              </a:rPr>
              <a:t>→</a:t>
            </a:r>
            <a:endParaRPr lang="en-US" sz="2550"/>
          </a:p>
        </p:txBody>
      </p:sp>
      <p:sp>
        <p:nvSpPr>
          <p:cNvPr id="38" name="Shape 20">
            <a:extLst>
              <a:ext uri="{FF2B5EF4-FFF2-40B4-BE49-F238E27FC236}">
                <a16:creationId xmlns:a16="http://schemas.microsoft.com/office/drawing/2014/main" id="{1049418A-757D-241E-9D66-3F6298CA17D4}"/>
              </a:ext>
            </a:extLst>
          </p:cNvPr>
          <p:cNvSpPr/>
          <p:nvPr/>
        </p:nvSpPr>
        <p:spPr>
          <a:xfrm>
            <a:off x="13688785" y="5989591"/>
            <a:ext cx="3619500" cy="2313214"/>
          </a:xfrm>
          <a:prstGeom prst="roundRect">
            <a:avLst>
              <a:gd name="adj" fmla="val 7500"/>
            </a:avLst>
          </a:prstGeom>
          <a:solidFill>
            <a:srgbClr val="F4F5FC"/>
          </a:solidFill>
          <a:ln w="7620">
            <a:solidFill>
              <a:srgbClr val="E1E3F0"/>
            </a:solidFill>
            <a:prstDash val="solid"/>
          </a:ln>
        </p:spPr>
      </p:sp>
      <p:sp>
        <p:nvSpPr>
          <p:cNvPr id="39" name="Shape 21">
            <a:extLst>
              <a:ext uri="{FF2B5EF4-FFF2-40B4-BE49-F238E27FC236}">
                <a16:creationId xmlns:a16="http://schemas.microsoft.com/office/drawing/2014/main" id="{D788A55D-73DE-A614-EF56-6DE3790E5013}"/>
              </a:ext>
            </a:extLst>
          </p:cNvPr>
          <p:cNvSpPr/>
          <p:nvPr/>
        </p:nvSpPr>
        <p:spPr>
          <a:xfrm>
            <a:off x="13903234" y="6326504"/>
            <a:ext cx="495300" cy="495300"/>
          </a:xfrm>
          <a:prstGeom prst="ellipse">
            <a:avLst/>
          </a:prstGeom>
          <a:solidFill>
            <a:srgbClr val="1200FF"/>
          </a:solidFill>
          <a:ln/>
        </p:spPr>
      </p:sp>
      <p:sp>
        <p:nvSpPr>
          <p:cNvPr id="40" name="Text 22">
            <a:extLst>
              <a:ext uri="{FF2B5EF4-FFF2-40B4-BE49-F238E27FC236}">
                <a16:creationId xmlns:a16="http://schemas.microsoft.com/office/drawing/2014/main" id="{8736AD7B-ACB5-2EB9-BD1A-38091860AE1E}"/>
              </a:ext>
            </a:extLst>
          </p:cNvPr>
          <p:cNvSpPr/>
          <p:nvPr/>
        </p:nvSpPr>
        <p:spPr>
          <a:xfrm>
            <a:off x="13865134" y="6326504"/>
            <a:ext cx="571500" cy="533400"/>
          </a:xfrm>
          <a:prstGeom prst="rect">
            <a:avLst/>
          </a:prstGeom>
          <a:noFill/>
          <a:ln/>
        </p:spPr>
        <p:txBody>
          <a:bodyPr wrap="square" lIns="25400" tIns="25400" rIns="25400" bIns="25400" rtlCol="0" anchor="ctr">
            <a:normAutofit/>
          </a:bodyPr>
          <a:lstStyle/>
          <a:p>
            <a:pPr marL="0" indent="0" algn="ctr">
              <a:buNone/>
            </a:pPr>
            <a:r>
              <a:rPr lang="en-US" sz="1950" b="1">
                <a:solidFill>
                  <a:srgbClr val="FFFFFF"/>
                </a:solidFill>
                <a:latin typeface="Arial"/>
                <a:cs typeface="Arial"/>
              </a:rPr>
              <a:t>5</a:t>
            </a:r>
          </a:p>
        </p:txBody>
      </p:sp>
      <p:sp>
        <p:nvSpPr>
          <p:cNvPr id="41" name="Text 23">
            <a:extLst>
              <a:ext uri="{FF2B5EF4-FFF2-40B4-BE49-F238E27FC236}">
                <a16:creationId xmlns:a16="http://schemas.microsoft.com/office/drawing/2014/main" id="{F0C47A8C-036F-0886-3993-A986869019E8}"/>
              </a:ext>
            </a:extLst>
          </p:cNvPr>
          <p:cNvSpPr/>
          <p:nvPr/>
        </p:nvSpPr>
        <p:spPr>
          <a:xfrm>
            <a:off x="13903234" y="6955154"/>
            <a:ext cx="3419856" cy="312420"/>
          </a:xfrm>
          <a:prstGeom prst="rect">
            <a:avLst/>
          </a:prstGeom>
          <a:noFill/>
          <a:ln/>
        </p:spPr>
        <p:txBody>
          <a:bodyPr wrap="square" lIns="25400" tIns="25400" rIns="25400" bIns="25400" rtlCol="0" anchor="t">
            <a:normAutofit lnSpcReduction="10000"/>
          </a:bodyPr>
          <a:lstStyle/>
          <a:p>
            <a:r>
              <a:rPr lang="en-US" sz="1850" b="1">
                <a:solidFill>
                  <a:srgbClr val="10101B"/>
                </a:solidFill>
                <a:ea typeface="+mn-lt"/>
                <a:cs typeface="+mn-lt"/>
              </a:rPr>
              <a:t>Evaluate Calibrated Model</a:t>
            </a:r>
            <a:endParaRPr lang="en-US" b="1">
              <a:ea typeface="Calibri"/>
              <a:cs typeface="Calibri"/>
            </a:endParaRPr>
          </a:p>
        </p:txBody>
      </p:sp>
      <p:sp>
        <p:nvSpPr>
          <p:cNvPr id="42" name="Text 24">
            <a:extLst>
              <a:ext uri="{FF2B5EF4-FFF2-40B4-BE49-F238E27FC236}">
                <a16:creationId xmlns:a16="http://schemas.microsoft.com/office/drawing/2014/main" id="{AE8F88A9-72D1-148C-349F-2A5C6E035DA2}"/>
              </a:ext>
            </a:extLst>
          </p:cNvPr>
          <p:cNvSpPr/>
          <p:nvPr/>
        </p:nvSpPr>
        <p:spPr>
          <a:xfrm>
            <a:off x="13862413" y="7335610"/>
            <a:ext cx="3447070" cy="943791"/>
          </a:xfrm>
          <a:prstGeom prst="rect">
            <a:avLst/>
          </a:prstGeom>
          <a:noFill/>
          <a:ln/>
        </p:spPr>
        <p:txBody>
          <a:bodyPr wrap="square" lIns="25400" tIns="25400" rIns="25400" bIns="25400" rtlCol="0" anchor="t">
            <a:normAutofit/>
          </a:bodyPr>
          <a:lstStyle/>
          <a:p>
            <a:pPr>
              <a:lnSpc>
                <a:spcPct val="120312"/>
              </a:lnSpc>
            </a:pPr>
            <a:r>
              <a:rPr lang="en-US" sz="1650">
                <a:solidFill>
                  <a:srgbClr val="4A4A5C"/>
                </a:solidFill>
                <a:ea typeface="+mn-lt"/>
                <a:cs typeface="+mn-lt"/>
              </a:rPr>
              <a:t>Calculate accuracy, ECE and Brier Score on test data.</a:t>
            </a:r>
            <a:endParaRPr lang="en-US">
              <a:ea typeface="+mn-lt"/>
              <a:cs typeface="+mn-l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047750" y="857250"/>
            <a:ext cx="17811750" cy="312420"/>
          </a:xfrm>
          <a:prstGeom prst="rect">
            <a:avLst/>
          </a:prstGeom>
          <a:noFill/>
          <a:ln/>
        </p:spPr>
        <p:txBody>
          <a:bodyPr wrap="square" lIns="25400" tIns="25400" rIns="25400" bIns="25400" rtlCol="0" anchor="t">
            <a:normAutofit lnSpcReduction="10000"/>
          </a:bodyPr>
          <a:lstStyle/>
          <a:p>
            <a:pPr marL="0" indent="0" algn="l">
              <a:buNone/>
            </a:pPr>
            <a:r>
              <a:rPr lang="en-US" sz="1875" b="1" kern="0" spc="263">
                <a:solidFill>
                  <a:srgbClr val="1200FF"/>
                </a:solidFill>
                <a:latin typeface="Arial" pitchFamily="34" charset="0"/>
                <a:ea typeface="Arial" pitchFamily="34" charset="-122"/>
                <a:cs typeface="Arial" pitchFamily="34" charset="-120"/>
              </a:rPr>
              <a:t>06 — SYSTEM DESIGN</a:t>
            </a:r>
            <a:endParaRPr lang="en-US" sz="1875"/>
          </a:p>
        </p:txBody>
      </p:sp>
      <p:sp>
        <p:nvSpPr>
          <p:cNvPr id="3" name="Text 1"/>
          <p:cNvSpPr/>
          <p:nvPr/>
        </p:nvSpPr>
        <p:spPr>
          <a:xfrm>
            <a:off x="1047750" y="1264920"/>
            <a:ext cx="17811750" cy="693420"/>
          </a:xfrm>
          <a:prstGeom prst="rect">
            <a:avLst/>
          </a:prstGeom>
          <a:noFill/>
          <a:ln/>
        </p:spPr>
        <p:txBody>
          <a:bodyPr wrap="square" lIns="25400" tIns="25400" rIns="25400" bIns="25400" rtlCol="0" anchor="t">
            <a:normAutofit lnSpcReduction="10000"/>
          </a:bodyPr>
          <a:lstStyle/>
          <a:p>
            <a:pPr marL="0" indent="0" algn="l">
              <a:buNone/>
            </a:pPr>
            <a:r>
              <a:rPr lang="en-US" sz="4500" b="1" kern="0" spc="-45">
                <a:solidFill>
                  <a:srgbClr val="10101B"/>
                </a:solidFill>
                <a:latin typeface="Arial" pitchFamily="34" charset="0"/>
                <a:ea typeface="Arial" pitchFamily="34" charset="-122"/>
                <a:cs typeface="Arial" pitchFamily="34" charset="-120"/>
              </a:rPr>
              <a:t>System Architecture</a:t>
            </a:r>
            <a:endParaRPr lang="en-US" sz="4500"/>
          </a:p>
        </p:txBody>
      </p:sp>
      <p:sp>
        <p:nvSpPr>
          <p:cNvPr id="4" name="Shape 2"/>
          <p:cNvSpPr/>
          <p:nvPr/>
        </p:nvSpPr>
        <p:spPr>
          <a:xfrm>
            <a:off x="1047750" y="2048419"/>
            <a:ext cx="16192500" cy="853440"/>
          </a:xfrm>
          <a:prstGeom prst="roundRect">
            <a:avLst>
              <a:gd name="adj" fmla="val 17857"/>
            </a:avLst>
          </a:prstGeom>
          <a:solidFill>
            <a:srgbClr val="F4F5FC"/>
          </a:solidFill>
          <a:ln w="15240">
            <a:solidFill>
              <a:srgbClr val="1200FF"/>
            </a:solidFill>
            <a:prstDash val="solid"/>
          </a:ln>
        </p:spPr>
      </p:sp>
      <p:sp>
        <p:nvSpPr>
          <p:cNvPr id="5" name="Text 3"/>
          <p:cNvSpPr/>
          <p:nvPr/>
        </p:nvSpPr>
        <p:spPr>
          <a:xfrm>
            <a:off x="1124903" y="2311309"/>
            <a:ext cx="16038195" cy="365760"/>
          </a:xfrm>
          <a:prstGeom prst="rect">
            <a:avLst/>
          </a:prstGeom>
          <a:noFill/>
          <a:ln/>
        </p:spPr>
        <p:txBody>
          <a:bodyPr wrap="square" lIns="25400" tIns="25400" rIns="25400" bIns="25400" rtlCol="0" anchor="t">
            <a:normAutofit lnSpcReduction="10000"/>
          </a:bodyPr>
          <a:lstStyle/>
          <a:p>
            <a:pPr marL="0" indent="0" algn="ctr">
              <a:buNone/>
            </a:pPr>
            <a:r>
              <a:rPr lang="en-US" sz="2250" b="1">
                <a:solidFill>
                  <a:srgbClr val="1200FF"/>
                </a:solidFill>
                <a:latin typeface="Arial" pitchFamily="34" charset="0"/>
                <a:ea typeface="Arial" pitchFamily="34" charset="-122"/>
                <a:cs typeface="Arial" pitchFamily="34" charset="-120"/>
              </a:rPr>
              <a:t>Presentation / Interface Layer</a:t>
            </a:r>
            <a:endParaRPr lang="en-US" sz="2250"/>
          </a:p>
        </p:txBody>
      </p:sp>
      <p:sp>
        <p:nvSpPr>
          <p:cNvPr id="6" name="Text 4"/>
          <p:cNvSpPr/>
          <p:nvPr/>
        </p:nvSpPr>
        <p:spPr>
          <a:xfrm>
            <a:off x="238125" y="3745502"/>
            <a:ext cx="17811750" cy="365760"/>
          </a:xfrm>
          <a:prstGeom prst="rect">
            <a:avLst/>
          </a:prstGeom>
          <a:noFill/>
          <a:ln/>
        </p:spPr>
        <p:txBody>
          <a:bodyPr wrap="square" lIns="25400" tIns="25400" rIns="25400" bIns="25400" rtlCol="0" anchor="t">
            <a:normAutofit lnSpcReduction="10000"/>
          </a:bodyPr>
          <a:lstStyle/>
          <a:p>
            <a:pPr marL="0" indent="0" algn="ctr">
              <a:buNone/>
            </a:pPr>
            <a:r>
              <a:rPr lang="en-US" sz="2250">
                <a:solidFill>
                  <a:srgbClr val="1200FF"/>
                </a:solidFill>
                <a:latin typeface="Arial" pitchFamily="34" charset="0"/>
                <a:ea typeface="Arial" pitchFamily="34" charset="-122"/>
                <a:cs typeface="Arial" pitchFamily="34" charset="-120"/>
              </a:rPr>
              <a:t>↓</a:t>
            </a:r>
            <a:endParaRPr lang="en-US" sz="2250"/>
          </a:p>
        </p:txBody>
      </p:sp>
      <p:sp>
        <p:nvSpPr>
          <p:cNvPr id="7" name="Shape 5"/>
          <p:cNvSpPr/>
          <p:nvPr/>
        </p:nvSpPr>
        <p:spPr>
          <a:xfrm>
            <a:off x="1129392" y="4113984"/>
            <a:ext cx="5163419" cy="1968681"/>
          </a:xfrm>
          <a:prstGeom prst="roundRect">
            <a:avLst>
              <a:gd name="adj" fmla="val 19417"/>
            </a:avLst>
          </a:prstGeom>
          <a:ln w="7620">
            <a:solidFill>
              <a:srgbClr val="E1E3F0"/>
            </a:solidFill>
            <a:prstDash val="solid"/>
          </a:ln>
        </p:spPr>
      </p:sp>
      <p:sp>
        <p:nvSpPr>
          <p:cNvPr id="8" name="Text 6"/>
          <p:cNvSpPr/>
          <p:nvPr/>
        </p:nvSpPr>
        <p:spPr>
          <a:xfrm>
            <a:off x="1142702" y="4246789"/>
            <a:ext cx="4973514" cy="611777"/>
          </a:xfrm>
          <a:prstGeom prst="rect">
            <a:avLst/>
          </a:prstGeom>
          <a:noFill/>
          <a:ln/>
        </p:spPr>
        <p:txBody>
          <a:bodyPr wrap="square" lIns="25400" tIns="25400" rIns="25400" bIns="25400" rtlCol="0" anchor="t">
            <a:normAutofit/>
          </a:bodyPr>
          <a:lstStyle/>
          <a:p>
            <a:pPr marL="0" indent="0" algn="ctr">
              <a:buNone/>
            </a:pPr>
            <a:r>
              <a:rPr lang="en-US" sz="1850" b="1">
                <a:solidFill>
                  <a:srgbClr val="000000"/>
                </a:solidFill>
                <a:latin typeface="Arial"/>
                <a:ea typeface="Arial" pitchFamily="34" charset="-122"/>
                <a:cs typeface="Arial"/>
              </a:rPr>
              <a:t>[ Module A ]</a:t>
            </a:r>
          </a:p>
          <a:p>
            <a:pPr algn="ctr"/>
            <a:r>
              <a:rPr lang="en-US">
                <a:solidFill>
                  <a:srgbClr val="000000"/>
                </a:solidFill>
                <a:latin typeface="sans-serif"/>
                <a:cs typeface="Arial"/>
              </a:rPr>
              <a:t>Multimodal Input &amp; </a:t>
            </a:r>
            <a:r>
              <a:rPr lang="en-US" err="1">
                <a:solidFill>
                  <a:srgbClr val="000000"/>
                </a:solidFill>
                <a:latin typeface="sans-serif"/>
                <a:cs typeface="Arial"/>
              </a:rPr>
              <a:t>UniMod</a:t>
            </a:r>
            <a:r>
              <a:rPr lang="en-US">
                <a:solidFill>
                  <a:srgbClr val="000000"/>
                </a:solidFill>
                <a:latin typeface="sans-serif"/>
                <a:cs typeface="Arial"/>
              </a:rPr>
              <a:t> Core</a:t>
            </a:r>
            <a:endParaRPr lang="en-US">
              <a:solidFill>
                <a:srgbClr val="000000"/>
              </a:solidFill>
              <a:ea typeface="Calibri"/>
              <a:cs typeface="Calibri"/>
            </a:endParaRPr>
          </a:p>
        </p:txBody>
      </p:sp>
      <p:sp>
        <p:nvSpPr>
          <p:cNvPr id="9" name="Shape 7"/>
          <p:cNvSpPr/>
          <p:nvPr/>
        </p:nvSpPr>
        <p:spPr>
          <a:xfrm>
            <a:off x="6521411" y="4113984"/>
            <a:ext cx="5245061" cy="1968681"/>
          </a:xfrm>
          <a:prstGeom prst="roundRect">
            <a:avLst>
              <a:gd name="adj" fmla="val 19417"/>
            </a:avLst>
          </a:prstGeom>
          <a:ln w="7620">
            <a:solidFill>
              <a:srgbClr val="E1E3F0"/>
            </a:solidFill>
            <a:prstDash val="solid"/>
          </a:ln>
        </p:spPr>
      </p:sp>
      <p:sp>
        <p:nvSpPr>
          <p:cNvPr id="10" name="Text 8"/>
          <p:cNvSpPr/>
          <p:nvPr/>
        </p:nvSpPr>
        <p:spPr>
          <a:xfrm>
            <a:off x="6698005" y="5553075"/>
            <a:ext cx="4891872" cy="312420"/>
          </a:xfrm>
          <a:prstGeom prst="rect">
            <a:avLst/>
          </a:prstGeom>
          <a:noFill/>
          <a:ln/>
        </p:spPr>
        <p:txBody>
          <a:bodyPr wrap="square" lIns="25400" tIns="25400" rIns="25400" bIns="25400" rtlCol="0" anchor="t">
            <a:normAutofit lnSpcReduction="10000"/>
          </a:bodyPr>
          <a:lstStyle/>
          <a:p>
            <a:pPr marL="0" indent="0" algn="ctr">
              <a:buNone/>
            </a:pPr>
            <a:r>
              <a:rPr lang="en-US" sz="1875" b="1">
                <a:solidFill>
                  <a:srgbClr val="10101B"/>
                </a:solidFill>
                <a:latin typeface="Arial" pitchFamily="34" charset="0"/>
                <a:ea typeface="Arial" pitchFamily="34" charset="-122"/>
                <a:cs typeface="Arial" pitchFamily="34" charset="-120"/>
              </a:rPr>
              <a:t>[ Module B ]</a:t>
            </a:r>
            <a:endParaRPr lang="en-US" sz="1875"/>
          </a:p>
        </p:txBody>
      </p:sp>
      <p:sp>
        <p:nvSpPr>
          <p:cNvPr id="11" name="Shape 9"/>
          <p:cNvSpPr/>
          <p:nvPr/>
        </p:nvSpPr>
        <p:spPr>
          <a:xfrm>
            <a:off x="11995071" y="4113984"/>
            <a:ext cx="5245061" cy="1968681"/>
          </a:xfrm>
          <a:prstGeom prst="roundRect">
            <a:avLst>
              <a:gd name="adj" fmla="val 19417"/>
            </a:avLst>
          </a:prstGeom>
          <a:ln w="7620">
            <a:solidFill>
              <a:srgbClr val="E1E3F0"/>
            </a:solidFill>
            <a:prstDash val="solid"/>
          </a:ln>
        </p:spPr>
      </p:sp>
      <p:sp>
        <p:nvSpPr>
          <p:cNvPr id="12" name="Text 10"/>
          <p:cNvSpPr/>
          <p:nvPr/>
        </p:nvSpPr>
        <p:spPr>
          <a:xfrm>
            <a:off x="12171665" y="5553075"/>
            <a:ext cx="4891872" cy="312420"/>
          </a:xfrm>
          <a:prstGeom prst="rect">
            <a:avLst/>
          </a:prstGeom>
          <a:noFill/>
          <a:ln/>
        </p:spPr>
        <p:txBody>
          <a:bodyPr wrap="square" lIns="25400" tIns="25400" rIns="25400" bIns="25400" rtlCol="0" anchor="t">
            <a:normAutofit lnSpcReduction="10000"/>
          </a:bodyPr>
          <a:lstStyle/>
          <a:p>
            <a:pPr marL="0" indent="0" algn="ctr">
              <a:buNone/>
            </a:pPr>
            <a:r>
              <a:rPr lang="en-US" sz="1875" b="1">
                <a:solidFill>
                  <a:srgbClr val="10101B"/>
                </a:solidFill>
                <a:latin typeface="Arial" pitchFamily="34" charset="0"/>
                <a:ea typeface="Arial" pitchFamily="34" charset="-122"/>
                <a:cs typeface="Arial" pitchFamily="34" charset="-120"/>
              </a:rPr>
              <a:t>[ Module C ]</a:t>
            </a:r>
            <a:endParaRPr lang="en-US" sz="1875"/>
          </a:p>
        </p:txBody>
      </p:sp>
      <p:sp>
        <p:nvSpPr>
          <p:cNvPr id="13" name="Text 11"/>
          <p:cNvSpPr/>
          <p:nvPr/>
        </p:nvSpPr>
        <p:spPr>
          <a:xfrm>
            <a:off x="238125" y="6273165"/>
            <a:ext cx="17811750" cy="365760"/>
          </a:xfrm>
          <a:prstGeom prst="rect">
            <a:avLst/>
          </a:prstGeom>
          <a:noFill/>
          <a:ln/>
        </p:spPr>
        <p:txBody>
          <a:bodyPr wrap="square" lIns="25400" tIns="25400" rIns="25400" bIns="25400" rtlCol="0" anchor="t">
            <a:normAutofit lnSpcReduction="10000"/>
          </a:bodyPr>
          <a:lstStyle/>
          <a:p>
            <a:pPr marL="0" indent="0" algn="ctr">
              <a:buNone/>
            </a:pPr>
            <a:r>
              <a:rPr lang="en-US" sz="2250">
                <a:solidFill>
                  <a:srgbClr val="1200FF"/>
                </a:solidFill>
                <a:latin typeface="Arial" pitchFamily="34" charset="0"/>
                <a:ea typeface="Arial" pitchFamily="34" charset="-122"/>
                <a:cs typeface="Arial" pitchFamily="34" charset="-120"/>
              </a:rPr>
              <a:t>↓</a:t>
            </a:r>
            <a:endParaRPr lang="en-US" sz="2250"/>
          </a:p>
        </p:txBody>
      </p:sp>
      <p:sp>
        <p:nvSpPr>
          <p:cNvPr id="14" name="Shape 12"/>
          <p:cNvSpPr/>
          <p:nvPr/>
        </p:nvSpPr>
        <p:spPr>
          <a:xfrm>
            <a:off x="1047750" y="6791325"/>
            <a:ext cx="16192500" cy="853440"/>
          </a:xfrm>
          <a:prstGeom prst="roundRect">
            <a:avLst>
              <a:gd name="adj" fmla="val 17857"/>
            </a:avLst>
          </a:prstGeom>
          <a:ln w="15240">
            <a:solidFill>
              <a:srgbClr val="10101B"/>
            </a:solidFill>
            <a:prstDash val="solid"/>
          </a:ln>
        </p:spPr>
      </p:sp>
      <p:sp>
        <p:nvSpPr>
          <p:cNvPr id="15" name="Text 13"/>
          <p:cNvSpPr/>
          <p:nvPr/>
        </p:nvSpPr>
        <p:spPr>
          <a:xfrm>
            <a:off x="1124903" y="7054215"/>
            <a:ext cx="16038195" cy="365760"/>
          </a:xfrm>
          <a:prstGeom prst="rect">
            <a:avLst/>
          </a:prstGeom>
          <a:noFill/>
          <a:ln/>
        </p:spPr>
        <p:txBody>
          <a:bodyPr wrap="square" lIns="25400" tIns="25400" rIns="25400" bIns="25400" rtlCol="0" anchor="t">
            <a:normAutofit lnSpcReduction="10000"/>
          </a:bodyPr>
          <a:lstStyle/>
          <a:p>
            <a:pPr marL="0" indent="0" algn="ctr">
              <a:buNone/>
            </a:pPr>
            <a:r>
              <a:rPr lang="en-US" sz="2250" b="1">
                <a:solidFill>
                  <a:srgbClr val="10101B"/>
                </a:solidFill>
                <a:latin typeface="Arial" pitchFamily="34" charset="0"/>
                <a:ea typeface="Arial" pitchFamily="34" charset="-122"/>
                <a:cs typeface="Arial" pitchFamily="34" charset="-120"/>
              </a:rPr>
              <a:t>Data / Storage Layer</a:t>
            </a:r>
            <a:endParaRPr lang="en-US" sz="2250"/>
          </a:p>
        </p:txBody>
      </p:sp>
      <p:sp>
        <p:nvSpPr>
          <p:cNvPr id="16" name="Shape 14"/>
          <p:cNvSpPr/>
          <p:nvPr/>
        </p:nvSpPr>
        <p:spPr>
          <a:xfrm>
            <a:off x="1047750" y="9041130"/>
            <a:ext cx="16192500" cy="9525"/>
          </a:xfrm>
          <a:prstGeom prst="rect">
            <a:avLst/>
          </a:prstGeom>
          <a:solidFill>
            <a:srgbClr val="E1E3F0"/>
          </a:solidFill>
          <a:ln/>
        </p:spPr>
      </p:sp>
      <p:pic>
        <p:nvPicPr>
          <p:cNvPr id="17" name="Image 0" descr="preencoded.png"/>
          <p:cNvPicPr>
            <a:picLocks noChangeAspect="1"/>
          </p:cNvPicPr>
          <p:nvPr/>
        </p:nvPicPr>
        <p:blipFill>
          <a:blip r:embed="rId3"/>
          <a:stretch>
            <a:fillRect/>
          </a:stretch>
        </p:blipFill>
        <p:spPr>
          <a:xfrm>
            <a:off x="1047750" y="9315450"/>
            <a:ext cx="553283" cy="304800"/>
          </a:xfrm>
          <a:prstGeom prst="rect">
            <a:avLst/>
          </a:prstGeom>
        </p:spPr>
      </p:pic>
      <p:sp>
        <p:nvSpPr>
          <p:cNvPr id="18" name="Text 15"/>
          <p:cNvSpPr/>
          <p:nvPr/>
        </p:nvSpPr>
        <p:spPr>
          <a:xfrm>
            <a:off x="1734384" y="9345930"/>
            <a:ext cx="3907060" cy="281940"/>
          </a:xfrm>
          <a:prstGeom prst="rect">
            <a:avLst/>
          </a:prstGeom>
          <a:noFill/>
          <a:ln/>
        </p:spPr>
        <p:txBody>
          <a:bodyPr wrap="square" lIns="25400" tIns="25400" rIns="25400" bIns="25400" rtlCol="0" anchor="t">
            <a:normAutofit lnSpcReduction="10000"/>
          </a:bodyPr>
          <a:lstStyle/>
          <a:p>
            <a:pPr marL="0" indent="0" algn="l">
              <a:buNone/>
            </a:pPr>
            <a:r>
              <a:rPr lang="en-US" sz="1650">
                <a:solidFill>
                  <a:srgbClr val="4A4A5C"/>
                </a:solidFill>
                <a:latin typeface="Arial" pitchFamily="34" charset="0"/>
                <a:ea typeface="Arial" pitchFamily="34" charset="-122"/>
                <a:cs typeface="Arial" pitchFamily="34" charset="-120"/>
              </a:rPr>
              <a:t>Department of CSE · Uttara University</a:t>
            </a:r>
            <a:endParaRPr lang="en-US" sz="1650"/>
          </a:p>
        </p:txBody>
      </p:sp>
      <p:sp>
        <p:nvSpPr>
          <p:cNvPr id="19" name="Text 16"/>
          <p:cNvSpPr/>
          <p:nvPr/>
        </p:nvSpPr>
        <p:spPr>
          <a:xfrm>
            <a:off x="16599337" y="9345930"/>
            <a:ext cx="717113" cy="281940"/>
          </a:xfrm>
          <a:prstGeom prst="rect">
            <a:avLst/>
          </a:prstGeom>
          <a:noFill/>
          <a:ln/>
        </p:spPr>
        <p:txBody>
          <a:bodyPr wrap="square" lIns="25400" tIns="25400" rIns="25400" bIns="25400" rtlCol="0" anchor="t">
            <a:normAutofit lnSpcReduction="10000"/>
          </a:bodyPr>
          <a:lstStyle/>
          <a:p>
            <a:pPr marL="0" indent="0" algn="l">
              <a:buNone/>
            </a:pPr>
            <a:r>
              <a:rPr lang="en-US" sz="1650">
                <a:solidFill>
                  <a:srgbClr val="4A4A5C"/>
                </a:solidFill>
                <a:latin typeface="Arial" pitchFamily="34" charset="0"/>
                <a:ea typeface="Arial" pitchFamily="34" charset="-122"/>
                <a:cs typeface="Arial" pitchFamily="34" charset="-120"/>
              </a:rPr>
              <a:t>08 / 15</a:t>
            </a:r>
            <a:endParaRPr lang="en-US" sz="1650"/>
          </a:p>
        </p:txBody>
      </p:sp>
      <p:sp>
        <p:nvSpPr>
          <p:cNvPr id="20" name="TextBox 19">
            <a:extLst>
              <a:ext uri="{FF2B5EF4-FFF2-40B4-BE49-F238E27FC236}">
                <a16:creationId xmlns:a16="http://schemas.microsoft.com/office/drawing/2014/main" id="{139DFF0B-EE0F-0A46-BCDC-2BC53D75A12B}"/>
              </a:ext>
            </a:extLst>
          </p:cNvPr>
          <p:cNvSpPr txBox="1"/>
          <p:nvPr/>
        </p:nvSpPr>
        <p:spPr>
          <a:xfrm>
            <a:off x="1128154" y="2932957"/>
            <a:ext cx="16029214" cy="923330"/>
          </a:xfrm>
          <a:prstGeom prst="rect">
            <a:avLst/>
          </a:prstGeom>
          <a:solidFill>
            <a:srgbClr val="EDEDED"/>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latin typeface="sans-serif"/>
              </a:rPr>
              <a:t>Visualization &amp; Evaluation Reporting</a:t>
            </a:r>
            <a:endParaRPr lang="en-US" b="1">
              <a:latin typeface="Calibri" panose="020F0502020204030204"/>
              <a:ea typeface="Calibri"/>
              <a:cs typeface="Calibri"/>
            </a:endParaRPr>
          </a:p>
          <a:p>
            <a:pPr algn="ctr"/>
            <a:r>
              <a:rPr lang="en-US">
                <a:latin typeface="sans-serif"/>
              </a:rPr>
              <a:t>Reliability Diagrams - Performance Tables</a:t>
            </a:r>
            <a:endParaRPr lang="en-US">
              <a:latin typeface="Calibri" panose="020F0502020204030204"/>
              <a:ea typeface="Calibri"/>
              <a:cs typeface="Calibri"/>
            </a:endParaRPr>
          </a:p>
          <a:p>
            <a:pPr algn="ctr"/>
            <a:r>
              <a:rPr lang="en-US">
                <a:latin typeface="sans-serif"/>
              </a:rPr>
              <a:t>ECE, Brier Score, Accuracy Metrics</a:t>
            </a:r>
            <a:endParaRPr lang="en-US">
              <a:ea typeface="Calibri"/>
              <a:cs typeface="Calibri"/>
            </a:endParaRPr>
          </a:p>
        </p:txBody>
      </p:sp>
      <p:sp>
        <p:nvSpPr>
          <p:cNvPr id="21" name="TextBox 20">
            <a:extLst>
              <a:ext uri="{FF2B5EF4-FFF2-40B4-BE49-F238E27FC236}">
                <a16:creationId xmlns:a16="http://schemas.microsoft.com/office/drawing/2014/main" id="{C69DD22B-E6AA-DC80-F895-AB3C62B52655}"/>
              </a:ext>
            </a:extLst>
          </p:cNvPr>
          <p:cNvSpPr txBox="1"/>
          <p:nvPr/>
        </p:nvSpPr>
        <p:spPr>
          <a:xfrm>
            <a:off x="1474519" y="5086597"/>
            <a:ext cx="431099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Ingests medical images and clinical text,</a:t>
            </a:r>
          </a:p>
          <a:p>
            <a:r>
              <a:rPr lang="en-US">
                <a:ea typeface="+mn-lt"/>
                <a:cs typeface="+mn-lt"/>
              </a:rPr>
              <a:t>pre-processes features, and runs inference to output raw logits (z)</a:t>
            </a:r>
            <a:endParaRPr lang="en-US">
              <a:ea typeface="Calibri"/>
              <a:cs typeface="Calibri"/>
            </a:endParaRPr>
          </a:p>
        </p:txBody>
      </p:sp>
      <p:pic>
        <p:nvPicPr>
          <p:cNvPr id="22" name="Picture 21">
            <a:extLst>
              <a:ext uri="{FF2B5EF4-FFF2-40B4-BE49-F238E27FC236}">
                <a16:creationId xmlns:a16="http://schemas.microsoft.com/office/drawing/2014/main" id="{20239576-853F-B733-D171-44BB9D962D19}"/>
              </a:ext>
            </a:extLst>
          </p:cNvPr>
          <p:cNvPicPr>
            <a:picLocks noChangeAspect="1"/>
          </p:cNvPicPr>
          <p:nvPr/>
        </p:nvPicPr>
        <p:blipFill>
          <a:blip r:embed="rId4"/>
          <a:srcRect t="1192" b="-133"/>
          <a:stretch>
            <a:fillRect/>
          </a:stretch>
        </p:blipFill>
        <p:spPr>
          <a:xfrm>
            <a:off x="-2721" y="95250"/>
            <a:ext cx="18293442" cy="1017800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047750" y="857250"/>
            <a:ext cx="17811750" cy="312420"/>
          </a:xfrm>
          <a:prstGeom prst="rect">
            <a:avLst/>
          </a:prstGeom>
          <a:noFill/>
          <a:ln/>
        </p:spPr>
        <p:txBody>
          <a:bodyPr wrap="square" lIns="25400" tIns="25400" rIns="25400" bIns="25400" rtlCol="0" anchor="t">
            <a:normAutofit lnSpcReduction="10000"/>
          </a:bodyPr>
          <a:lstStyle/>
          <a:p>
            <a:pPr marL="0" indent="0" algn="l">
              <a:buNone/>
            </a:pPr>
            <a:r>
              <a:rPr lang="en-US" sz="1875" b="1" kern="0" spc="263">
                <a:solidFill>
                  <a:srgbClr val="1200FF"/>
                </a:solidFill>
                <a:latin typeface="Arial" pitchFamily="34" charset="0"/>
                <a:ea typeface="Arial" pitchFamily="34" charset="-122"/>
                <a:cs typeface="Arial" pitchFamily="34" charset="-120"/>
              </a:rPr>
              <a:t>07 — IMPLEMENTATION</a:t>
            </a:r>
            <a:endParaRPr lang="en-US" sz="1875"/>
          </a:p>
        </p:txBody>
      </p:sp>
      <p:sp>
        <p:nvSpPr>
          <p:cNvPr id="3" name="Text 1"/>
          <p:cNvSpPr/>
          <p:nvPr/>
        </p:nvSpPr>
        <p:spPr>
          <a:xfrm>
            <a:off x="1047750" y="1183278"/>
            <a:ext cx="8001000" cy="775062"/>
          </a:xfrm>
          <a:prstGeom prst="rect">
            <a:avLst/>
          </a:prstGeom>
          <a:noFill/>
          <a:ln/>
        </p:spPr>
        <p:txBody>
          <a:bodyPr wrap="square" lIns="25400" tIns="25400" rIns="25400" bIns="25400" rtlCol="0" anchor="t">
            <a:normAutofit/>
          </a:bodyPr>
          <a:lstStyle/>
          <a:p>
            <a:pPr marL="0" indent="0" algn="l">
              <a:buNone/>
            </a:pPr>
            <a:r>
              <a:rPr lang="en-US" sz="4500" b="1" kern="0" spc="-45">
                <a:solidFill>
                  <a:srgbClr val="10101B"/>
                </a:solidFill>
                <a:latin typeface="Arial" pitchFamily="34" charset="0"/>
                <a:ea typeface="Arial" pitchFamily="34" charset="-122"/>
                <a:cs typeface="Arial" pitchFamily="34" charset="-120"/>
              </a:rPr>
              <a:t>Implementation Details</a:t>
            </a:r>
            <a:endParaRPr lang="en-US" sz="4500"/>
          </a:p>
        </p:txBody>
      </p:sp>
      <p:sp>
        <p:nvSpPr>
          <p:cNvPr id="4" name="Text 2"/>
          <p:cNvSpPr/>
          <p:nvPr/>
        </p:nvSpPr>
        <p:spPr>
          <a:xfrm>
            <a:off x="1047750" y="4334828"/>
            <a:ext cx="8539163" cy="312420"/>
          </a:xfrm>
          <a:prstGeom prst="rect">
            <a:avLst/>
          </a:prstGeom>
          <a:noFill/>
          <a:ln/>
        </p:spPr>
        <p:txBody>
          <a:bodyPr wrap="square" lIns="25400" tIns="25400" rIns="25400" bIns="25400" rtlCol="0" anchor="t">
            <a:normAutofit lnSpcReduction="10000"/>
          </a:bodyPr>
          <a:lstStyle/>
          <a:p>
            <a:pPr marL="0" indent="0" algn="l">
              <a:buNone/>
            </a:pPr>
            <a:r>
              <a:rPr lang="en-US" sz="1875" b="1" kern="0" spc="113">
                <a:solidFill>
                  <a:srgbClr val="4A4A5C"/>
                </a:solidFill>
                <a:latin typeface="Arial" pitchFamily="34" charset="0"/>
                <a:ea typeface="Arial" pitchFamily="34" charset="-122"/>
                <a:cs typeface="Arial" pitchFamily="34" charset="-120"/>
              </a:rPr>
              <a:t>TOOLS &amp; TECHNOLOGIES</a:t>
            </a:r>
            <a:endParaRPr lang="en-US" sz="1875"/>
          </a:p>
        </p:txBody>
      </p:sp>
      <p:sp>
        <p:nvSpPr>
          <p:cNvPr id="5" name="Shape 3"/>
          <p:cNvSpPr/>
          <p:nvPr/>
        </p:nvSpPr>
        <p:spPr>
          <a:xfrm>
            <a:off x="1047750" y="4818697"/>
            <a:ext cx="1755696" cy="518160"/>
          </a:xfrm>
          <a:prstGeom prst="roundRect">
            <a:avLst>
              <a:gd name="adj" fmla="val 50000"/>
            </a:avLst>
          </a:prstGeom>
          <a:solidFill>
            <a:srgbClr val="F4F5FC"/>
          </a:solidFill>
          <a:ln w="7620">
            <a:solidFill>
              <a:srgbClr val="E1E3F0"/>
            </a:solidFill>
            <a:prstDash val="solid"/>
          </a:ln>
        </p:spPr>
      </p:sp>
      <p:sp>
        <p:nvSpPr>
          <p:cNvPr id="6" name="Text 4"/>
          <p:cNvSpPr/>
          <p:nvPr/>
        </p:nvSpPr>
        <p:spPr>
          <a:xfrm>
            <a:off x="1283970" y="4940617"/>
            <a:ext cx="1359456" cy="312420"/>
          </a:xfrm>
          <a:prstGeom prst="rect">
            <a:avLst/>
          </a:prstGeom>
          <a:noFill/>
          <a:ln/>
        </p:spPr>
        <p:txBody>
          <a:bodyPr wrap="square" lIns="25400" tIns="25400" rIns="25400" bIns="25400" rtlCol="0" anchor="t">
            <a:normAutofit lnSpcReduction="10000"/>
          </a:bodyPr>
          <a:lstStyle/>
          <a:p>
            <a:r>
              <a:rPr lang="en-US" sz="1850" b="1">
                <a:solidFill>
                  <a:srgbClr val="10101B"/>
                </a:solidFill>
                <a:ea typeface="+mn-lt"/>
                <a:cs typeface="+mn-lt"/>
              </a:rPr>
              <a:t>Python 3.x</a:t>
            </a:r>
            <a:endParaRPr lang="en-US" b="1">
              <a:ea typeface="Calibri"/>
              <a:cs typeface="Calibri"/>
            </a:endParaRPr>
          </a:p>
        </p:txBody>
      </p:sp>
      <p:sp>
        <p:nvSpPr>
          <p:cNvPr id="7" name="Shape 5"/>
          <p:cNvSpPr/>
          <p:nvPr/>
        </p:nvSpPr>
        <p:spPr>
          <a:xfrm>
            <a:off x="2936796" y="4818697"/>
            <a:ext cx="1262012" cy="518160"/>
          </a:xfrm>
          <a:prstGeom prst="roundRect">
            <a:avLst>
              <a:gd name="adj" fmla="val 50000"/>
            </a:avLst>
          </a:prstGeom>
          <a:solidFill>
            <a:srgbClr val="F4F5FC"/>
          </a:solidFill>
          <a:ln w="7620">
            <a:solidFill>
              <a:srgbClr val="E1E3F0"/>
            </a:solidFill>
            <a:prstDash val="solid"/>
          </a:ln>
        </p:spPr>
      </p:sp>
      <p:sp>
        <p:nvSpPr>
          <p:cNvPr id="8" name="Text 6"/>
          <p:cNvSpPr/>
          <p:nvPr/>
        </p:nvSpPr>
        <p:spPr>
          <a:xfrm>
            <a:off x="3173016" y="4940617"/>
            <a:ext cx="1505307" cy="312420"/>
          </a:xfrm>
          <a:prstGeom prst="rect">
            <a:avLst/>
          </a:prstGeom>
          <a:noFill/>
          <a:ln/>
        </p:spPr>
        <p:txBody>
          <a:bodyPr wrap="square" lIns="25400" tIns="25400" rIns="25400" bIns="25400" rtlCol="0" anchor="t">
            <a:normAutofit lnSpcReduction="10000"/>
          </a:bodyPr>
          <a:lstStyle/>
          <a:p>
            <a:pPr marL="0" indent="0" algn="l">
              <a:buNone/>
            </a:pPr>
            <a:r>
              <a:rPr lang="en-US" sz="1850" b="1" err="1">
                <a:solidFill>
                  <a:srgbClr val="10101B"/>
                </a:solidFill>
                <a:ea typeface="+mn-lt"/>
                <a:cs typeface="+mn-lt"/>
              </a:rPr>
              <a:t>PyTorch</a:t>
            </a:r>
            <a:endParaRPr lang="en-US" b="1" err="1">
              <a:ea typeface="Calibri"/>
              <a:cs typeface="Calibri"/>
            </a:endParaRPr>
          </a:p>
        </p:txBody>
      </p:sp>
      <p:sp>
        <p:nvSpPr>
          <p:cNvPr id="9" name="Shape 7"/>
          <p:cNvSpPr/>
          <p:nvPr/>
        </p:nvSpPr>
        <p:spPr>
          <a:xfrm>
            <a:off x="4441015" y="4818697"/>
            <a:ext cx="1969072" cy="518160"/>
          </a:xfrm>
          <a:prstGeom prst="roundRect">
            <a:avLst>
              <a:gd name="adj" fmla="val 50000"/>
            </a:avLst>
          </a:prstGeom>
          <a:solidFill>
            <a:srgbClr val="F4F5FC"/>
          </a:solidFill>
          <a:ln w="7620">
            <a:solidFill>
              <a:srgbClr val="E1E3F0"/>
            </a:solidFill>
            <a:prstDash val="solid"/>
          </a:ln>
        </p:spPr>
      </p:sp>
      <p:sp>
        <p:nvSpPr>
          <p:cNvPr id="10" name="Text 8"/>
          <p:cNvSpPr/>
          <p:nvPr/>
        </p:nvSpPr>
        <p:spPr>
          <a:xfrm>
            <a:off x="4568378" y="4927009"/>
            <a:ext cx="1681689" cy="312420"/>
          </a:xfrm>
          <a:prstGeom prst="rect">
            <a:avLst/>
          </a:prstGeom>
          <a:noFill/>
          <a:ln/>
        </p:spPr>
        <p:txBody>
          <a:bodyPr wrap="square" lIns="25400" tIns="25400" rIns="25400" bIns="25400" rtlCol="0" anchor="t">
            <a:normAutofit lnSpcReduction="10000"/>
          </a:bodyPr>
          <a:lstStyle/>
          <a:p>
            <a:r>
              <a:rPr lang="en-US" sz="1850" b="1">
                <a:solidFill>
                  <a:srgbClr val="10101B"/>
                </a:solidFill>
                <a:ea typeface="+mn-lt"/>
                <a:cs typeface="+mn-lt"/>
              </a:rPr>
              <a:t>NumPy / pandas</a:t>
            </a:r>
            <a:endParaRPr lang="en-US" b="1">
              <a:ea typeface="Calibri"/>
              <a:cs typeface="Calibri"/>
            </a:endParaRPr>
          </a:p>
        </p:txBody>
      </p:sp>
      <p:sp>
        <p:nvSpPr>
          <p:cNvPr id="11" name="Shape 9"/>
          <p:cNvSpPr/>
          <p:nvPr/>
        </p:nvSpPr>
        <p:spPr>
          <a:xfrm>
            <a:off x="6543437" y="4818697"/>
            <a:ext cx="1975723" cy="518160"/>
          </a:xfrm>
          <a:prstGeom prst="roundRect">
            <a:avLst>
              <a:gd name="adj" fmla="val 50000"/>
            </a:avLst>
          </a:prstGeom>
          <a:solidFill>
            <a:srgbClr val="F4F5FC"/>
          </a:solidFill>
          <a:ln w="7620">
            <a:solidFill>
              <a:srgbClr val="E1E3F0"/>
            </a:solidFill>
            <a:prstDash val="solid"/>
          </a:ln>
        </p:spPr>
      </p:sp>
      <p:sp>
        <p:nvSpPr>
          <p:cNvPr id="12" name="Text 10"/>
          <p:cNvSpPr/>
          <p:nvPr/>
        </p:nvSpPr>
        <p:spPr>
          <a:xfrm>
            <a:off x="6779657" y="4940617"/>
            <a:ext cx="1810804" cy="312420"/>
          </a:xfrm>
          <a:prstGeom prst="rect">
            <a:avLst/>
          </a:prstGeom>
          <a:noFill/>
          <a:ln/>
        </p:spPr>
        <p:txBody>
          <a:bodyPr wrap="square" lIns="25400" tIns="25400" rIns="25400" bIns="25400" rtlCol="0" anchor="t">
            <a:normAutofit lnSpcReduction="10000"/>
          </a:bodyPr>
          <a:lstStyle/>
          <a:p>
            <a:r>
              <a:rPr lang="en-US" sz="1850" b="1">
                <a:solidFill>
                  <a:srgbClr val="10101B"/>
                </a:solidFill>
                <a:ea typeface="+mn-lt"/>
                <a:cs typeface="+mn-lt"/>
              </a:rPr>
              <a:t>CSV / JSON Logs</a:t>
            </a:r>
            <a:endParaRPr lang="en-US" b="1">
              <a:ea typeface="Calibri"/>
              <a:cs typeface="Calibri"/>
            </a:endParaRPr>
          </a:p>
        </p:txBody>
      </p:sp>
      <p:sp>
        <p:nvSpPr>
          <p:cNvPr id="13" name="Shape 11"/>
          <p:cNvSpPr/>
          <p:nvPr/>
        </p:nvSpPr>
        <p:spPr>
          <a:xfrm>
            <a:off x="1047750" y="5524635"/>
            <a:ext cx="2127663" cy="518160"/>
          </a:xfrm>
          <a:prstGeom prst="roundRect">
            <a:avLst>
              <a:gd name="adj" fmla="val 50000"/>
            </a:avLst>
          </a:prstGeom>
          <a:solidFill>
            <a:srgbClr val="F4F5FC"/>
          </a:solidFill>
          <a:ln w="7620">
            <a:solidFill>
              <a:srgbClr val="E1E3F0"/>
            </a:solidFill>
            <a:prstDash val="solid"/>
          </a:ln>
        </p:spPr>
      </p:sp>
      <p:sp>
        <p:nvSpPr>
          <p:cNvPr id="14" name="Text 12"/>
          <p:cNvSpPr/>
          <p:nvPr/>
        </p:nvSpPr>
        <p:spPr>
          <a:xfrm>
            <a:off x="1202326" y="5646556"/>
            <a:ext cx="1894710" cy="394064"/>
          </a:xfrm>
          <a:prstGeom prst="rect">
            <a:avLst/>
          </a:prstGeom>
          <a:noFill/>
          <a:ln/>
        </p:spPr>
        <p:txBody>
          <a:bodyPr wrap="square" lIns="25400" tIns="25400" rIns="25400" bIns="25400" rtlCol="0" anchor="t">
            <a:normAutofit/>
          </a:bodyPr>
          <a:lstStyle/>
          <a:p>
            <a:r>
              <a:rPr lang="en-US" sz="1850" b="1">
                <a:solidFill>
                  <a:srgbClr val="10101B"/>
                </a:solidFill>
                <a:ea typeface="+mn-lt"/>
                <a:cs typeface="+mn-lt"/>
              </a:rPr>
              <a:t>Matplotlib / CUDA</a:t>
            </a:r>
            <a:endParaRPr lang="en-US" b="1">
              <a:ea typeface="Calibri"/>
              <a:cs typeface="Calibri"/>
            </a:endParaRPr>
          </a:p>
        </p:txBody>
      </p:sp>
      <p:sp>
        <p:nvSpPr>
          <p:cNvPr id="15" name="Text 13"/>
          <p:cNvSpPr/>
          <p:nvPr/>
        </p:nvSpPr>
        <p:spPr>
          <a:xfrm>
            <a:off x="1047750" y="6546261"/>
            <a:ext cx="8009368" cy="1816553"/>
          </a:xfrm>
          <a:prstGeom prst="rect">
            <a:avLst/>
          </a:prstGeom>
          <a:noFill/>
          <a:ln/>
        </p:spPr>
        <p:txBody>
          <a:bodyPr wrap="square" lIns="25400" tIns="25400" rIns="25400" bIns="25400" rtlCol="0" anchor="t">
            <a:normAutofit/>
          </a:bodyPr>
          <a:lstStyle/>
          <a:p>
            <a:r>
              <a:rPr lang="en-US" sz="2100" b="1" dirty="0">
                <a:solidFill>
                  <a:srgbClr val="10101B"/>
                </a:solidFill>
                <a:ea typeface="+mn-lt"/>
                <a:cs typeface="+mn-lt"/>
              </a:rPr>
              <a:t>Separation of Validation and Test Data:</a:t>
            </a:r>
            <a:r>
              <a:rPr lang="en-US" sz="2100" dirty="0">
                <a:solidFill>
                  <a:srgbClr val="10101B"/>
                </a:solidFill>
                <a:ea typeface="+mn-lt"/>
                <a:cs typeface="+mn-lt"/>
              </a:rPr>
              <a:t> The temperature parameter </a:t>
            </a:r>
            <a:r>
              <a:rPr lang="en-US" sz="2100" i="1" dirty="0">
                <a:solidFill>
                  <a:srgbClr val="10101B"/>
                </a:solidFill>
                <a:ea typeface="+mn-lt"/>
                <a:cs typeface="+mn-lt"/>
              </a:rPr>
              <a:t>T</a:t>
            </a:r>
            <a:r>
              <a:rPr lang="en-US" sz="2100" dirty="0">
                <a:solidFill>
                  <a:srgbClr val="10101B"/>
                </a:solidFill>
                <a:ea typeface="+mn-lt"/>
                <a:cs typeface="+mn-lt"/>
              </a:rPr>
              <a:t> is optimized exclusively using validation data via negative log likelihood minimization, ensuring that held out test set logits remain completely unexposed during calibration. </a:t>
            </a:r>
            <a:endParaRPr lang="en-US" sz="2100" dirty="0">
              <a:ea typeface="Calibri" panose="020F0502020204030204"/>
              <a:cs typeface="Calibri" panose="020F0502020204030204"/>
            </a:endParaRPr>
          </a:p>
        </p:txBody>
      </p:sp>
      <p:sp>
        <p:nvSpPr>
          <p:cNvPr id="16" name="Shape 14"/>
          <p:cNvSpPr/>
          <p:nvPr/>
        </p:nvSpPr>
        <p:spPr>
          <a:xfrm>
            <a:off x="9477375" y="641985"/>
            <a:ext cx="7762875" cy="8368392"/>
          </a:xfrm>
          <a:prstGeom prst="roundRect">
            <a:avLst>
              <a:gd name="adj" fmla="val 4737"/>
            </a:avLst>
          </a:prstGeom>
          <a:solidFill>
            <a:srgbClr val="10101B"/>
          </a:solidFill>
          <a:ln/>
        </p:spPr>
      </p:sp>
      <p:sp>
        <p:nvSpPr>
          <p:cNvPr id="17" name="Text 15"/>
          <p:cNvSpPr/>
          <p:nvPr/>
        </p:nvSpPr>
        <p:spPr>
          <a:xfrm>
            <a:off x="9749517" y="1036593"/>
            <a:ext cx="7224509" cy="7565299"/>
          </a:xfrm>
          <a:prstGeom prst="rect">
            <a:avLst/>
          </a:prstGeom>
          <a:noFill/>
          <a:ln/>
        </p:spPr>
        <p:txBody>
          <a:bodyPr wrap="square" lIns="25400" tIns="25400" rIns="25400" bIns="25400" rtlCol="0" anchor="t">
            <a:normAutofit fontScale="77500" lnSpcReduction="20000"/>
          </a:bodyPr>
          <a:lstStyle/>
          <a:p>
            <a:pPr>
              <a:lnSpc>
                <a:spcPct val="150806"/>
              </a:lnSpc>
            </a:pPr>
            <a:r>
              <a:rPr lang="en-US" sz="1650">
                <a:solidFill>
                  <a:schemeClr val="bg2">
                    <a:lumMod val="76000"/>
                  </a:schemeClr>
                </a:solidFill>
                <a:latin typeface="Courier New"/>
                <a:cs typeface="Courier New"/>
              </a:rPr>
              <a:t># Key Temperature Scaling Pseudocode (Guo et al.)</a:t>
            </a:r>
            <a:endParaRPr lang="en-US">
              <a:solidFill>
                <a:schemeClr val="bg2">
                  <a:lumMod val="76000"/>
                </a:schemeClr>
              </a:solidFill>
              <a:ea typeface="Calibri"/>
              <a:cs typeface="Calibri"/>
            </a:endParaRPr>
          </a:p>
          <a:p>
            <a:pPr>
              <a:lnSpc>
                <a:spcPct val="150806"/>
              </a:lnSpc>
            </a:pPr>
            <a:r>
              <a:rPr lang="en-US" sz="1650">
                <a:solidFill>
                  <a:schemeClr val="accent1">
                    <a:lumMod val="60000"/>
                    <a:lumOff val="40000"/>
                  </a:schemeClr>
                </a:solidFill>
                <a:latin typeface="Courier New"/>
                <a:cs typeface="Courier New"/>
              </a:rPr>
              <a:t>import</a:t>
            </a:r>
            <a:r>
              <a:rPr lang="en-US" sz="1650">
                <a:solidFill>
                  <a:schemeClr val="bg1"/>
                </a:solidFill>
                <a:latin typeface="Courier New"/>
                <a:cs typeface="Courier New"/>
              </a:rPr>
              <a:t> torch</a:t>
            </a:r>
            <a:endParaRPr lang="en-US">
              <a:solidFill>
                <a:schemeClr val="bg1"/>
              </a:solidFill>
              <a:ea typeface="Calibri"/>
              <a:cs typeface="Calibri"/>
            </a:endParaRPr>
          </a:p>
          <a:p>
            <a:pPr>
              <a:lnSpc>
                <a:spcPct val="150806"/>
              </a:lnSpc>
            </a:pPr>
            <a:r>
              <a:rPr lang="en-US" sz="1650">
                <a:solidFill>
                  <a:schemeClr val="accent1">
                    <a:lumMod val="60000"/>
                    <a:lumOff val="40000"/>
                  </a:schemeClr>
                </a:solidFill>
                <a:latin typeface="Courier New"/>
                <a:cs typeface="Courier New"/>
              </a:rPr>
              <a:t>import</a:t>
            </a:r>
            <a:r>
              <a:rPr lang="en-US" sz="1650">
                <a:solidFill>
                  <a:schemeClr val="bg1"/>
                </a:solidFill>
                <a:latin typeface="Courier New"/>
                <a:cs typeface="Courier New"/>
              </a:rPr>
              <a:t> </a:t>
            </a:r>
            <a:r>
              <a:rPr lang="en-US" sz="1650" err="1">
                <a:solidFill>
                  <a:schemeClr val="bg1"/>
                </a:solidFill>
                <a:latin typeface="Courier New"/>
                <a:cs typeface="Courier New"/>
              </a:rPr>
              <a:t>torch.nn</a:t>
            </a:r>
            <a:r>
              <a:rPr lang="en-US" sz="1650">
                <a:solidFill>
                  <a:schemeClr val="bg1"/>
                </a:solidFill>
                <a:latin typeface="Courier New"/>
                <a:cs typeface="Courier New"/>
              </a:rPr>
              <a:t> </a:t>
            </a:r>
            <a:r>
              <a:rPr lang="en-US" sz="1650">
                <a:solidFill>
                  <a:schemeClr val="accent1">
                    <a:lumMod val="60000"/>
                    <a:lumOff val="40000"/>
                  </a:schemeClr>
                </a:solidFill>
                <a:latin typeface="Courier New"/>
                <a:cs typeface="Courier New"/>
              </a:rPr>
              <a:t>as</a:t>
            </a:r>
            <a:r>
              <a:rPr lang="en-US" sz="1650">
                <a:solidFill>
                  <a:schemeClr val="bg1"/>
                </a:solidFill>
                <a:latin typeface="Courier New"/>
                <a:cs typeface="Courier New"/>
              </a:rPr>
              <a:t> </a:t>
            </a:r>
            <a:r>
              <a:rPr lang="en-US" sz="1650" err="1">
                <a:solidFill>
                  <a:schemeClr val="bg1"/>
                </a:solidFill>
                <a:latin typeface="Courier New"/>
                <a:cs typeface="Courier New"/>
              </a:rPr>
              <a:t>nn</a:t>
            </a:r>
            <a:endParaRPr lang="en-US">
              <a:solidFill>
                <a:schemeClr val="bg1"/>
              </a:solidFill>
              <a:ea typeface="Calibri"/>
              <a:cs typeface="Calibri"/>
            </a:endParaRPr>
          </a:p>
          <a:p>
            <a:pPr>
              <a:lnSpc>
                <a:spcPct val="150806"/>
              </a:lnSpc>
            </a:pPr>
            <a:r>
              <a:rPr lang="en-US" sz="1650">
                <a:solidFill>
                  <a:schemeClr val="accent1">
                    <a:lumMod val="60000"/>
                    <a:lumOff val="40000"/>
                  </a:schemeClr>
                </a:solidFill>
                <a:latin typeface="Courier New"/>
                <a:cs typeface="Courier New"/>
              </a:rPr>
              <a:t>import</a:t>
            </a:r>
            <a:r>
              <a:rPr lang="en-US" sz="1650">
                <a:solidFill>
                  <a:schemeClr val="bg1"/>
                </a:solidFill>
                <a:latin typeface="Courier New"/>
                <a:cs typeface="Courier New"/>
              </a:rPr>
              <a:t> </a:t>
            </a:r>
            <a:r>
              <a:rPr lang="en-US" sz="1650" err="1">
                <a:solidFill>
                  <a:schemeClr val="bg1"/>
                </a:solidFill>
                <a:latin typeface="Courier New"/>
                <a:cs typeface="Courier New"/>
              </a:rPr>
              <a:t>torch.optim</a:t>
            </a:r>
            <a:r>
              <a:rPr lang="en-US" sz="1650">
                <a:solidFill>
                  <a:schemeClr val="bg1"/>
                </a:solidFill>
                <a:latin typeface="Courier New"/>
                <a:cs typeface="Courier New"/>
              </a:rPr>
              <a:t> </a:t>
            </a:r>
            <a:r>
              <a:rPr lang="en-US" sz="1650">
                <a:solidFill>
                  <a:schemeClr val="accent1">
                    <a:lumMod val="60000"/>
                    <a:lumOff val="40000"/>
                  </a:schemeClr>
                </a:solidFill>
                <a:latin typeface="Courier New"/>
                <a:cs typeface="Courier New"/>
              </a:rPr>
              <a:t>as</a:t>
            </a:r>
            <a:r>
              <a:rPr lang="en-US" sz="1650">
                <a:solidFill>
                  <a:schemeClr val="bg1"/>
                </a:solidFill>
                <a:latin typeface="Courier New"/>
                <a:cs typeface="Courier New"/>
              </a:rPr>
              <a:t> </a:t>
            </a:r>
            <a:r>
              <a:rPr lang="en-US" sz="1650" err="1">
                <a:solidFill>
                  <a:schemeClr val="bg1"/>
                </a:solidFill>
                <a:latin typeface="Courier New"/>
                <a:cs typeface="Courier New"/>
              </a:rPr>
              <a:t>optim</a:t>
            </a:r>
            <a:endParaRPr lang="en-US">
              <a:solidFill>
                <a:schemeClr val="bg1"/>
              </a:solidFill>
              <a:ea typeface="Calibri"/>
              <a:cs typeface="Calibri"/>
            </a:endParaRPr>
          </a:p>
          <a:p>
            <a:pPr>
              <a:lnSpc>
                <a:spcPct val="150806"/>
              </a:lnSpc>
            </a:pPr>
            <a:endParaRPr lang="en-US">
              <a:solidFill>
                <a:schemeClr val="bg1"/>
              </a:solidFill>
              <a:ea typeface="Calibri"/>
              <a:cs typeface="Calibri"/>
            </a:endParaRPr>
          </a:p>
          <a:p>
            <a:pPr>
              <a:lnSpc>
                <a:spcPct val="150806"/>
              </a:lnSpc>
            </a:pPr>
            <a:r>
              <a:rPr lang="en-US" sz="1650">
                <a:solidFill>
                  <a:schemeClr val="accent1">
                    <a:lumMod val="60000"/>
                    <a:lumOff val="40000"/>
                  </a:schemeClr>
                </a:solidFill>
                <a:latin typeface="Courier New"/>
                <a:cs typeface="Courier New"/>
              </a:rPr>
              <a:t>def </a:t>
            </a:r>
            <a:r>
              <a:rPr lang="en-US" sz="1650" err="1">
                <a:solidFill>
                  <a:srgbClr val="FFFF00"/>
                </a:solidFill>
                <a:latin typeface="Courier New"/>
                <a:cs typeface="Courier New"/>
              </a:rPr>
              <a:t>calibrate_logits</a:t>
            </a:r>
            <a:r>
              <a:rPr lang="en-US" sz="1650">
                <a:solidFill>
                  <a:schemeClr val="bg1"/>
                </a:solidFill>
                <a:latin typeface="Courier New"/>
                <a:cs typeface="Courier New"/>
              </a:rPr>
              <a:t>(logits, temperature):</a:t>
            </a:r>
            <a:endParaRPr lang="en-US">
              <a:solidFill>
                <a:schemeClr val="bg1"/>
              </a:solidFill>
              <a:ea typeface="Calibri"/>
              <a:cs typeface="Calibri"/>
            </a:endParaRPr>
          </a:p>
          <a:p>
            <a:pPr>
              <a:lnSpc>
                <a:spcPct val="150806"/>
              </a:lnSpc>
            </a:pPr>
            <a:r>
              <a:rPr lang="en-US" sz="1650">
                <a:solidFill>
                  <a:schemeClr val="bg1"/>
                </a:solidFill>
                <a:latin typeface="Courier New"/>
                <a:cs typeface="Courier New"/>
              </a:rPr>
              <a:t>   </a:t>
            </a:r>
            <a:r>
              <a:rPr lang="en-US" sz="1650">
                <a:solidFill>
                  <a:srgbClr val="00B050"/>
                </a:solidFill>
                <a:latin typeface="Courier New"/>
                <a:cs typeface="Courier New"/>
              </a:rPr>
              <a:t> """</a:t>
            </a:r>
            <a:endParaRPr lang="en-US">
              <a:solidFill>
                <a:srgbClr val="00B050"/>
              </a:solidFill>
              <a:ea typeface="Calibri"/>
              <a:cs typeface="Calibri"/>
            </a:endParaRPr>
          </a:p>
          <a:p>
            <a:pPr>
              <a:lnSpc>
                <a:spcPct val="150806"/>
              </a:lnSpc>
            </a:pPr>
            <a:r>
              <a:rPr lang="en-US" sz="1650">
                <a:solidFill>
                  <a:srgbClr val="00B050"/>
                </a:solidFill>
                <a:latin typeface="Courier New"/>
                <a:cs typeface="Courier New"/>
              </a:rPr>
              <a:t>    Applies temperature scaling to raw model logits.</a:t>
            </a:r>
            <a:endParaRPr lang="en-US">
              <a:solidFill>
                <a:srgbClr val="00B050"/>
              </a:solidFill>
              <a:ea typeface="Calibri"/>
              <a:cs typeface="Calibri"/>
            </a:endParaRPr>
          </a:p>
          <a:p>
            <a:pPr>
              <a:lnSpc>
                <a:spcPct val="150806"/>
              </a:lnSpc>
            </a:pPr>
            <a:r>
              <a:rPr lang="en-US" sz="1650">
                <a:solidFill>
                  <a:srgbClr val="00B050"/>
                </a:solidFill>
                <a:latin typeface="Courier New"/>
                <a:cs typeface="Courier New"/>
              </a:rPr>
              <a:t>    Equation: </a:t>
            </a:r>
            <a:r>
              <a:rPr lang="en-US" sz="1650" err="1">
                <a:solidFill>
                  <a:srgbClr val="00B050"/>
                </a:solidFill>
                <a:latin typeface="Courier New"/>
                <a:cs typeface="Courier New"/>
              </a:rPr>
              <a:t>p_i</a:t>
            </a:r>
            <a:r>
              <a:rPr lang="en-US" sz="1650">
                <a:solidFill>
                  <a:srgbClr val="00B050"/>
                </a:solidFill>
                <a:latin typeface="Courier New"/>
                <a:cs typeface="Courier New"/>
              </a:rPr>
              <a:t>(T) = exp(</a:t>
            </a:r>
            <a:r>
              <a:rPr lang="en-US" sz="1650" err="1">
                <a:solidFill>
                  <a:srgbClr val="00B050"/>
                </a:solidFill>
                <a:latin typeface="Courier New"/>
                <a:cs typeface="Courier New"/>
              </a:rPr>
              <a:t>z_i</a:t>
            </a:r>
            <a:r>
              <a:rPr lang="en-US" sz="1650">
                <a:solidFill>
                  <a:srgbClr val="00B050"/>
                </a:solidFill>
                <a:latin typeface="Courier New"/>
                <a:cs typeface="Courier New"/>
              </a:rPr>
              <a:t> / T) / </a:t>
            </a:r>
            <a:r>
              <a:rPr lang="en-US" sz="1650" err="1">
                <a:solidFill>
                  <a:srgbClr val="00B050"/>
                </a:solidFill>
                <a:latin typeface="Courier New"/>
                <a:cs typeface="Courier New"/>
              </a:rPr>
              <a:t>sum_j</a:t>
            </a:r>
            <a:r>
              <a:rPr lang="en-US" sz="1650">
                <a:solidFill>
                  <a:srgbClr val="00B050"/>
                </a:solidFill>
                <a:latin typeface="Courier New"/>
                <a:cs typeface="Courier New"/>
              </a:rPr>
              <a:t> exp(</a:t>
            </a:r>
            <a:r>
              <a:rPr lang="en-US" sz="1650" err="1">
                <a:solidFill>
                  <a:srgbClr val="00B050"/>
                </a:solidFill>
                <a:latin typeface="Courier New"/>
                <a:cs typeface="Courier New"/>
              </a:rPr>
              <a:t>z_j</a:t>
            </a:r>
            <a:r>
              <a:rPr lang="en-US" sz="1650">
                <a:solidFill>
                  <a:srgbClr val="00B050"/>
                </a:solidFill>
                <a:latin typeface="Courier New"/>
                <a:cs typeface="Courier New"/>
              </a:rPr>
              <a:t> / T)</a:t>
            </a:r>
            <a:endParaRPr lang="en-US">
              <a:solidFill>
                <a:srgbClr val="00B050"/>
              </a:solidFill>
              <a:ea typeface="Calibri"/>
              <a:cs typeface="Calibri"/>
            </a:endParaRPr>
          </a:p>
          <a:p>
            <a:pPr>
              <a:lnSpc>
                <a:spcPct val="150806"/>
              </a:lnSpc>
            </a:pPr>
            <a:r>
              <a:rPr lang="en-US" sz="1650">
                <a:solidFill>
                  <a:srgbClr val="00B050"/>
                </a:solidFill>
                <a:latin typeface="Courier New"/>
                <a:cs typeface="Courier New"/>
              </a:rPr>
              <a:t>    """</a:t>
            </a:r>
            <a:endParaRPr lang="en-US">
              <a:solidFill>
                <a:srgbClr val="00B050"/>
              </a:solidFill>
              <a:ea typeface="Calibri"/>
              <a:cs typeface="Calibri"/>
            </a:endParaRPr>
          </a:p>
          <a:p>
            <a:pPr>
              <a:lnSpc>
                <a:spcPct val="150806"/>
              </a:lnSpc>
            </a:pPr>
            <a:r>
              <a:rPr lang="en-US" sz="1650">
                <a:solidFill>
                  <a:schemeClr val="bg1"/>
                </a:solidFill>
                <a:latin typeface="Courier New"/>
                <a:cs typeface="Courier New"/>
              </a:rPr>
              <a:t>    </a:t>
            </a:r>
            <a:r>
              <a:rPr lang="en-US" sz="1650">
                <a:solidFill>
                  <a:schemeClr val="accent1">
                    <a:lumMod val="60000"/>
                    <a:lumOff val="40000"/>
                  </a:schemeClr>
                </a:solidFill>
                <a:latin typeface="Courier New"/>
                <a:cs typeface="Courier New"/>
              </a:rPr>
              <a:t>return</a:t>
            </a:r>
            <a:r>
              <a:rPr lang="en-US" sz="1650">
                <a:solidFill>
                  <a:schemeClr val="bg1"/>
                </a:solidFill>
                <a:latin typeface="Courier New"/>
                <a:cs typeface="Courier New"/>
              </a:rPr>
              <a:t> logits / temperature</a:t>
            </a:r>
            <a:endParaRPr lang="en-US">
              <a:solidFill>
                <a:schemeClr val="bg1"/>
              </a:solidFill>
              <a:ea typeface="Calibri"/>
              <a:cs typeface="Calibri"/>
            </a:endParaRPr>
          </a:p>
          <a:p>
            <a:pPr>
              <a:lnSpc>
                <a:spcPct val="150806"/>
              </a:lnSpc>
            </a:pPr>
            <a:endParaRPr lang="en-US">
              <a:solidFill>
                <a:schemeClr val="bg1"/>
              </a:solidFill>
              <a:ea typeface="Calibri"/>
              <a:cs typeface="Calibri"/>
            </a:endParaRPr>
          </a:p>
          <a:p>
            <a:pPr>
              <a:lnSpc>
                <a:spcPct val="150806"/>
              </a:lnSpc>
            </a:pPr>
            <a:r>
              <a:rPr lang="en-US" sz="1650">
                <a:solidFill>
                  <a:schemeClr val="accent1">
                    <a:lumMod val="60000"/>
                    <a:lumOff val="40000"/>
                  </a:schemeClr>
                </a:solidFill>
                <a:latin typeface="Courier New"/>
                <a:cs typeface="Courier New"/>
              </a:rPr>
              <a:t>def</a:t>
            </a:r>
            <a:r>
              <a:rPr lang="en-US" sz="1650">
                <a:solidFill>
                  <a:schemeClr val="bg1"/>
                </a:solidFill>
                <a:latin typeface="Courier New"/>
                <a:cs typeface="Courier New"/>
              </a:rPr>
              <a:t> </a:t>
            </a:r>
            <a:r>
              <a:rPr lang="en-US" sz="1650" err="1">
                <a:solidFill>
                  <a:srgbClr val="FFFF00"/>
                </a:solidFill>
                <a:latin typeface="Courier New"/>
                <a:cs typeface="Courier New"/>
              </a:rPr>
              <a:t>fit_temperature</a:t>
            </a:r>
            <a:r>
              <a:rPr lang="en-US" sz="1650">
                <a:solidFill>
                  <a:schemeClr val="bg1"/>
                </a:solidFill>
                <a:latin typeface="Courier New"/>
                <a:cs typeface="Courier New"/>
              </a:rPr>
              <a:t>(</a:t>
            </a:r>
            <a:r>
              <a:rPr lang="en-US" sz="1650" err="1">
                <a:solidFill>
                  <a:schemeClr val="bg1"/>
                </a:solidFill>
                <a:latin typeface="Courier New"/>
                <a:cs typeface="Courier New"/>
              </a:rPr>
              <a:t>val_logits</a:t>
            </a:r>
            <a:r>
              <a:rPr lang="en-US" sz="1650">
                <a:solidFill>
                  <a:schemeClr val="bg1"/>
                </a:solidFill>
                <a:latin typeface="Courier New"/>
                <a:cs typeface="Courier New"/>
              </a:rPr>
              <a:t>, </a:t>
            </a:r>
            <a:r>
              <a:rPr lang="en-US" sz="1650" err="1">
                <a:solidFill>
                  <a:schemeClr val="bg1"/>
                </a:solidFill>
                <a:latin typeface="Courier New"/>
                <a:cs typeface="Courier New"/>
              </a:rPr>
              <a:t>val_labels</a:t>
            </a:r>
            <a:r>
              <a:rPr lang="en-US" sz="1650">
                <a:solidFill>
                  <a:schemeClr val="bg1"/>
                </a:solidFill>
                <a:latin typeface="Courier New"/>
                <a:cs typeface="Courier New"/>
              </a:rPr>
              <a:t>):</a:t>
            </a:r>
            <a:endParaRPr lang="en-US">
              <a:solidFill>
                <a:schemeClr val="bg1"/>
              </a:solidFill>
              <a:ea typeface="Calibri"/>
              <a:cs typeface="Calibri"/>
            </a:endParaRPr>
          </a:p>
          <a:p>
            <a:pPr>
              <a:lnSpc>
                <a:spcPct val="150806"/>
              </a:lnSpc>
            </a:pPr>
            <a:r>
              <a:rPr lang="en-US" sz="1650">
                <a:solidFill>
                  <a:schemeClr val="bg1"/>
                </a:solidFill>
                <a:latin typeface="Courier New"/>
                <a:cs typeface="Courier New"/>
              </a:rPr>
              <a:t>    </a:t>
            </a:r>
            <a:r>
              <a:rPr lang="en-US" sz="1650">
                <a:solidFill>
                  <a:schemeClr val="bg2">
                    <a:lumMod val="76000"/>
                  </a:schemeClr>
                </a:solidFill>
                <a:latin typeface="Courier New"/>
                <a:cs typeface="Courier New"/>
              </a:rPr>
              <a:t># Initialize temperature parameter T &gt; 0</a:t>
            </a:r>
            <a:endParaRPr lang="en-US">
              <a:solidFill>
                <a:schemeClr val="bg2">
                  <a:lumMod val="76000"/>
                </a:schemeClr>
              </a:solidFill>
              <a:ea typeface="Calibri"/>
              <a:cs typeface="Calibri"/>
            </a:endParaRPr>
          </a:p>
          <a:p>
            <a:pPr>
              <a:lnSpc>
                <a:spcPct val="150806"/>
              </a:lnSpc>
            </a:pPr>
            <a:r>
              <a:rPr lang="en-US" sz="1650">
                <a:solidFill>
                  <a:schemeClr val="bg1"/>
                </a:solidFill>
                <a:latin typeface="Courier New"/>
                <a:cs typeface="Courier New"/>
              </a:rPr>
              <a:t>    temperature = </a:t>
            </a:r>
            <a:r>
              <a:rPr lang="en-US" sz="1650" err="1">
                <a:solidFill>
                  <a:schemeClr val="bg1"/>
                </a:solidFill>
                <a:latin typeface="Courier New"/>
                <a:cs typeface="Courier New"/>
              </a:rPr>
              <a:t>nn.Parameter</a:t>
            </a:r>
            <a:r>
              <a:rPr lang="en-US" sz="1650">
                <a:solidFill>
                  <a:schemeClr val="bg1"/>
                </a:solidFill>
                <a:latin typeface="Courier New"/>
                <a:cs typeface="Courier New"/>
              </a:rPr>
              <a:t>(</a:t>
            </a:r>
            <a:r>
              <a:rPr lang="en-US" sz="1650" err="1">
                <a:solidFill>
                  <a:schemeClr val="bg1"/>
                </a:solidFill>
                <a:latin typeface="Courier New"/>
                <a:cs typeface="Courier New"/>
              </a:rPr>
              <a:t>torch.ones</a:t>
            </a:r>
            <a:r>
              <a:rPr lang="en-US" sz="1650">
                <a:solidFill>
                  <a:schemeClr val="bg1"/>
                </a:solidFill>
                <a:latin typeface="Courier New"/>
                <a:cs typeface="Courier New"/>
              </a:rPr>
              <a:t>(1) * 1.5)</a:t>
            </a:r>
            <a:endParaRPr lang="en-US">
              <a:solidFill>
                <a:schemeClr val="bg1"/>
              </a:solidFill>
              <a:ea typeface="Calibri"/>
              <a:cs typeface="Calibri"/>
            </a:endParaRPr>
          </a:p>
          <a:p>
            <a:pPr>
              <a:lnSpc>
                <a:spcPct val="150806"/>
              </a:lnSpc>
            </a:pPr>
            <a:r>
              <a:rPr lang="en-US" sz="1650">
                <a:solidFill>
                  <a:schemeClr val="bg1"/>
                </a:solidFill>
                <a:latin typeface="Courier New"/>
                <a:cs typeface="Courier New"/>
              </a:rPr>
              <a:t>    criterion = </a:t>
            </a:r>
            <a:r>
              <a:rPr lang="en-US" sz="1650" err="1">
                <a:solidFill>
                  <a:schemeClr val="bg1"/>
                </a:solidFill>
                <a:latin typeface="Courier New"/>
                <a:cs typeface="Courier New"/>
              </a:rPr>
              <a:t>nn.CrossEntropyLoss</a:t>
            </a:r>
            <a:r>
              <a:rPr lang="en-US" sz="1650">
                <a:solidFill>
                  <a:schemeClr val="bg1"/>
                </a:solidFill>
                <a:latin typeface="Courier New"/>
                <a:cs typeface="Courier New"/>
              </a:rPr>
              <a:t>()</a:t>
            </a:r>
            <a:endParaRPr lang="en-US">
              <a:solidFill>
                <a:schemeClr val="bg1"/>
              </a:solidFill>
              <a:ea typeface="Calibri"/>
              <a:cs typeface="Calibri"/>
            </a:endParaRPr>
          </a:p>
          <a:p>
            <a:pPr>
              <a:lnSpc>
                <a:spcPct val="150806"/>
              </a:lnSpc>
            </a:pPr>
            <a:r>
              <a:rPr lang="en-US" sz="1650">
                <a:solidFill>
                  <a:schemeClr val="bg1"/>
                </a:solidFill>
                <a:latin typeface="Courier New"/>
                <a:cs typeface="Courier New"/>
              </a:rPr>
              <a:t>    optimizer = </a:t>
            </a:r>
            <a:r>
              <a:rPr lang="en-US" sz="1650" err="1">
                <a:solidFill>
                  <a:schemeClr val="bg1"/>
                </a:solidFill>
                <a:latin typeface="Courier New"/>
                <a:cs typeface="Courier New"/>
              </a:rPr>
              <a:t>optim.LBFGS</a:t>
            </a:r>
            <a:r>
              <a:rPr lang="en-US" sz="1650">
                <a:solidFill>
                  <a:schemeClr val="bg1"/>
                </a:solidFill>
                <a:latin typeface="Courier New"/>
                <a:cs typeface="Courier New"/>
              </a:rPr>
              <a:t>([temperature], </a:t>
            </a:r>
            <a:r>
              <a:rPr lang="en-US" sz="1650" err="1">
                <a:solidFill>
                  <a:schemeClr val="bg1"/>
                </a:solidFill>
                <a:latin typeface="Courier New"/>
                <a:cs typeface="Courier New"/>
              </a:rPr>
              <a:t>lr</a:t>
            </a:r>
            <a:r>
              <a:rPr lang="en-US" sz="1650">
                <a:solidFill>
                  <a:schemeClr val="bg1"/>
                </a:solidFill>
                <a:latin typeface="Courier New"/>
                <a:cs typeface="Courier New"/>
              </a:rPr>
              <a:t>=0.01, </a:t>
            </a:r>
            <a:r>
              <a:rPr lang="en-US" sz="1650" err="1">
                <a:solidFill>
                  <a:schemeClr val="bg1"/>
                </a:solidFill>
                <a:latin typeface="Courier New"/>
                <a:cs typeface="Courier New"/>
              </a:rPr>
              <a:t>max_iter</a:t>
            </a:r>
            <a:r>
              <a:rPr lang="en-US" sz="1650">
                <a:solidFill>
                  <a:schemeClr val="bg1"/>
                </a:solidFill>
                <a:latin typeface="Courier New"/>
                <a:cs typeface="Courier New"/>
              </a:rPr>
              <a:t>=50)</a:t>
            </a:r>
            <a:endParaRPr lang="en-US">
              <a:solidFill>
                <a:schemeClr val="bg1"/>
              </a:solidFill>
              <a:ea typeface="Calibri"/>
              <a:cs typeface="Calibri"/>
            </a:endParaRPr>
          </a:p>
          <a:p>
            <a:pPr>
              <a:lnSpc>
                <a:spcPct val="150806"/>
              </a:lnSpc>
            </a:pPr>
            <a:endParaRPr lang="en-US">
              <a:solidFill>
                <a:schemeClr val="bg1"/>
              </a:solidFill>
              <a:ea typeface="Calibri"/>
              <a:cs typeface="Calibri"/>
            </a:endParaRPr>
          </a:p>
          <a:p>
            <a:pPr>
              <a:lnSpc>
                <a:spcPct val="150806"/>
              </a:lnSpc>
            </a:pPr>
            <a:r>
              <a:rPr lang="en-US" sz="1650">
                <a:solidFill>
                  <a:schemeClr val="bg1"/>
                </a:solidFill>
                <a:latin typeface="Courier New"/>
                <a:cs typeface="Courier New"/>
              </a:rPr>
              <a:t>    </a:t>
            </a:r>
            <a:r>
              <a:rPr lang="en-US" sz="1650">
                <a:solidFill>
                  <a:schemeClr val="accent1">
                    <a:lumMod val="60000"/>
                    <a:lumOff val="40000"/>
                  </a:schemeClr>
                </a:solidFill>
                <a:latin typeface="Courier New"/>
                <a:cs typeface="Courier New"/>
              </a:rPr>
              <a:t>def</a:t>
            </a:r>
            <a:r>
              <a:rPr lang="en-US" sz="1650">
                <a:solidFill>
                  <a:schemeClr val="bg1"/>
                </a:solidFill>
                <a:latin typeface="Courier New"/>
                <a:cs typeface="Courier New"/>
              </a:rPr>
              <a:t> </a:t>
            </a:r>
            <a:r>
              <a:rPr lang="en-US" sz="1650" err="1">
                <a:solidFill>
                  <a:srgbClr val="FFFF00"/>
                </a:solidFill>
                <a:latin typeface="Courier New"/>
                <a:cs typeface="Courier New"/>
              </a:rPr>
              <a:t>eval_loss</a:t>
            </a:r>
            <a:r>
              <a:rPr lang="en-US" sz="1650">
                <a:solidFill>
                  <a:schemeClr val="bg1"/>
                </a:solidFill>
                <a:latin typeface="Courier New"/>
                <a:cs typeface="Courier New"/>
              </a:rPr>
              <a:t>():</a:t>
            </a:r>
            <a:endParaRPr lang="en-US">
              <a:solidFill>
                <a:schemeClr val="bg1"/>
              </a:solidFill>
              <a:ea typeface="Calibri"/>
              <a:cs typeface="Calibri"/>
            </a:endParaRPr>
          </a:p>
          <a:p>
            <a:pPr>
              <a:lnSpc>
                <a:spcPct val="150806"/>
              </a:lnSpc>
            </a:pPr>
            <a:r>
              <a:rPr lang="en-US" sz="1650">
                <a:solidFill>
                  <a:schemeClr val="bg1"/>
                </a:solidFill>
                <a:latin typeface="Courier New"/>
                <a:cs typeface="Courier New"/>
              </a:rPr>
              <a:t>        </a:t>
            </a:r>
            <a:r>
              <a:rPr lang="en-US" sz="1650" err="1">
                <a:solidFill>
                  <a:schemeClr val="bg1"/>
                </a:solidFill>
                <a:latin typeface="Courier New"/>
                <a:cs typeface="Courier New"/>
              </a:rPr>
              <a:t>optimizer.zero_grad</a:t>
            </a:r>
            <a:r>
              <a:rPr lang="en-US" sz="1650">
                <a:solidFill>
                  <a:schemeClr val="bg1"/>
                </a:solidFill>
                <a:latin typeface="Courier New"/>
                <a:cs typeface="Courier New"/>
              </a:rPr>
              <a:t>()</a:t>
            </a:r>
            <a:endParaRPr lang="en-US">
              <a:solidFill>
                <a:schemeClr val="bg1"/>
              </a:solidFill>
              <a:ea typeface="Calibri"/>
              <a:cs typeface="Calibri"/>
            </a:endParaRPr>
          </a:p>
          <a:p>
            <a:pPr>
              <a:lnSpc>
                <a:spcPct val="150806"/>
              </a:lnSpc>
            </a:pPr>
            <a:r>
              <a:rPr lang="en-US" sz="1650">
                <a:solidFill>
                  <a:schemeClr val="bg1"/>
                </a:solidFill>
                <a:latin typeface="Courier New"/>
                <a:cs typeface="Courier New"/>
              </a:rPr>
              <a:t>        </a:t>
            </a:r>
            <a:r>
              <a:rPr lang="en-US" sz="1650" err="1">
                <a:solidFill>
                  <a:schemeClr val="bg1"/>
                </a:solidFill>
                <a:latin typeface="Courier New"/>
                <a:cs typeface="Courier New"/>
              </a:rPr>
              <a:t>scaled_logits</a:t>
            </a:r>
            <a:r>
              <a:rPr lang="en-US" sz="1650">
                <a:solidFill>
                  <a:schemeClr val="bg1"/>
                </a:solidFill>
                <a:latin typeface="Courier New"/>
                <a:cs typeface="Courier New"/>
              </a:rPr>
              <a:t> = </a:t>
            </a:r>
            <a:r>
              <a:rPr lang="en-US" sz="1650" err="1">
                <a:solidFill>
                  <a:schemeClr val="bg1"/>
                </a:solidFill>
                <a:latin typeface="Courier New"/>
                <a:cs typeface="Courier New"/>
              </a:rPr>
              <a:t>calibrate_logits</a:t>
            </a:r>
            <a:r>
              <a:rPr lang="en-US" sz="1650">
                <a:solidFill>
                  <a:schemeClr val="bg1"/>
                </a:solidFill>
                <a:latin typeface="Courier New"/>
                <a:cs typeface="Courier New"/>
              </a:rPr>
              <a:t>(</a:t>
            </a:r>
            <a:r>
              <a:rPr lang="en-US" sz="1650" err="1">
                <a:solidFill>
                  <a:schemeClr val="bg1"/>
                </a:solidFill>
                <a:latin typeface="Courier New"/>
                <a:cs typeface="Courier New"/>
              </a:rPr>
              <a:t>val_logits</a:t>
            </a:r>
            <a:r>
              <a:rPr lang="en-US" sz="1650">
                <a:solidFill>
                  <a:schemeClr val="bg1"/>
                </a:solidFill>
                <a:latin typeface="Courier New"/>
                <a:cs typeface="Courier New"/>
              </a:rPr>
              <a:t>, temperature)</a:t>
            </a:r>
            <a:endParaRPr lang="en-US">
              <a:solidFill>
                <a:schemeClr val="bg1"/>
              </a:solidFill>
              <a:ea typeface="Calibri"/>
              <a:cs typeface="Calibri"/>
            </a:endParaRPr>
          </a:p>
          <a:p>
            <a:pPr>
              <a:lnSpc>
                <a:spcPct val="150806"/>
              </a:lnSpc>
            </a:pPr>
            <a:r>
              <a:rPr lang="en-US" sz="1650">
                <a:solidFill>
                  <a:schemeClr val="bg1"/>
                </a:solidFill>
                <a:latin typeface="Courier New"/>
                <a:cs typeface="Courier New"/>
              </a:rPr>
              <a:t>        loss = criterion(</a:t>
            </a:r>
            <a:r>
              <a:rPr lang="en-US" sz="1650" err="1">
                <a:solidFill>
                  <a:schemeClr val="bg1"/>
                </a:solidFill>
                <a:latin typeface="Courier New"/>
                <a:cs typeface="Courier New"/>
              </a:rPr>
              <a:t>scaled_logits</a:t>
            </a:r>
            <a:r>
              <a:rPr lang="en-US" sz="1650">
                <a:solidFill>
                  <a:schemeClr val="bg1"/>
                </a:solidFill>
                <a:latin typeface="Courier New"/>
                <a:cs typeface="Courier New"/>
              </a:rPr>
              <a:t>, </a:t>
            </a:r>
            <a:r>
              <a:rPr lang="en-US" sz="1650" err="1">
                <a:solidFill>
                  <a:schemeClr val="bg1"/>
                </a:solidFill>
                <a:latin typeface="Courier New"/>
                <a:cs typeface="Courier New"/>
              </a:rPr>
              <a:t>val_labels</a:t>
            </a:r>
            <a:r>
              <a:rPr lang="en-US" sz="1650">
                <a:solidFill>
                  <a:schemeClr val="bg1"/>
                </a:solidFill>
                <a:latin typeface="Courier New"/>
                <a:cs typeface="Courier New"/>
              </a:rPr>
              <a:t>)</a:t>
            </a:r>
            <a:endParaRPr lang="en-US">
              <a:solidFill>
                <a:schemeClr val="bg1"/>
              </a:solidFill>
              <a:ea typeface="Calibri"/>
              <a:cs typeface="Calibri"/>
            </a:endParaRPr>
          </a:p>
          <a:p>
            <a:pPr>
              <a:lnSpc>
                <a:spcPct val="150806"/>
              </a:lnSpc>
            </a:pPr>
            <a:r>
              <a:rPr lang="en-US" sz="1650">
                <a:solidFill>
                  <a:schemeClr val="bg1"/>
                </a:solidFill>
                <a:latin typeface="Courier New"/>
                <a:cs typeface="Courier New"/>
              </a:rPr>
              <a:t>        </a:t>
            </a:r>
            <a:r>
              <a:rPr lang="en-US" sz="1650" err="1">
                <a:solidFill>
                  <a:schemeClr val="bg1"/>
                </a:solidFill>
                <a:latin typeface="Courier New"/>
                <a:cs typeface="Courier New"/>
              </a:rPr>
              <a:t>loss.backward</a:t>
            </a:r>
            <a:r>
              <a:rPr lang="en-US" sz="1650">
                <a:solidFill>
                  <a:schemeClr val="bg1"/>
                </a:solidFill>
                <a:latin typeface="Courier New"/>
                <a:cs typeface="Courier New"/>
              </a:rPr>
              <a:t>()</a:t>
            </a:r>
            <a:endParaRPr lang="en-US">
              <a:solidFill>
                <a:schemeClr val="bg1"/>
              </a:solidFill>
              <a:ea typeface="Calibri"/>
              <a:cs typeface="Calibri"/>
            </a:endParaRPr>
          </a:p>
          <a:p>
            <a:pPr>
              <a:lnSpc>
                <a:spcPct val="150806"/>
              </a:lnSpc>
            </a:pPr>
            <a:r>
              <a:rPr lang="en-US" sz="1650">
                <a:solidFill>
                  <a:schemeClr val="bg1"/>
                </a:solidFill>
                <a:latin typeface="Courier New"/>
                <a:cs typeface="Courier New"/>
              </a:rPr>
              <a:t>        </a:t>
            </a:r>
            <a:r>
              <a:rPr lang="en-US" sz="1650">
                <a:solidFill>
                  <a:schemeClr val="accent1">
                    <a:lumMod val="60000"/>
                    <a:lumOff val="40000"/>
                  </a:schemeClr>
                </a:solidFill>
                <a:latin typeface="Courier New"/>
                <a:cs typeface="Courier New"/>
              </a:rPr>
              <a:t>return</a:t>
            </a:r>
            <a:r>
              <a:rPr lang="en-US" sz="1650">
                <a:solidFill>
                  <a:schemeClr val="bg1"/>
                </a:solidFill>
                <a:latin typeface="Courier New"/>
                <a:cs typeface="Courier New"/>
              </a:rPr>
              <a:t> loss</a:t>
            </a:r>
            <a:endParaRPr lang="en-US">
              <a:solidFill>
                <a:schemeClr val="bg1"/>
              </a:solidFill>
              <a:ea typeface="Calibri"/>
              <a:cs typeface="Calibri"/>
            </a:endParaRPr>
          </a:p>
          <a:p>
            <a:pPr>
              <a:lnSpc>
                <a:spcPct val="150806"/>
              </a:lnSpc>
            </a:pPr>
            <a:endParaRPr lang="en-US">
              <a:solidFill>
                <a:schemeClr val="bg1"/>
              </a:solidFill>
              <a:ea typeface="Calibri"/>
              <a:cs typeface="Calibri"/>
            </a:endParaRPr>
          </a:p>
          <a:p>
            <a:pPr>
              <a:lnSpc>
                <a:spcPct val="150806"/>
              </a:lnSpc>
            </a:pPr>
            <a:r>
              <a:rPr lang="en-US" sz="1650">
                <a:solidFill>
                  <a:schemeClr val="bg1"/>
                </a:solidFill>
                <a:latin typeface="Courier New"/>
                <a:cs typeface="Courier New"/>
              </a:rPr>
              <a:t>    </a:t>
            </a:r>
            <a:r>
              <a:rPr lang="en-US" sz="1650" err="1">
                <a:solidFill>
                  <a:schemeClr val="bg1"/>
                </a:solidFill>
                <a:latin typeface="Courier New"/>
                <a:cs typeface="Courier New"/>
              </a:rPr>
              <a:t>optimizer.step</a:t>
            </a:r>
            <a:r>
              <a:rPr lang="en-US" sz="1650">
                <a:solidFill>
                  <a:schemeClr val="bg1"/>
                </a:solidFill>
                <a:latin typeface="Courier New"/>
                <a:cs typeface="Courier New"/>
              </a:rPr>
              <a:t>(</a:t>
            </a:r>
            <a:r>
              <a:rPr lang="en-US" sz="1650" err="1">
                <a:solidFill>
                  <a:schemeClr val="bg1"/>
                </a:solidFill>
                <a:latin typeface="Courier New"/>
                <a:cs typeface="Courier New"/>
              </a:rPr>
              <a:t>eval_loss</a:t>
            </a:r>
            <a:r>
              <a:rPr lang="en-US" sz="1650">
                <a:solidFill>
                  <a:schemeClr val="bg1"/>
                </a:solidFill>
                <a:latin typeface="Courier New"/>
                <a:cs typeface="Courier New"/>
              </a:rPr>
              <a:t>)</a:t>
            </a:r>
            <a:endParaRPr lang="en-US">
              <a:solidFill>
                <a:schemeClr val="bg1"/>
              </a:solidFill>
              <a:ea typeface="Calibri"/>
              <a:cs typeface="Calibri"/>
            </a:endParaRPr>
          </a:p>
          <a:p>
            <a:pPr>
              <a:lnSpc>
                <a:spcPct val="150806"/>
              </a:lnSpc>
            </a:pPr>
            <a:r>
              <a:rPr lang="en-US" sz="1650">
                <a:solidFill>
                  <a:schemeClr val="bg1"/>
                </a:solidFill>
                <a:latin typeface="Courier New"/>
                <a:cs typeface="Courier New"/>
              </a:rPr>
              <a:t>    </a:t>
            </a:r>
            <a:r>
              <a:rPr lang="en-US" sz="1650">
                <a:solidFill>
                  <a:schemeClr val="accent1">
                    <a:lumMod val="60000"/>
                    <a:lumOff val="40000"/>
                  </a:schemeClr>
                </a:solidFill>
                <a:latin typeface="Courier New"/>
                <a:cs typeface="Courier New"/>
              </a:rPr>
              <a:t>return</a:t>
            </a:r>
            <a:r>
              <a:rPr lang="en-US" sz="1650">
                <a:solidFill>
                  <a:schemeClr val="bg1"/>
                </a:solidFill>
                <a:latin typeface="Courier New"/>
                <a:cs typeface="Courier New"/>
              </a:rPr>
              <a:t> </a:t>
            </a:r>
            <a:r>
              <a:rPr lang="en-US" sz="1650" err="1">
                <a:solidFill>
                  <a:schemeClr val="bg1"/>
                </a:solidFill>
                <a:latin typeface="Courier New"/>
                <a:cs typeface="Courier New"/>
              </a:rPr>
              <a:t>temperature.item</a:t>
            </a:r>
            <a:r>
              <a:rPr lang="en-US" sz="1650">
                <a:solidFill>
                  <a:schemeClr val="bg1"/>
                </a:solidFill>
                <a:latin typeface="Courier New"/>
                <a:cs typeface="Courier New"/>
              </a:rPr>
              <a:t>()</a:t>
            </a:r>
            <a:endParaRPr lang="en-US">
              <a:solidFill>
                <a:schemeClr val="bg1"/>
              </a:solidFill>
              <a:ea typeface="Calibri"/>
              <a:cs typeface="Calibri"/>
            </a:endParaRPr>
          </a:p>
        </p:txBody>
      </p:sp>
      <p:sp>
        <p:nvSpPr>
          <p:cNvPr id="22" name="Shape 20"/>
          <p:cNvSpPr/>
          <p:nvPr/>
        </p:nvSpPr>
        <p:spPr>
          <a:xfrm>
            <a:off x="1047750" y="9041130"/>
            <a:ext cx="16192500" cy="9525"/>
          </a:xfrm>
          <a:prstGeom prst="rect">
            <a:avLst/>
          </a:prstGeom>
          <a:solidFill>
            <a:srgbClr val="E1E3F0"/>
          </a:solidFill>
          <a:ln/>
        </p:spPr>
      </p:sp>
      <p:pic>
        <p:nvPicPr>
          <p:cNvPr id="23" name="Image 0" descr="preencoded.png"/>
          <p:cNvPicPr>
            <a:picLocks noChangeAspect="1"/>
          </p:cNvPicPr>
          <p:nvPr/>
        </p:nvPicPr>
        <p:blipFill>
          <a:blip r:embed="rId3"/>
          <a:stretch>
            <a:fillRect/>
          </a:stretch>
        </p:blipFill>
        <p:spPr>
          <a:xfrm>
            <a:off x="1047750" y="9315450"/>
            <a:ext cx="553283" cy="304800"/>
          </a:xfrm>
          <a:prstGeom prst="rect">
            <a:avLst/>
          </a:prstGeom>
        </p:spPr>
      </p:pic>
      <p:sp>
        <p:nvSpPr>
          <p:cNvPr id="24" name="Text 21"/>
          <p:cNvSpPr/>
          <p:nvPr/>
        </p:nvSpPr>
        <p:spPr>
          <a:xfrm>
            <a:off x="1734384" y="9345930"/>
            <a:ext cx="3907060" cy="281940"/>
          </a:xfrm>
          <a:prstGeom prst="rect">
            <a:avLst/>
          </a:prstGeom>
          <a:noFill/>
          <a:ln/>
        </p:spPr>
        <p:txBody>
          <a:bodyPr wrap="square" lIns="25400" tIns="25400" rIns="25400" bIns="25400" rtlCol="0" anchor="t">
            <a:normAutofit lnSpcReduction="10000"/>
          </a:bodyPr>
          <a:lstStyle/>
          <a:p>
            <a:pPr marL="0" indent="0" algn="l">
              <a:buNone/>
            </a:pPr>
            <a:r>
              <a:rPr lang="en-US" sz="1650">
                <a:solidFill>
                  <a:srgbClr val="4A4A5C"/>
                </a:solidFill>
                <a:latin typeface="Arial" pitchFamily="34" charset="0"/>
                <a:ea typeface="Arial" pitchFamily="34" charset="-122"/>
                <a:cs typeface="Arial" pitchFamily="34" charset="-120"/>
              </a:rPr>
              <a:t>Department of CSE · Uttara University</a:t>
            </a:r>
            <a:endParaRPr lang="en-US" sz="1650"/>
          </a:p>
        </p:txBody>
      </p:sp>
      <p:sp>
        <p:nvSpPr>
          <p:cNvPr id="25" name="Text 22"/>
          <p:cNvSpPr/>
          <p:nvPr/>
        </p:nvSpPr>
        <p:spPr>
          <a:xfrm>
            <a:off x="16599337" y="9345930"/>
            <a:ext cx="717113" cy="281940"/>
          </a:xfrm>
          <a:prstGeom prst="rect">
            <a:avLst/>
          </a:prstGeom>
          <a:noFill/>
          <a:ln/>
        </p:spPr>
        <p:txBody>
          <a:bodyPr wrap="square" lIns="25400" tIns="25400" rIns="25400" bIns="25400" rtlCol="0" anchor="t">
            <a:normAutofit lnSpcReduction="10000"/>
          </a:bodyPr>
          <a:lstStyle/>
          <a:p>
            <a:pPr marL="0" indent="0" algn="l">
              <a:buNone/>
            </a:pPr>
            <a:r>
              <a:rPr lang="en-US" sz="1650">
                <a:solidFill>
                  <a:srgbClr val="4A4A5C"/>
                </a:solidFill>
                <a:latin typeface="Arial" pitchFamily="34" charset="0"/>
                <a:ea typeface="Arial" pitchFamily="34" charset="-122"/>
                <a:cs typeface="Arial" pitchFamily="34" charset="-120"/>
              </a:rPr>
              <a:t>09 / 15</a:t>
            </a:r>
            <a:endParaRPr lang="en-US" sz="165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047750" y="857250"/>
            <a:ext cx="17811750" cy="312420"/>
          </a:xfrm>
          <a:prstGeom prst="rect">
            <a:avLst/>
          </a:prstGeom>
          <a:noFill/>
          <a:ln/>
        </p:spPr>
        <p:txBody>
          <a:bodyPr wrap="square" lIns="25400" tIns="25400" rIns="25400" bIns="25400" rtlCol="0" anchor="t">
            <a:normAutofit lnSpcReduction="10000"/>
          </a:bodyPr>
          <a:lstStyle/>
          <a:p>
            <a:pPr marL="0" indent="0" algn="l">
              <a:buNone/>
            </a:pPr>
            <a:r>
              <a:rPr lang="en-US" sz="1875" b="1" kern="0" spc="263">
                <a:solidFill>
                  <a:srgbClr val="1200FF"/>
                </a:solidFill>
                <a:latin typeface="Arial" pitchFamily="34" charset="0"/>
                <a:ea typeface="Arial" pitchFamily="34" charset="-122"/>
                <a:cs typeface="Arial" pitchFamily="34" charset="-120"/>
              </a:rPr>
              <a:t>08 — RESULTS &amp; ANALYSIS</a:t>
            </a:r>
            <a:endParaRPr lang="en-US" sz="1875"/>
          </a:p>
        </p:txBody>
      </p:sp>
      <p:sp>
        <p:nvSpPr>
          <p:cNvPr id="3" name="Text 1"/>
          <p:cNvSpPr/>
          <p:nvPr/>
        </p:nvSpPr>
        <p:spPr>
          <a:xfrm>
            <a:off x="1047750" y="1264920"/>
            <a:ext cx="17811750" cy="693420"/>
          </a:xfrm>
          <a:prstGeom prst="rect">
            <a:avLst/>
          </a:prstGeom>
          <a:noFill/>
          <a:ln/>
        </p:spPr>
        <p:txBody>
          <a:bodyPr wrap="square" lIns="25400" tIns="25400" rIns="25400" bIns="25400" rtlCol="0" anchor="t">
            <a:normAutofit lnSpcReduction="10000"/>
          </a:bodyPr>
          <a:lstStyle/>
          <a:p>
            <a:pPr marL="0" indent="0" algn="l">
              <a:buNone/>
            </a:pPr>
            <a:r>
              <a:rPr lang="en-US" sz="4500" b="1" kern="0" spc="-45">
                <a:solidFill>
                  <a:srgbClr val="10101B"/>
                </a:solidFill>
                <a:latin typeface="Arial" pitchFamily="34" charset="0"/>
                <a:ea typeface="Arial" pitchFamily="34" charset="-122"/>
                <a:cs typeface="Arial" pitchFamily="34" charset="-120"/>
              </a:rPr>
              <a:t>Results &amp; Analysis</a:t>
            </a:r>
            <a:endParaRPr lang="en-US" sz="4500"/>
          </a:p>
        </p:txBody>
      </p:sp>
      <p:sp>
        <p:nvSpPr>
          <p:cNvPr id="4" name="Shape 2"/>
          <p:cNvSpPr/>
          <p:nvPr/>
        </p:nvSpPr>
        <p:spPr>
          <a:xfrm>
            <a:off x="6234351" y="2339340"/>
            <a:ext cx="9525" cy="1146810"/>
          </a:xfrm>
          <a:prstGeom prst="rect">
            <a:avLst/>
          </a:prstGeom>
          <a:solidFill>
            <a:srgbClr val="E1E3F0"/>
          </a:solidFill>
          <a:ln/>
        </p:spPr>
      </p:sp>
      <p:sp>
        <p:nvSpPr>
          <p:cNvPr id="5" name="Text 3"/>
          <p:cNvSpPr/>
          <p:nvPr/>
        </p:nvSpPr>
        <p:spPr>
          <a:xfrm>
            <a:off x="1047750" y="2339340"/>
            <a:ext cx="5705261" cy="853440"/>
          </a:xfrm>
          <a:prstGeom prst="rect">
            <a:avLst/>
          </a:prstGeom>
          <a:noFill/>
          <a:ln/>
        </p:spPr>
        <p:txBody>
          <a:bodyPr wrap="square" lIns="25400" tIns="25400" rIns="25400" bIns="25400" rtlCol="0" anchor="t">
            <a:normAutofit/>
          </a:bodyPr>
          <a:lstStyle/>
          <a:p>
            <a:pPr marL="0" indent="0" algn="l">
              <a:buNone/>
            </a:pPr>
            <a:r>
              <a:rPr lang="en-US" sz="4400" b="1">
                <a:solidFill>
                  <a:srgbClr val="1A34FF"/>
                </a:solidFill>
                <a:latin typeface="Aptos"/>
                <a:cs typeface="Arial"/>
              </a:rPr>
              <a:t>ECE</a:t>
            </a:r>
            <a:endParaRPr lang="en-US" sz="4400">
              <a:ea typeface="Calibri"/>
              <a:cs typeface="Arial"/>
            </a:endParaRPr>
          </a:p>
        </p:txBody>
      </p:sp>
      <p:sp>
        <p:nvSpPr>
          <p:cNvPr id="6" name="Text 4"/>
          <p:cNvSpPr/>
          <p:nvPr/>
        </p:nvSpPr>
        <p:spPr>
          <a:xfrm>
            <a:off x="1047750" y="3063663"/>
            <a:ext cx="5705261" cy="312420"/>
          </a:xfrm>
          <a:prstGeom prst="rect">
            <a:avLst/>
          </a:prstGeom>
          <a:noFill/>
          <a:ln/>
        </p:spPr>
        <p:txBody>
          <a:bodyPr wrap="square" lIns="25400" tIns="25400" rIns="25400" bIns="25400" rtlCol="0" anchor="t">
            <a:noAutofit/>
          </a:bodyPr>
          <a:lstStyle/>
          <a:p>
            <a:r>
              <a:rPr lang="en-US" sz="2400">
                <a:solidFill>
                  <a:srgbClr val="4B62A4"/>
                </a:solidFill>
                <a:latin typeface="Aptos"/>
                <a:cs typeface="Arial"/>
              </a:rPr>
              <a:t>Expected Calibration Error</a:t>
            </a:r>
            <a:endParaRPr lang="en-US" sz="2400">
              <a:ea typeface="Calibri"/>
              <a:cs typeface="Arial"/>
            </a:endParaRPr>
          </a:p>
          <a:p>
            <a:pPr marL="0" indent="0" algn="l">
              <a:buNone/>
            </a:pPr>
            <a:endParaRPr lang="en-US" sz="1850">
              <a:solidFill>
                <a:srgbClr val="4A4A5C"/>
              </a:solidFill>
              <a:latin typeface="Arial"/>
              <a:cs typeface="Arial"/>
            </a:endParaRPr>
          </a:p>
        </p:txBody>
      </p:sp>
      <p:sp>
        <p:nvSpPr>
          <p:cNvPr id="7" name="Shape 5"/>
          <p:cNvSpPr/>
          <p:nvPr/>
        </p:nvSpPr>
        <p:spPr>
          <a:xfrm>
            <a:off x="11733491" y="2339340"/>
            <a:ext cx="9525" cy="1146810"/>
          </a:xfrm>
          <a:prstGeom prst="rect">
            <a:avLst/>
          </a:prstGeom>
          <a:solidFill>
            <a:srgbClr val="E1E3F0"/>
          </a:solidFill>
          <a:ln/>
        </p:spPr>
      </p:sp>
      <p:sp>
        <p:nvSpPr>
          <p:cNvPr id="8" name="Text 6"/>
          <p:cNvSpPr/>
          <p:nvPr/>
        </p:nvSpPr>
        <p:spPr>
          <a:xfrm>
            <a:off x="6419771" y="2339340"/>
            <a:ext cx="5705392" cy="853440"/>
          </a:xfrm>
          <a:prstGeom prst="rect">
            <a:avLst/>
          </a:prstGeom>
          <a:noFill/>
          <a:ln/>
        </p:spPr>
        <p:txBody>
          <a:bodyPr wrap="square" lIns="25400" tIns="25400" rIns="25400" bIns="25400" rtlCol="0" anchor="t">
            <a:normAutofit/>
          </a:bodyPr>
          <a:lstStyle/>
          <a:p>
            <a:r>
              <a:rPr lang="en-US" sz="4400" b="1">
                <a:solidFill>
                  <a:srgbClr val="1A34FF"/>
                </a:solidFill>
                <a:latin typeface="Aptos"/>
                <a:cs typeface="Arial"/>
              </a:rPr>
              <a:t>Brier Score</a:t>
            </a:r>
            <a:endParaRPr lang="en-US" sz="4400">
              <a:ea typeface="Calibri"/>
              <a:cs typeface="Arial"/>
            </a:endParaRPr>
          </a:p>
          <a:p>
            <a:pPr marL="0" indent="0" algn="l">
              <a:buNone/>
            </a:pPr>
            <a:endParaRPr lang="en-US" sz="5550" b="1">
              <a:solidFill>
                <a:srgbClr val="1200FF"/>
              </a:solidFill>
              <a:latin typeface="Arial"/>
              <a:cs typeface="Arial"/>
            </a:endParaRPr>
          </a:p>
        </p:txBody>
      </p:sp>
      <p:sp>
        <p:nvSpPr>
          <p:cNvPr id="9" name="Text 7"/>
          <p:cNvSpPr/>
          <p:nvPr/>
        </p:nvSpPr>
        <p:spPr>
          <a:xfrm>
            <a:off x="6462104" y="3063663"/>
            <a:ext cx="5705392" cy="312420"/>
          </a:xfrm>
          <a:prstGeom prst="rect">
            <a:avLst/>
          </a:prstGeom>
          <a:noFill/>
          <a:ln/>
        </p:spPr>
        <p:txBody>
          <a:bodyPr wrap="square" lIns="25400" tIns="25400" rIns="25400" bIns="25400" rtlCol="0" anchor="t">
            <a:noAutofit/>
          </a:bodyPr>
          <a:lstStyle/>
          <a:p>
            <a:r>
              <a:rPr lang="en-US" sz="2400">
                <a:solidFill>
                  <a:srgbClr val="4B62A4"/>
                </a:solidFill>
                <a:latin typeface="Aptos"/>
                <a:cs typeface="Arial"/>
              </a:rPr>
              <a:t>Multiclass probabilistic prediction error</a:t>
            </a:r>
            <a:endParaRPr lang="en-US" sz="2400">
              <a:ea typeface="Calibri"/>
              <a:cs typeface="Calibri"/>
            </a:endParaRPr>
          </a:p>
          <a:p>
            <a:pPr marL="0" indent="0" algn="l">
              <a:buNone/>
            </a:pPr>
            <a:endParaRPr lang="en-US" sz="1850">
              <a:solidFill>
                <a:srgbClr val="4A4A5C"/>
              </a:solidFill>
              <a:latin typeface="Arial"/>
              <a:cs typeface="Arial"/>
            </a:endParaRPr>
          </a:p>
        </p:txBody>
      </p:sp>
      <p:sp>
        <p:nvSpPr>
          <p:cNvPr id="10" name="Text 8"/>
          <p:cNvSpPr/>
          <p:nvPr/>
        </p:nvSpPr>
        <p:spPr>
          <a:xfrm>
            <a:off x="12045910" y="2297007"/>
            <a:ext cx="5713774" cy="853440"/>
          </a:xfrm>
          <a:prstGeom prst="rect">
            <a:avLst/>
          </a:prstGeom>
          <a:noFill/>
          <a:ln/>
        </p:spPr>
        <p:txBody>
          <a:bodyPr wrap="square" lIns="25400" tIns="25400" rIns="25400" bIns="25400" rtlCol="0" anchor="t">
            <a:normAutofit/>
          </a:bodyPr>
          <a:lstStyle/>
          <a:p>
            <a:r>
              <a:rPr lang="en-US" sz="4400" b="1">
                <a:solidFill>
                  <a:srgbClr val="1A34FF"/>
                </a:solidFill>
                <a:latin typeface="Aptos"/>
                <a:cs typeface="Arial"/>
              </a:rPr>
              <a:t>Accuracy</a:t>
            </a:r>
            <a:endParaRPr lang="en-US" sz="4400">
              <a:ea typeface="Calibri"/>
              <a:cs typeface="Arial"/>
            </a:endParaRPr>
          </a:p>
          <a:p>
            <a:pPr marL="0" indent="0" algn="l">
              <a:buNone/>
            </a:pPr>
            <a:endParaRPr lang="en-US" sz="5550" b="1">
              <a:solidFill>
                <a:srgbClr val="1200FF"/>
              </a:solidFill>
              <a:latin typeface="Arial"/>
              <a:cs typeface="Arial"/>
            </a:endParaRPr>
          </a:p>
        </p:txBody>
      </p:sp>
      <p:sp>
        <p:nvSpPr>
          <p:cNvPr id="11" name="Text 9"/>
          <p:cNvSpPr/>
          <p:nvPr/>
        </p:nvSpPr>
        <p:spPr>
          <a:xfrm>
            <a:off x="12003577" y="3063663"/>
            <a:ext cx="5713774" cy="312420"/>
          </a:xfrm>
          <a:prstGeom prst="rect">
            <a:avLst/>
          </a:prstGeom>
          <a:noFill/>
          <a:ln/>
        </p:spPr>
        <p:txBody>
          <a:bodyPr wrap="square" lIns="25400" tIns="25400" rIns="25400" bIns="25400" rtlCol="0" anchor="t">
            <a:noAutofit/>
          </a:bodyPr>
          <a:lstStyle/>
          <a:p>
            <a:r>
              <a:rPr lang="en-US" sz="2400">
                <a:solidFill>
                  <a:srgbClr val="4B62A4"/>
                </a:solidFill>
                <a:latin typeface="Aptos"/>
                <a:cs typeface="Arial"/>
              </a:rPr>
              <a:t>Diagnostic classification performance</a:t>
            </a:r>
            <a:endParaRPr lang="en-US" sz="2400">
              <a:ea typeface="Calibri"/>
              <a:cs typeface="Calibri"/>
            </a:endParaRPr>
          </a:p>
          <a:p>
            <a:pPr marL="0" indent="0" algn="l">
              <a:buNone/>
            </a:pPr>
            <a:endParaRPr lang="en-US" sz="1850">
              <a:solidFill>
                <a:srgbClr val="4A4A5C"/>
              </a:solidFill>
              <a:latin typeface="Arial"/>
              <a:cs typeface="Arial"/>
            </a:endParaRPr>
          </a:p>
        </p:txBody>
      </p:sp>
      <p:sp>
        <p:nvSpPr>
          <p:cNvPr id="14" name="Shape 12"/>
          <p:cNvSpPr/>
          <p:nvPr/>
        </p:nvSpPr>
        <p:spPr>
          <a:xfrm>
            <a:off x="1047750" y="9041130"/>
            <a:ext cx="16192500" cy="9525"/>
          </a:xfrm>
          <a:prstGeom prst="rect">
            <a:avLst/>
          </a:prstGeom>
          <a:solidFill>
            <a:srgbClr val="E1E3F0"/>
          </a:solidFill>
          <a:ln/>
        </p:spPr>
      </p:sp>
      <p:pic>
        <p:nvPicPr>
          <p:cNvPr id="15" name="Image 0" descr="preencoded.png"/>
          <p:cNvPicPr>
            <a:picLocks noChangeAspect="1"/>
          </p:cNvPicPr>
          <p:nvPr/>
        </p:nvPicPr>
        <p:blipFill>
          <a:blip r:embed="rId3"/>
          <a:stretch>
            <a:fillRect/>
          </a:stretch>
        </p:blipFill>
        <p:spPr>
          <a:xfrm>
            <a:off x="1047750" y="9759950"/>
            <a:ext cx="553283" cy="304800"/>
          </a:xfrm>
          <a:prstGeom prst="rect">
            <a:avLst/>
          </a:prstGeom>
        </p:spPr>
      </p:pic>
      <p:sp>
        <p:nvSpPr>
          <p:cNvPr id="16" name="Text 13"/>
          <p:cNvSpPr/>
          <p:nvPr/>
        </p:nvSpPr>
        <p:spPr>
          <a:xfrm>
            <a:off x="1734384" y="9769263"/>
            <a:ext cx="3907060" cy="281940"/>
          </a:xfrm>
          <a:prstGeom prst="rect">
            <a:avLst/>
          </a:prstGeom>
          <a:noFill/>
          <a:ln/>
        </p:spPr>
        <p:txBody>
          <a:bodyPr wrap="square" lIns="25400" tIns="25400" rIns="25400" bIns="25400" rtlCol="0" anchor="t">
            <a:normAutofit lnSpcReduction="10000"/>
          </a:bodyPr>
          <a:lstStyle/>
          <a:p>
            <a:pPr marL="0" indent="0" algn="l">
              <a:buNone/>
            </a:pPr>
            <a:r>
              <a:rPr lang="en-US" sz="1650">
                <a:solidFill>
                  <a:srgbClr val="4A4A5C"/>
                </a:solidFill>
                <a:latin typeface="Arial" pitchFamily="34" charset="0"/>
                <a:ea typeface="Arial" pitchFamily="34" charset="-122"/>
                <a:cs typeface="Arial" pitchFamily="34" charset="-120"/>
              </a:rPr>
              <a:t>Department of CSE · Uttara University</a:t>
            </a:r>
            <a:endParaRPr lang="en-US" sz="1650"/>
          </a:p>
        </p:txBody>
      </p:sp>
      <p:sp>
        <p:nvSpPr>
          <p:cNvPr id="17" name="Text 14"/>
          <p:cNvSpPr/>
          <p:nvPr/>
        </p:nvSpPr>
        <p:spPr>
          <a:xfrm>
            <a:off x="16599337" y="9345930"/>
            <a:ext cx="717113" cy="281940"/>
          </a:xfrm>
          <a:prstGeom prst="rect">
            <a:avLst/>
          </a:prstGeom>
          <a:noFill/>
          <a:ln/>
        </p:spPr>
        <p:txBody>
          <a:bodyPr wrap="square" lIns="25400" tIns="25400" rIns="25400" bIns="25400" rtlCol="0" anchor="t">
            <a:normAutofit lnSpcReduction="10000"/>
          </a:bodyPr>
          <a:lstStyle/>
          <a:p>
            <a:pPr marL="0" indent="0" algn="l">
              <a:buNone/>
            </a:pPr>
            <a:r>
              <a:rPr lang="en-US" sz="1650">
                <a:solidFill>
                  <a:srgbClr val="4A4A5C"/>
                </a:solidFill>
                <a:latin typeface="Arial" pitchFamily="34" charset="0"/>
                <a:ea typeface="Arial" pitchFamily="34" charset="-122"/>
                <a:cs typeface="Arial" pitchFamily="34" charset="-120"/>
              </a:rPr>
              <a:t>10 / 15</a:t>
            </a:r>
            <a:endParaRPr lang="en-US" sz="1650"/>
          </a:p>
        </p:txBody>
      </p:sp>
      <p:pic>
        <p:nvPicPr>
          <p:cNvPr id="20" name="Picture 19">
            <a:extLst>
              <a:ext uri="{FF2B5EF4-FFF2-40B4-BE49-F238E27FC236}">
                <a16:creationId xmlns:a16="http://schemas.microsoft.com/office/drawing/2014/main" id="{46CDD116-EF3B-8876-AAE3-9B341C89354E}"/>
              </a:ext>
            </a:extLst>
          </p:cNvPr>
          <p:cNvPicPr>
            <a:picLocks noChangeAspect="1"/>
          </p:cNvPicPr>
          <p:nvPr/>
        </p:nvPicPr>
        <p:blipFill>
          <a:blip r:embed="rId4"/>
          <a:stretch>
            <a:fillRect/>
          </a:stretch>
        </p:blipFill>
        <p:spPr>
          <a:xfrm>
            <a:off x="338138" y="3618442"/>
            <a:ext cx="17611725" cy="5124450"/>
          </a:xfrm>
          <a:prstGeom prst="rect">
            <a:avLst/>
          </a:prstGeom>
        </p:spPr>
      </p:pic>
      <p:pic>
        <p:nvPicPr>
          <p:cNvPr id="21" name="Picture 20">
            <a:extLst>
              <a:ext uri="{FF2B5EF4-FFF2-40B4-BE49-F238E27FC236}">
                <a16:creationId xmlns:a16="http://schemas.microsoft.com/office/drawing/2014/main" id="{3D8A59D7-F957-40F4-1019-333B676999DA}"/>
              </a:ext>
            </a:extLst>
          </p:cNvPr>
          <p:cNvPicPr>
            <a:picLocks noChangeAspect="1"/>
          </p:cNvPicPr>
          <p:nvPr/>
        </p:nvPicPr>
        <p:blipFill>
          <a:blip r:embed="rId5"/>
          <a:stretch>
            <a:fillRect/>
          </a:stretch>
        </p:blipFill>
        <p:spPr>
          <a:xfrm>
            <a:off x="1146705" y="7818967"/>
            <a:ext cx="16163925" cy="152400"/>
          </a:xfrm>
          <a:prstGeom prst="rect">
            <a:avLst/>
          </a:prstGeom>
        </p:spPr>
      </p:pic>
      <p:pic>
        <p:nvPicPr>
          <p:cNvPr id="22" name="Picture 21">
            <a:extLst>
              <a:ext uri="{FF2B5EF4-FFF2-40B4-BE49-F238E27FC236}">
                <a16:creationId xmlns:a16="http://schemas.microsoft.com/office/drawing/2014/main" id="{018CC8B5-EF7A-4048-67A9-CAA92D0809C0}"/>
              </a:ext>
            </a:extLst>
          </p:cNvPr>
          <p:cNvPicPr>
            <a:picLocks noChangeAspect="1"/>
          </p:cNvPicPr>
          <p:nvPr/>
        </p:nvPicPr>
        <p:blipFill>
          <a:blip r:embed="rId6"/>
          <a:stretch>
            <a:fillRect/>
          </a:stretch>
        </p:blipFill>
        <p:spPr>
          <a:xfrm>
            <a:off x="1151467" y="4352396"/>
            <a:ext cx="152400" cy="3571875"/>
          </a:xfrm>
          <a:prstGeom prst="rect">
            <a:avLst/>
          </a:prstGeom>
        </p:spPr>
      </p:pic>
      <p:pic>
        <p:nvPicPr>
          <p:cNvPr id="23" name="Picture 22">
            <a:extLst>
              <a:ext uri="{FF2B5EF4-FFF2-40B4-BE49-F238E27FC236}">
                <a16:creationId xmlns:a16="http://schemas.microsoft.com/office/drawing/2014/main" id="{ED434D49-254D-7F48-4D36-050FAAA65B3A}"/>
              </a:ext>
            </a:extLst>
          </p:cNvPr>
          <p:cNvPicPr>
            <a:picLocks noChangeAspect="1"/>
          </p:cNvPicPr>
          <p:nvPr/>
        </p:nvPicPr>
        <p:blipFill>
          <a:blip r:embed="rId7"/>
          <a:stretch>
            <a:fillRect/>
          </a:stretch>
        </p:blipFill>
        <p:spPr>
          <a:xfrm>
            <a:off x="1080030" y="4212696"/>
            <a:ext cx="295275" cy="295275"/>
          </a:xfrm>
          <a:prstGeom prst="rect">
            <a:avLst/>
          </a:prstGeom>
        </p:spPr>
      </p:pic>
      <p:pic>
        <p:nvPicPr>
          <p:cNvPr id="24" name="Picture 23">
            <a:extLst>
              <a:ext uri="{FF2B5EF4-FFF2-40B4-BE49-F238E27FC236}">
                <a16:creationId xmlns:a16="http://schemas.microsoft.com/office/drawing/2014/main" id="{291553EF-582F-9D1E-8AD7-C9CCA462E728}"/>
              </a:ext>
            </a:extLst>
          </p:cNvPr>
          <p:cNvPicPr>
            <a:picLocks noChangeAspect="1"/>
          </p:cNvPicPr>
          <p:nvPr/>
        </p:nvPicPr>
        <p:blipFill>
          <a:blip r:embed="rId8"/>
          <a:stretch>
            <a:fillRect/>
          </a:stretch>
        </p:blipFill>
        <p:spPr>
          <a:xfrm>
            <a:off x="676804" y="5409671"/>
            <a:ext cx="466725" cy="1457325"/>
          </a:xfrm>
          <a:prstGeom prst="rect">
            <a:avLst/>
          </a:prstGeom>
        </p:spPr>
      </p:pic>
      <p:pic>
        <p:nvPicPr>
          <p:cNvPr id="25" name="Picture 24">
            <a:extLst>
              <a:ext uri="{FF2B5EF4-FFF2-40B4-BE49-F238E27FC236}">
                <a16:creationId xmlns:a16="http://schemas.microsoft.com/office/drawing/2014/main" id="{B7DD682C-2A5F-F7D4-1684-7C68F569C6CE}"/>
              </a:ext>
            </a:extLst>
          </p:cNvPr>
          <p:cNvPicPr>
            <a:picLocks noChangeAspect="1"/>
          </p:cNvPicPr>
          <p:nvPr/>
        </p:nvPicPr>
        <p:blipFill>
          <a:blip r:embed="rId9"/>
          <a:stretch>
            <a:fillRect/>
          </a:stretch>
        </p:blipFill>
        <p:spPr>
          <a:xfrm>
            <a:off x="8824912" y="6008159"/>
            <a:ext cx="638175" cy="514350"/>
          </a:xfrm>
          <a:prstGeom prst="rect">
            <a:avLst/>
          </a:prstGeom>
        </p:spPr>
      </p:pic>
      <p:pic>
        <p:nvPicPr>
          <p:cNvPr id="26" name="Picture 25">
            <a:extLst>
              <a:ext uri="{FF2B5EF4-FFF2-40B4-BE49-F238E27FC236}">
                <a16:creationId xmlns:a16="http://schemas.microsoft.com/office/drawing/2014/main" id="{E2A9D120-95E4-EBEF-6CBB-2F6C8F3416FB}"/>
              </a:ext>
            </a:extLst>
          </p:cNvPr>
          <p:cNvPicPr>
            <a:picLocks noChangeAspect="1"/>
          </p:cNvPicPr>
          <p:nvPr/>
        </p:nvPicPr>
        <p:blipFill>
          <a:blip r:embed="rId10"/>
          <a:stretch>
            <a:fillRect/>
          </a:stretch>
        </p:blipFill>
        <p:spPr>
          <a:xfrm>
            <a:off x="6429375" y="6519863"/>
            <a:ext cx="5429250" cy="676275"/>
          </a:xfrm>
          <a:prstGeom prst="rect">
            <a:avLst/>
          </a:prstGeom>
        </p:spPr>
      </p:pic>
      <p:pic>
        <p:nvPicPr>
          <p:cNvPr id="27" name="Picture 26">
            <a:extLst>
              <a:ext uri="{FF2B5EF4-FFF2-40B4-BE49-F238E27FC236}">
                <a16:creationId xmlns:a16="http://schemas.microsoft.com/office/drawing/2014/main" id="{4D863EF0-BF80-172C-A336-B895A92A98E9}"/>
              </a:ext>
            </a:extLst>
          </p:cNvPr>
          <p:cNvPicPr>
            <a:picLocks noChangeAspect="1"/>
          </p:cNvPicPr>
          <p:nvPr/>
        </p:nvPicPr>
        <p:blipFill>
          <a:blip r:embed="rId11"/>
          <a:stretch>
            <a:fillRect/>
          </a:stretch>
        </p:blipFill>
        <p:spPr>
          <a:xfrm>
            <a:off x="10829925" y="4077758"/>
            <a:ext cx="6153150" cy="438150"/>
          </a:xfrm>
          <a:prstGeom prst="rect">
            <a:avLst/>
          </a:prstGeom>
        </p:spPr>
      </p:pic>
      <p:pic>
        <p:nvPicPr>
          <p:cNvPr id="28" name="Picture 27">
            <a:extLst>
              <a:ext uri="{FF2B5EF4-FFF2-40B4-BE49-F238E27FC236}">
                <a16:creationId xmlns:a16="http://schemas.microsoft.com/office/drawing/2014/main" id="{6A71177D-F28C-E94B-33BD-4299F123BCD5}"/>
              </a:ext>
            </a:extLst>
          </p:cNvPr>
          <p:cNvPicPr>
            <a:picLocks noChangeAspect="1"/>
          </p:cNvPicPr>
          <p:nvPr/>
        </p:nvPicPr>
        <p:blipFill>
          <a:blip r:embed="rId12"/>
          <a:stretch>
            <a:fillRect/>
          </a:stretch>
        </p:blipFill>
        <p:spPr>
          <a:xfrm>
            <a:off x="6858000" y="7984067"/>
            <a:ext cx="4572000" cy="457200"/>
          </a:xfrm>
          <a:prstGeom prst="rect">
            <a:avLst/>
          </a:prstGeom>
        </p:spPr>
      </p:pic>
      <p:pic>
        <p:nvPicPr>
          <p:cNvPr id="29" name="Picture 28">
            <a:extLst>
              <a:ext uri="{FF2B5EF4-FFF2-40B4-BE49-F238E27FC236}">
                <a16:creationId xmlns:a16="http://schemas.microsoft.com/office/drawing/2014/main" id="{E3F5A0E5-5A59-DC16-1859-2ACB7BDBD3A7}"/>
              </a:ext>
            </a:extLst>
          </p:cNvPr>
          <p:cNvPicPr>
            <a:picLocks noChangeAspect="1"/>
          </p:cNvPicPr>
          <p:nvPr/>
        </p:nvPicPr>
        <p:blipFill>
          <a:blip r:embed="rId13"/>
          <a:stretch>
            <a:fillRect/>
          </a:stretch>
        </p:blipFill>
        <p:spPr>
          <a:xfrm>
            <a:off x="1131888" y="9186333"/>
            <a:ext cx="276225" cy="381000"/>
          </a:xfrm>
          <a:prstGeom prst="rect">
            <a:avLst/>
          </a:prstGeom>
        </p:spPr>
      </p:pic>
      <p:pic>
        <p:nvPicPr>
          <p:cNvPr id="30" name="Picture 29">
            <a:extLst>
              <a:ext uri="{FF2B5EF4-FFF2-40B4-BE49-F238E27FC236}">
                <a16:creationId xmlns:a16="http://schemas.microsoft.com/office/drawing/2014/main" id="{0181772F-B4C6-22F2-23D6-BBD3B1C540CE}"/>
              </a:ext>
            </a:extLst>
          </p:cNvPr>
          <p:cNvPicPr>
            <a:picLocks noChangeAspect="1"/>
          </p:cNvPicPr>
          <p:nvPr/>
        </p:nvPicPr>
        <p:blipFill>
          <a:blip r:embed="rId14"/>
          <a:srcRect t="4762" r="4762" b="-9524"/>
          <a:stretch>
            <a:fillRect/>
          </a:stretch>
        </p:blipFill>
        <p:spPr>
          <a:xfrm>
            <a:off x="1065892" y="9184670"/>
            <a:ext cx="408215" cy="478972"/>
          </a:xfrm>
          <a:prstGeom prst="rect">
            <a:avLst/>
          </a:prstGeom>
        </p:spPr>
      </p:pic>
      <p:pic>
        <p:nvPicPr>
          <p:cNvPr id="31" name="Picture 30">
            <a:extLst>
              <a:ext uri="{FF2B5EF4-FFF2-40B4-BE49-F238E27FC236}">
                <a16:creationId xmlns:a16="http://schemas.microsoft.com/office/drawing/2014/main" id="{051791B2-4439-C871-2DFA-62636879A2C2}"/>
              </a:ext>
            </a:extLst>
          </p:cNvPr>
          <p:cNvPicPr>
            <a:picLocks noChangeAspect="1"/>
          </p:cNvPicPr>
          <p:nvPr/>
        </p:nvPicPr>
        <p:blipFill>
          <a:blip r:embed="rId15"/>
          <a:stretch>
            <a:fillRect/>
          </a:stretch>
        </p:blipFill>
        <p:spPr>
          <a:xfrm>
            <a:off x="1595438" y="9110133"/>
            <a:ext cx="12430125" cy="5334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047750" y="857250"/>
            <a:ext cx="17811750" cy="312420"/>
          </a:xfrm>
          <a:prstGeom prst="rect">
            <a:avLst/>
          </a:prstGeom>
          <a:noFill/>
          <a:ln/>
        </p:spPr>
        <p:txBody>
          <a:bodyPr wrap="square" lIns="25400" tIns="25400" rIns="25400" bIns="25400" rtlCol="0" anchor="t">
            <a:normAutofit lnSpcReduction="10000"/>
          </a:bodyPr>
          <a:lstStyle/>
          <a:p>
            <a:pPr marL="0" indent="0" algn="l">
              <a:buNone/>
            </a:pPr>
            <a:r>
              <a:rPr lang="en-US" sz="1875" b="1" kern="0" spc="263">
                <a:solidFill>
                  <a:srgbClr val="1200FF"/>
                </a:solidFill>
                <a:latin typeface="Arial" pitchFamily="34" charset="0"/>
                <a:ea typeface="Arial" pitchFamily="34" charset="-122"/>
                <a:cs typeface="Arial" pitchFamily="34" charset="-120"/>
              </a:rPr>
              <a:t>09 — COMPARISON &amp; DISCUSSION</a:t>
            </a:r>
            <a:endParaRPr lang="en-US" sz="1875"/>
          </a:p>
        </p:txBody>
      </p:sp>
      <p:sp>
        <p:nvSpPr>
          <p:cNvPr id="3" name="Text 1"/>
          <p:cNvSpPr/>
          <p:nvPr/>
        </p:nvSpPr>
        <p:spPr>
          <a:xfrm>
            <a:off x="1047750" y="1264920"/>
            <a:ext cx="17811750" cy="693420"/>
          </a:xfrm>
          <a:prstGeom prst="rect">
            <a:avLst/>
          </a:prstGeom>
          <a:noFill/>
          <a:ln/>
        </p:spPr>
        <p:txBody>
          <a:bodyPr wrap="square" lIns="25400" tIns="25400" rIns="25400" bIns="25400" rtlCol="0" anchor="t">
            <a:normAutofit lnSpcReduction="10000"/>
          </a:bodyPr>
          <a:lstStyle/>
          <a:p>
            <a:pPr marL="0" indent="0" algn="l">
              <a:buNone/>
            </a:pPr>
            <a:r>
              <a:rPr lang="en-US" sz="4500" b="1" kern="0" spc="-45">
                <a:solidFill>
                  <a:srgbClr val="10101B"/>
                </a:solidFill>
                <a:latin typeface="Arial" pitchFamily="34" charset="0"/>
                <a:ea typeface="Arial" pitchFamily="34" charset="-122"/>
                <a:cs typeface="Arial" pitchFamily="34" charset="-120"/>
              </a:rPr>
              <a:t>How It Compares</a:t>
            </a:r>
            <a:endParaRPr lang="en-US" sz="4500"/>
          </a:p>
        </p:txBody>
      </p:sp>
      <p:sp>
        <p:nvSpPr>
          <p:cNvPr id="4" name="Shape 2"/>
          <p:cNvSpPr/>
          <p:nvPr/>
        </p:nvSpPr>
        <p:spPr>
          <a:xfrm>
            <a:off x="1047750" y="4087306"/>
            <a:ext cx="16192500" cy="15240"/>
          </a:xfrm>
          <a:prstGeom prst="rect">
            <a:avLst/>
          </a:prstGeom>
          <a:solidFill>
            <a:srgbClr val="10101B"/>
          </a:solidFill>
          <a:ln/>
        </p:spPr>
      </p:sp>
      <p:sp>
        <p:nvSpPr>
          <p:cNvPr id="5" name="Text 3"/>
          <p:cNvSpPr/>
          <p:nvPr/>
        </p:nvSpPr>
        <p:spPr>
          <a:xfrm>
            <a:off x="1047750" y="3471631"/>
            <a:ext cx="5667280" cy="312420"/>
          </a:xfrm>
          <a:prstGeom prst="rect">
            <a:avLst/>
          </a:prstGeom>
          <a:noFill/>
          <a:ln/>
        </p:spPr>
        <p:txBody>
          <a:bodyPr wrap="square" lIns="25400" tIns="25400" rIns="25400" bIns="25400" rtlCol="0" anchor="t">
            <a:noAutofit/>
          </a:bodyPr>
          <a:lstStyle/>
          <a:p>
            <a:pPr marL="0" indent="0" algn="l">
              <a:buNone/>
            </a:pPr>
            <a:r>
              <a:rPr lang="en-US" sz="3000" b="1" kern="0" spc="113">
                <a:solidFill>
                  <a:srgbClr val="4A4A5C"/>
                </a:solidFill>
                <a:latin typeface="Arial"/>
                <a:ea typeface="Arial" pitchFamily="34" charset="-122"/>
                <a:cs typeface="Arial"/>
              </a:rPr>
              <a:t>METHOD</a:t>
            </a:r>
            <a:endParaRPr lang="en-US" sz="3000">
              <a:latin typeface="Arial"/>
              <a:ea typeface="Calibri"/>
              <a:cs typeface="Arial"/>
            </a:endParaRPr>
          </a:p>
        </p:txBody>
      </p:sp>
      <p:sp>
        <p:nvSpPr>
          <p:cNvPr id="6" name="Text 4"/>
          <p:cNvSpPr/>
          <p:nvPr/>
        </p:nvSpPr>
        <p:spPr>
          <a:xfrm>
            <a:off x="6015818" y="3471631"/>
            <a:ext cx="4048113" cy="312420"/>
          </a:xfrm>
          <a:prstGeom prst="rect">
            <a:avLst/>
          </a:prstGeom>
          <a:noFill/>
          <a:ln/>
        </p:spPr>
        <p:txBody>
          <a:bodyPr wrap="square" lIns="25400" tIns="25400" rIns="25400" bIns="25400" rtlCol="0" anchor="t">
            <a:noAutofit/>
          </a:bodyPr>
          <a:lstStyle/>
          <a:p>
            <a:pPr algn="ctr"/>
            <a:r>
              <a:rPr lang="en-US" sz="3000" b="1" kern="0" spc="113">
                <a:solidFill>
                  <a:srgbClr val="4A4A5C"/>
                </a:solidFill>
                <a:ea typeface="+mn-lt"/>
                <a:cs typeface="+mn-lt"/>
              </a:rPr>
              <a:t>ECE </a:t>
            </a:r>
            <a:endParaRPr lang="en-US" sz="3000" b="1">
              <a:ea typeface="Calibri"/>
              <a:cs typeface="Calibri"/>
            </a:endParaRPr>
          </a:p>
        </p:txBody>
      </p:sp>
      <p:sp>
        <p:nvSpPr>
          <p:cNvPr id="7" name="Text 5"/>
          <p:cNvSpPr/>
          <p:nvPr/>
        </p:nvSpPr>
        <p:spPr>
          <a:xfrm>
            <a:off x="9695921" y="3471631"/>
            <a:ext cx="4048113" cy="312420"/>
          </a:xfrm>
          <a:prstGeom prst="rect">
            <a:avLst/>
          </a:prstGeom>
          <a:noFill/>
          <a:ln/>
        </p:spPr>
        <p:txBody>
          <a:bodyPr wrap="square" lIns="25400" tIns="25400" rIns="25400" bIns="25400" rtlCol="0" anchor="t">
            <a:noAutofit/>
          </a:bodyPr>
          <a:lstStyle/>
          <a:p>
            <a:pPr algn="ctr"/>
            <a:r>
              <a:rPr lang="en-US" sz="3000" b="1" kern="0" spc="113">
                <a:solidFill>
                  <a:srgbClr val="4A4A5C"/>
                </a:solidFill>
                <a:ea typeface="+mn-lt"/>
                <a:cs typeface="+mn-lt"/>
              </a:rPr>
              <a:t>BS</a:t>
            </a:r>
            <a:endParaRPr lang="en-US"/>
          </a:p>
        </p:txBody>
      </p:sp>
      <p:sp>
        <p:nvSpPr>
          <p:cNvPr id="8" name="Text 6"/>
          <p:cNvSpPr/>
          <p:nvPr/>
        </p:nvSpPr>
        <p:spPr>
          <a:xfrm>
            <a:off x="13267901" y="3471631"/>
            <a:ext cx="4048113" cy="312420"/>
          </a:xfrm>
          <a:prstGeom prst="rect">
            <a:avLst/>
          </a:prstGeom>
          <a:noFill/>
          <a:ln/>
        </p:spPr>
        <p:txBody>
          <a:bodyPr wrap="square" lIns="25400" tIns="25400" rIns="25400" bIns="25400" rtlCol="0" anchor="t">
            <a:noAutofit/>
          </a:bodyPr>
          <a:lstStyle/>
          <a:p>
            <a:pPr marL="0" indent="0" algn="ctr">
              <a:buNone/>
            </a:pPr>
            <a:r>
              <a:rPr lang="en-US" sz="3000" b="1" kern="0" spc="113">
                <a:solidFill>
                  <a:srgbClr val="4A4A5C"/>
                </a:solidFill>
                <a:ea typeface="+mn-lt"/>
                <a:cs typeface="+mn-lt"/>
              </a:rPr>
              <a:t>ACCURACY</a:t>
            </a:r>
            <a:endParaRPr lang="en-US" sz="3000" b="1">
              <a:ea typeface="Calibri"/>
              <a:cs typeface="Calibri"/>
            </a:endParaRPr>
          </a:p>
        </p:txBody>
      </p:sp>
      <p:sp>
        <p:nvSpPr>
          <p:cNvPr id="9" name="Shape 7"/>
          <p:cNvSpPr/>
          <p:nvPr/>
        </p:nvSpPr>
        <p:spPr>
          <a:xfrm>
            <a:off x="1047750" y="4964636"/>
            <a:ext cx="16192500" cy="9525"/>
          </a:xfrm>
          <a:prstGeom prst="rect">
            <a:avLst/>
          </a:prstGeom>
          <a:solidFill>
            <a:srgbClr val="E1E3F0"/>
          </a:solidFill>
          <a:ln/>
        </p:spPr>
      </p:sp>
      <p:sp>
        <p:nvSpPr>
          <p:cNvPr id="10" name="Text 8"/>
          <p:cNvSpPr/>
          <p:nvPr/>
        </p:nvSpPr>
        <p:spPr>
          <a:xfrm>
            <a:off x="1140426" y="4269362"/>
            <a:ext cx="5667280" cy="365760"/>
          </a:xfrm>
          <a:prstGeom prst="rect">
            <a:avLst/>
          </a:prstGeom>
          <a:noFill/>
          <a:ln/>
        </p:spPr>
        <p:txBody>
          <a:bodyPr wrap="square" lIns="25400" tIns="25400" rIns="25400" bIns="25400" rtlCol="0" anchor="t">
            <a:noAutofit/>
          </a:bodyPr>
          <a:lstStyle/>
          <a:p>
            <a:r>
              <a:rPr lang="en-US" sz="2800" b="1">
                <a:solidFill>
                  <a:srgbClr val="10101B"/>
                </a:solidFill>
                <a:ea typeface="+mn-lt"/>
                <a:cs typeface="+mn-lt"/>
              </a:rPr>
              <a:t>Baseline </a:t>
            </a:r>
            <a:r>
              <a:rPr lang="en-US" sz="2800" b="1" err="1">
                <a:solidFill>
                  <a:srgbClr val="10101B"/>
                </a:solidFill>
                <a:ea typeface="+mn-lt"/>
                <a:cs typeface="+mn-lt"/>
              </a:rPr>
              <a:t>UniMod</a:t>
            </a:r>
            <a:endParaRPr lang="en-US" sz="2800" b="1">
              <a:ea typeface="Calibri"/>
              <a:cs typeface="Calibri"/>
            </a:endParaRPr>
          </a:p>
        </p:txBody>
      </p:sp>
      <p:sp>
        <p:nvSpPr>
          <p:cNvPr id="11" name="Text 9"/>
          <p:cNvSpPr/>
          <p:nvPr/>
        </p:nvSpPr>
        <p:spPr>
          <a:xfrm>
            <a:off x="6015818" y="4269362"/>
            <a:ext cx="4048113" cy="365760"/>
          </a:xfrm>
          <a:prstGeom prst="rect">
            <a:avLst/>
          </a:prstGeom>
          <a:noFill/>
          <a:ln/>
        </p:spPr>
        <p:txBody>
          <a:bodyPr wrap="square" lIns="25400" tIns="25400" rIns="25400" bIns="25400" rtlCol="0" anchor="t">
            <a:noAutofit/>
          </a:bodyPr>
          <a:lstStyle/>
          <a:p>
            <a:pPr marL="0" indent="0" algn="ctr">
              <a:buNone/>
            </a:pPr>
            <a:r>
              <a:rPr lang="en-US" sz="2400" b="1">
                <a:solidFill>
                  <a:srgbClr val="4A4A5C"/>
                </a:solidFill>
                <a:ea typeface="+mn-lt"/>
                <a:cs typeface="+mn-lt"/>
              </a:rPr>
              <a:t>Measure</a:t>
            </a:r>
            <a:endParaRPr lang="en-US" sz="2400" b="1">
              <a:ea typeface="Calibri"/>
              <a:cs typeface="Calibri"/>
            </a:endParaRPr>
          </a:p>
        </p:txBody>
      </p:sp>
      <p:sp>
        <p:nvSpPr>
          <p:cNvPr id="12" name="Text 10"/>
          <p:cNvSpPr/>
          <p:nvPr/>
        </p:nvSpPr>
        <p:spPr>
          <a:xfrm>
            <a:off x="9695921" y="4269362"/>
            <a:ext cx="4048113" cy="365760"/>
          </a:xfrm>
          <a:prstGeom prst="rect">
            <a:avLst/>
          </a:prstGeom>
          <a:noFill/>
          <a:ln/>
        </p:spPr>
        <p:txBody>
          <a:bodyPr wrap="square" lIns="25400" tIns="25400" rIns="25400" bIns="25400" rtlCol="0" anchor="t">
            <a:normAutofit fontScale="92500" lnSpcReduction="10000"/>
          </a:bodyPr>
          <a:lstStyle/>
          <a:p>
            <a:pPr algn="ctr"/>
            <a:r>
              <a:rPr lang="en-US" sz="2400" b="1">
                <a:solidFill>
                  <a:srgbClr val="4A4A5C"/>
                </a:solidFill>
                <a:latin typeface="Calibri"/>
                <a:ea typeface="Calibri"/>
                <a:cs typeface="Calibri"/>
              </a:rPr>
              <a:t>Measure</a:t>
            </a:r>
            <a:endParaRPr lang="en-US" sz="2400">
              <a:solidFill>
                <a:srgbClr val="000000"/>
              </a:solidFill>
              <a:latin typeface="Calibri"/>
              <a:ea typeface="Calibri"/>
              <a:cs typeface="Calibri"/>
            </a:endParaRPr>
          </a:p>
          <a:p>
            <a:pPr marL="0" indent="0" algn="ctr">
              <a:buNone/>
            </a:pPr>
            <a:endParaRPr lang="en-US" sz="2250">
              <a:solidFill>
                <a:srgbClr val="4A4A5C"/>
              </a:solidFill>
              <a:latin typeface="Arial"/>
              <a:cs typeface="Arial"/>
            </a:endParaRPr>
          </a:p>
        </p:txBody>
      </p:sp>
      <p:sp>
        <p:nvSpPr>
          <p:cNvPr id="13" name="Text 11"/>
          <p:cNvSpPr/>
          <p:nvPr/>
        </p:nvSpPr>
        <p:spPr>
          <a:xfrm>
            <a:off x="13376023" y="4269362"/>
            <a:ext cx="4048113" cy="365760"/>
          </a:xfrm>
          <a:prstGeom prst="rect">
            <a:avLst/>
          </a:prstGeom>
          <a:noFill/>
          <a:ln/>
        </p:spPr>
        <p:txBody>
          <a:bodyPr wrap="square" lIns="25400" tIns="25400" rIns="25400" bIns="25400" rtlCol="0" anchor="t">
            <a:normAutofit fontScale="92500" lnSpcReduction="10000"/>
          </a:bodyPr>
          <a:lstStyle/>
          <a:p>
            <a:pPr algn="ctr"/>
            <a:r>
              <a:rPr lang="en-US" sz="2400" b="1">
                <a:solidFill>
                  <a:srgbClr val="4A4A5C"/>
                </a:solidFill>
                <a:latin typeface="Calibri"/>
                <a:ea typeface="Calibri"/>
                <a:cs typeface="Calibri"/>
              </a:rPr>
              <a:t>Measure</a:t>
            </a:r>
            <a:endParaRPr lang="en-US" sz="2400">
              <a:solidFill>
                <a:srgbClr val="000000"/>
              </a:solidFill>
              <a:latin typeface="Calibri"/>
              <a:ea typeface="Calibri"/>
              <a:cs typeface="Calibri"/>
            </a:endParaRPr>
          </a:p>
          <a:p>
            <a:pPr marL="0" indent="0" algn="ctr">
              <a:buNone/>
            </a:pPr>
            <a:endParaRPr lang="en-US" sz="2250">
              <a:solidFill>
                <a:srgbClr val="4A4A5C"/>
              </a:solidFill>
              <a:latin typeface="Arial"/>
              <a:cs typeface="Arial"/>
            </a:endParaRPr>
          </a:p>
        </p:txBody>
      </p:sp>
      <p:sp>
        <p:nvSpPr>
          <p:cNvPr id="14" name="Shape 12"/>
          <p:cNvSpPr/>
          <p:nvPr/>
        </p:nvSpPr>
        <p:spPr>
          <a:xfrm>
            <a:off x="1047750" y="6313170"/>
            <a:ext cx="16192500" cy="9525"/>
          </a:xfrm>
          <a:prstGeom prst="rect">
            <a:avLst/>
          </a:prstGeom>
          <a:solidFill>
            <a:srgbClr val="E1E3F0"/>
          </a:solidFill>
          <a:ln/>
        </p:spPr>
      </p:sp>
      <p:sp>
        <p:nvSpPr>
          <p:cNvPr id="15" name="Text 13"/>
          <p:cNvSpPr/>
          <p:nvPr/>
        </p:nvSpPr>
        <p:spPr>
          <a:xfrm>
            <a:off x="1140426" y="5154518"/>
            <a:ext cx="5667280" cy="365760"/>
          </a:xfrm>
          <a:prstGeom prst="rect">
            <a:avLst/>
          </a:prstGeom>
          <a:noFill/>
          <a:ln/>
        </p:spPr>
        <p:txBody>
          <a:bodyPr wrap="square" lIns="25400" tIns="25400" rIns="25400" bIns="25400" rtlCol="0" anchor="t">
            <a:noAutofit/>
          </a:bodyPr>
          <a:lstStyle/>
          <a:p>
            <a:r>
              <a:rPr lang="en-US" sz="2800" b="1">
                <a:solidFill>
                  <a:srgbClr val="10101B"/>
                </a:solidFill>
                <a:ea typeface="+mn-lt"/>
                <a:cs typeface="+mn-lt"/>
              </a:rPr>
              <a:t>Temperature Scaling</a:t>
            </a:r>
            <a:endParaRPr lang="en-US" sz="2800" b="1">
              <a:ea typeface="Calibri"/>
              <a:cs typeface="Calibri"/>
            </a:endParaRPr>
          </a:p>
        </p:txBody>
      </p:sp>
      <p:sp>
        <p:nvSpPr>
          <p:cNvPr id="16" name="Text 14"/>
          <p:cNvSpPr/>
          <p:nvPr/>
        </p:nvSpPr>
        <p:spPr>
          <a:xfrm>
            <a:off x="6015818" y="5154518"/>
            <a:ext cx="4048113" cy="365760"/>
          </a:xfrm>
          <a:prstGeom prst="rect">
            <a:avLst/>
          </a:prstGeom>
          <a:noFill/>
          <a:ln/>
        </p:spPr>
        <p:txBody>
          <a:bodyPr wrap="square" lIns="25400" tIns="25400" rIns="25400" bIns="25400" rtlCol="0" anchor="t">
            <a:normAutofit fontScale="92500" lnSpcReduction="10000"/>
          </a:bodyPr>
          <a:lstStyle/>
          <a:p>
            <a:pPr algn="ctr"/>
            <a:r>
              <a:rPr lang="en-US" sz="2400" b="1">
                <a:solidFill>
                  <a:srgbClr val="4A4A5C"/>
                </a:solidFill>
                <a:latin typeface="Calibri"/>
                <a:ea typeface="Calibri"/>
                <a:cs typeface="Calibri"/>
              </a:rPr>
              <a:t>Measure</a:t>
            </a:r>
            <a:endParaRPr lang="en-US" sz="2400">
              <a:solidFill>
                <a:srgbClr val="000000"/>
              </a:solidFill>
              <a:latin typeface="Calibri"/>
              <a:ea typeface="Calibri"/>
              <a:cs typeface="Calibri"/>
            </a:endParaRPr>
          </a:p>
          <a:p>
            <a:pPr marL="0" indent="0" algn="ctr">
              <a:buNone/>
            </a:pPr>
            <a:endParaRPr lang="en-US" sz="2250">
              <a:solidFill>
                <a:srgbClr val="4A4A5C"/>
              </a:solidFill>
              <a:latin typeface="Arial"/>
              <a:cs typeface="Arial"/>
            </a:endParaRPr>
          </a:p>
        </p:txBody>
      </p:sp>
      <p:sp>
        <p:nvSpPr>
          <p:cNvPr id="17" name="Text 15"/>
          <p:cNvSpPr/>
          <p:nvPr/>
        </p:nvSpPr>
        <p:spPr>
          <a:xfrm>
            <a:off x="9695921" y="5154518"/>
            <a:ext cx="4048113" cy="365760"/>
          </a:xfrm>
          <a:prstGeom prst="rect">
            <a:avLst/>
          </a:prstGeom>
          <a:noFill/>
          <a:ln/>
        </p:spPr>
        <p:txBody>
          <a:bodyPr wrap="square" lIns="25400" tIns="25400" rIns="25400" bIns="25400" rtlCol="0" anchor="t">
            <a:normAutofit fontScale="92500" lnSpcReduction="10000"/>
          </a:bodyPr>
          <a:lstStyle/>
          <a:p>
            <a:pPr algn="ctr"/>
            <a:r>
              <a:rPr lang="en-US" sz="2400" b="1">
                <a:solidFill>
                  <a:srgbClr val="4A4A5C"/>
                </a:solidFill>
                <a:latin typeface="Calibri"/>
                <a:ea typeface="Calibri"/>
                <a:cs typeface="Calibri"/>
              </a:rPr>
              <a:t>Measure</a:t>
            </a:r>
            <a:endParaRPr lang="en-US" sz="2400">
              <a:solidFill>
                <a:srgbClr val="000000"/>
              </a:solidFill>
              <a:latin typeface="Calibri"/>
              <a:ea typeface="Calibri"/>
              <a:cs typeface="Calibri"/>
            </a:endParaRPr>
          </a:p>
          <a:p>
            <a:pPr marL="0" indent="0" algn="ctr">
              <a:buNone/>
            </a:pPr>
            <a:endParaRPr lang="en-US" sz="2250">
              <a:solidFill>
                <a:srgbClr val="4A4A5C"/>
              </a:solidFill>
              <a:latin typeface="Arial"/>
              <a:cs typeface="Arial"/>
            </a:endParaRPr>
          </a:p>
        </p:txBody>
      </p:sp>
      <p:sp>
        <p:nvSpPr>
          <p:cNvPr id="18" name="Text 16"/>
          <p:cNvSpPr/>
          <p:nvPr/>
        </p:nvSpPr>
        <p:spPr>
          <a:xfrm>
            <a:off x="13376023" y="5154518"/>
            <a:ext cx="4048113" cy="365760"/>
          </a:xfrm>
          <a:prstGeom prst="rect">
            <a:avLst/>
          </a:prstGeom>
          <a:noFill/>
          <a:ln/>
        </p:spPr>
        <p:txBody>
          <a:bodyPr wrap="square" lIns="25400" tIns="25400" rIns="25400" bIns="25400" rtlCol="0" anchor="t">
            <a:normAutofit fontScale="92500" lnSpcReduction="10000"/>
          </a:bodyPr>
          <a:lstStyle/>
          <a:p>
            <a:pPr algn="ctr"/>
            <a:r>
              <a:rPr lang="en-US" sz="2400" b="1">
                <a:solidFill>
                  <a:srgbClr val="4A4A5C"/>
                </a:solidFill>
                <a:latin typeface="Calibri"/>
                <a:ea typeface="Calibri"/>
                <a:cs typeface="Calibri"/>
              </a:rPr>
              <a:t>Measure</a:t>
            </a:r>
            <a:endParaRPr lang="en-US" sz="2400">
              <a:solidFill>
                <a:srgbClr val="000000"/>
              </a:solidFill>
              <a:latin typeface="Calibri"/>
              <a:ea typeface="Calibri"/>
              <a:cs typeface="Calibri"/>
            </a:endParaRPr>
          </a:p>
          <a:p>
            <a:pPr marL="0" indent="0" algn="ctr">
              <a:buNone/>
            </a:pPr>
            <a:endParaRPr lang="en-US" sz="2250">
              <a:solidFill>
                <a:srgbClr val="4A4A5C"/>
              </a:solidFill>
              <a:latin typeface="Arial"/>
              <a:cs typeface="Arial"/>
            </a:endParaRPr>
          </a:p>
        </p:txBody>
      </p:sp>
      <p:sp>
        <p:nvSpPr>
          <p:cNvPr id="19" name="Shape 17"/>
          <p:cNvSpPr/>
          <p:nvPr/>
        </p:nvSpPr>
        <p:spPr>
          <a:xfrm>
            <a:off x="1047750" y="5950087"/>
            <a:ext cx="16192500" cy="784860"/>
          </a:xfrm>
          <a:prstGeom prst="roundRect">
            <a:avLst>
              <a:gd name="adj" fmla="val 14563"/>
            </a:avLst>
          </a:prstGeom>
          <a:solidFill>
            <a:srgbClr val="F4F5FC"/>
          </a:solidFill>
          <a:ln/>
        </p:spPr>
      </p:sp>
      <p:sp>
        <p:nvSpPr>
          <p:cNvPr id="20" name="Text 18"/>
          <p:cNvSpPr/>
          <p:nvPr/>
        </p:nvSpPr>
        <p:spPr>
          <a:xfrm>
            <a:off x="1145574" y="6116904"/>
            <a:ext cx="5476780" cy="365760"/>
          </a:xfrm>
          <a:prstGeom prst="rect">
            <a:avLst/>
          </a:prstGeom>
          <a:noFill/>
          <a:ln/>
        </p:spPr>
        <p:txBody>
          <a:bodyPr wrap="square" lIns="25400" tIns="25400" rIns="25400" bIns="25400" rtlCol="0" anchor="t">
            <a:noAutofit/>
          </a:bodyPr>
          <a:lstStyle/>
          <a:p>
            <a:r>
              <a:rPr lang="en-US" sz="2800" b="1">
                <a:solidFill>
                  <a:srgbClr val="1200FF"/>
                </a:solidFill>
                <a:ea typeface="+mn-lt"/>
                <a:cs typeface="+mn-lt"/>
              </a:rPr>
              <a:t>Calibrated </a:t>
            </a:r>
            <a:r>
              <a:rPr lang="en-US" sz="2800" b="1" err="1">
                <a:solidFill>
                  <a:srgbClr val="1200FF"/>
                </a:solidFill>
                <a:ea typeface="+mn-lt"/>
                <a:cs typeface="+mn-lt"/>
              </a:rPr>
              <a:t>UniMod</a:t>
            </a:r>
            <a:endParaRPr lang="en-US" sz="2800" b="1">
              <a:ea typeface="Calibri"/>
              <a:cs typeface="Calibri"/>
            </a:endParaRPr>
          </a:p>
        </p:txBody>
      </p:sp>
      <p:sp>
        <p:nvSpPr>
          <p:cNvPr id="21" name="Text 19"/>
          <p:cNvSpPr/>
          <p:nvPr/>
        </p:nvSpPr>
        <p:spPr>
          <a:xfrm>
            <a:off x="6015818" y="6116904"/>
            <a:ext cx="4048113" cy="365760"/>
          </a:xfrm>
          <a:prstGeom prst="rect">
            <a:avLst/>
          </a:prstGeom>
          <a:noFill/>
          <a:ln/>
        </p:spPr>
        <p:txBody>
          <a:bodyPr wrap="square" lIns="25400" tIns="25400" rIns="25400" bIns="25400" rtlCol="0" anchor="t">
            <a:normAutofit fontScale="92500" lnSpcReduction="10000"/>
          </a:bodyPr>
          <a:lstStyle/>
          <a:p>
            <a:pPr algn="ctr"/>
            <a:r>
              <a:rPr lang="en-US" sz="2400" b="1">
                <a:solidFill>
                  <a:srgbClr val="1200FF"/>
                </a:solidFill>
                <a:latin typeface="Calibri"/>
                <a:ea typeface="Calibri"/>
                <a:cs typeface="Calibri"/>
              </a:rPr>
              <a:t>Measure</a:t>
            </a:r>
            <a:endParaRPr lang="en-US" sz="2400">
              <a:solidFill>
                <a:srgbClr val="1200FF"/>
              </a:solidFill>
              <a:latin typeface="Calibri"/>
              <a:ea typeface="Calibri"/>
              <a:cs typeface="Calibri"/>
            </a:endParaRPr>
          </a:p>
          <a:p>
            <a:pPr marL="0" indent="0" algn="ctr">
              <a:buNone/>
            </a:pPr>
            <a:endParaRPr lang="en-US" sz="2250" b="1">
              <a:solidFill>
                <a:srgbClr val="1200FF"/>
              </a:solidFill>
              <a:latin typeface="Arial"/>
              <a:cs typeface="Arial"/>
            </a:endParaRPr>
          </a:p>
        </p:txBody>
      </p:sp>
      <p:sp>
        <p:nvSpPr>
          <p:cNvPr id="22" name="Text 20"/>
          <p:cNvSpPr/>
          <p:nvPr/>
        </p:nvSpPr>
        <p:spPr>
          <a:xfrm>
            <a:off x="9695921" y="6116904"/>
            <a:ext cx="4048113" cy="365760"/>
          </a:xfrm>
          <a:prstGeom prst="rect">
            <a:avLst/>
          </a:prstGeom>
          <a:noFill/>
          <a:ln/>
        </p:spPr>
        <p:txBody>
          <a:bodyPr wrap="square" lIns="25400" tIns="25400" rIns="25400" bIns="25400" rtlCol="0" anchor="t">
            <a:normAutofit fontScale="92500" lnSpcReduction="10000"/>
          </a:bodyPr>
          <a:lstStyle/>
          <a:p>
            <a:pPr algn="ctr"/>
            <a:r>
              <a:rPr lang="en-US" sz="2400" b="1">
                <a:solidFill>
                  <a:srgbClr val="1200FF"/>
                </a:solidFill>
                <a:latin typeface="Calibri"/>
                <a:ea typeface="Calibri"/>
                <a:cs typeface="Calibri"/>
              </a:rPr>
              <a:t>Measure</a:t>
            </a:r>
            <a:endParaRPr lang="en-US" sz="2400">
              <a:solidFill>
                <a:srgbClr val="1200FF"/>
              </a:solidFill>
              <a:latin typeface="Calibri"/>
              <a:ea typeface="Calibri"/>
              <a:cs typeface="Calibri"/>
            </a:endParaRPr>
          </a:p>
          <a:p>
            <a:pPr marL="0" indent="0" algn="ctr">
              <a:buNone/>
            </a:pPr>
            <a:endParaRPr lang="en-US" sz="2250" b="1">
              <a:solidFill>
                <a:srgbClr val="1200FF"/>
              </a:solidFill>
              <a:latin typeface="Arial"/>
              <a:cs typeface="Arial"/>
            </a:endParaRPr>
          </a:p>
        </p:txBody>
      </p:sp>
      <p:sp>
        <p:nvSpPr>
          <p:cNvPr id="23" name="Text 21"/>
          <p:cNvSpPr/>
          <p:nvPr/>
        </p:nvSpPr>
        <p:spPr>
          <a:xfrm>
            <a:off x="13453253" y="6116904"/>
            <a:ext cx="3857613" cy="365760"/>
          </a:xfrm>
          <a:prstGeom prst="rect">
            <a:avLst/>
          </a:prstGeom>
          <a:noFill/>
          <a:ln/>
        </p:spPr>
        <p:txBody>
          <a:bodyPr wrap="square" lIns="25400" tIns="25400" rIns="25400" bIns="25400" rtlCol="0" anchor="t">
            <a:normAutofit fontScale="92500" lnSpcReduction="10000"/>
          </a:bodyPr>
          <a:lstStyle/>
          <a:p>
            <a:pPr algn="ctr"/>
            <a:r>
              <a:rPr lang="en-US" sz="2400" b="1">
                <a:solidFill>
                  <a:srgbClr val="1200FF"/>
                </a:solidFill>
                <a:latin typeface="Calibri"/>
                <a:ea typeface="Calibri"/>
                <a:cs typeface="Calibri"/>
              </a:rPr>
              <a:t>Measure</a:t>
            </a:r>
            <a:endParaRPr lang="en-US" sz="2400">
              <a:solidFill>
                <a:srgbClr val="1200FF"/>
              </a:solidFill>
              <a:latin typeface="Calibri"/>
              <a:ea typeface="Calibri"/>
              <a:cs typeface="Calibri"/>
            </a:endParaRPr>
          </a:p>
          <a:p>
            <a:pPr marL="0" indent="0" algn="ctr">
              <a:buNone/>
            </a:pPr>
            <a:endParaRPr lang="en-US" sz="2250" b="1">
              <a:solidFill>
                <a:srgbClr val="1200FF"/>
              </a:solidFill>
              <a:latin typeface="Arial"/>
              <a:cs typeface="Arial"/>
            </a:endParaRPr>
          </a:p>
        </p:txBody>
      </p:sp>
      <p:sp>
        <p:nvSpPr>
          <p:cNvPr id="24" name="Shape 22"/>
          <p:cNvSpPr/>
          <p:nvPr/>
        </p:nvSpPr>
        <p:spPr>
          <a:xfrm>
            <a:off x="1047750" y="9041130"/>
            <a:ext cx="16192500" cy="9525"/>
          </a:xfrm>
          <a:prstGeom prst="rect">
            <a:avLst/>
          </a:prstGeom>
          <a:solidFill>
            <a:srgbClr val="E1E3F0"/>
          </a:solidFill>
          <a:ln/>
        </p:spPr>
      </p:sp>
      <p:pic>
        <p:nvPicPr>
          <p:cNvPr id="25" name="Image 0" descr="preencoded.png"/>
          <p:cNvPicPr>
            <a:picLocks noChangeAspect="1"/>
          </p:cNvPicPr>
          <p:nvPr/>
        </p:nvPicPr>
        <p:blipFill>
          <a:blip r:embed="rId3"/>
          <a:stretch>
            <a:fillRect/>
          </a:stretch>
        </p:blipFill>
        <p:spPr>
          <a:xfrm>
            <a:off x="1047750" y="9315450"/>
            <a:ext cx="553283" cy="304800"/>
          </a:xfrm>
          <a:prstGeom prst="rect">
            <a:avLst/>
          </a:prstGeom>
        </p:spPr>
      </p:pic>
      <p:sp>
        <p:nvSpPr>
          <p:cNvPr id="26" name="Text 23"/>
          <p:cNvSpPr/>
          <p:nvPr/>
        </p:nvSpPr>
        <p:spPr>
          <a:xfrm>
            <a:off x="1734384" y="9345930"/>
            <a:ext cx="3907060" cy="281940"/>
          </a:xfrm>
          <a:prstGeom prst="rect">
            <a:avLst/>
          </a:prstGeom>
          <a:noFill/>
          <a:ln/>
        </p:spPr>
        <p:txBody>
          <a:bodyPr wrap="square" lIns="25400" tIns="25400" rIns="25400" bIns="25400" rtlCol="0" anchor="t">
            <a:normAutofit lnSpcReduction="10000"/>
          </a:bodyPr>
          <a:lstStyle/>
          <a:p>
            <a:pPr marL="0" indent="0" algn="l">
              <a:buNone/>
            </a:pPr>
            <a:r>
              <a:rPr lang="en-US" sz="1650">
                <a:solidFill>
                  <a:srgbClr val="4A4A5C"/>
                </a:solidFill>
                <a:latin typeface="Arial" pitchFamily="34" charset="0"/>
                <a:ea typeface="Arial" pitchFamily="34" charset="-122"/>
                <a:cs typeface="Arial" pitchFamily="34" charset="-120"/>
              </a:rPr>
              <a:t>Department of CSE · Uttara University</a:t>
            </a:r>
            <a:endParaRPr lang="en-US" sz="1650"/>
          </a:p>
        </p:txBody>
      </p:sp>
      <p:sp>
        <p:nvSpPr>
          <p:cNvPr id="27" name="Text 24"/>
          <p:cNvSpPr/>
          <p:nvPr/>
        </p:nvSpPr>
        <p:spPr>
          <a:xfrm>
            <a:off x="16614934" y="9345930"/>
            <a:ext cx="701516" cy="281940"/>
          </a:xfrm>
          <a:prstGeom prst="rect">
            <a:avLst/>
          </a:prstGeom>
          <a:noFill/>
          <a:ln/>
        </p:spPr>
        <p:txBody>
          <a:bodyPr wrap="square" lIns="25400" tIns="25400" rIns="25400" bIns="25400" rtlCol="0" anchor="t">
            <a:normAutofit lnSpcReduction="10000"/>
          </a:bodyPr>
          <a:lstStyle/>
          <a:p>
            <a:pPr marL="0" indent="0" algn="l">
              <a:buNone/>
            </a:pPr>
            <a:r>
              <a:rPr lang="en-US" sz="1650">
                <a:solidFill>
                  <a:srgbClr val="4A4A5C"/>
                </a:solidFill>
                <a:latin typeface="Arial" pitchFamily="34" charset="0"/>
                <a:ea typeface="Arial" pitchFamily="34" charset="-122"/>
                <a:cs typeface="Arial" pitchFamily="34" charset="-120"/>
              </a:rPr>
              <a:t>11 / 15</a:t>
            </a:r>
            <a:endParaRPr lang="en-US" sz="1650"/>
          </a:p>
        </p:txBody>
      </p:sp>
      <p:sp>
        <p:nvSpPr>
          <p:cNvPr id="29" name="TextBox 28">
            <a:extLst>
              <a:ext uri="{FF2B5EF4-FFF2-40B4-BE49-F238E27FC236}">
                <a16:creationId xmlns:a16="http://schemas.microsoft.com/office/drawing/2014/main" id="{5F2754C2-42F2-0451-8BD8-CFE7C504A62A}"/>
              </a:ext>
            </a:extLst>
          </p:cNvPr>
          <p:cNvSpPr txBox="1"/>
          <p:nvPr/>
        </p:nvSpPr>
        <p:spPr>
          <a:xfrm>
            <a:off x="1050096" y="7265695"/>
            <a:ext cx="16191689"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ea typeface="+mn-lt"/>
                <a:cs typeface="+mn-lt"/>
              </a:rPr>
              <a:t>ECE</a:t>
            </a:r>
            <a:r>
              <a:rPr lang="en-US" sz="2400">
                <a:ea typeface="+mn-lt"/>
                <a:cs typeface="+mn-lt"/>
              </a:rPr>
              <a:t> = Expected Calibration Error</a:t>
            </a:r>
          </a:p>
          <a:p>
            <a:r>
              <a:rPr lang="en-US" sz="2400" b="1">
                <a:ea typeface="+mn-lt"/>
                <a:cs typeface="+mn-lt"/>
              </a:rPr>
              <a:t>BS</a:t>
            </a:r>
            <a:r>
              <a:rPr lang="en-US" sz="2400">
                <a:ea typeface="+mn-lt"/>
                <a:cs typeface="+mn-lt"/>
              </a:rPr>
              <a:t> = Brier Score</a:t>
            </a:r>
          </a:p>
          <a:p>
            <a:r>
              <a:rPr lang="en-US" sz="2400" b="1">
                <a:ea typeface="+mn-lt"/>
                <a:cs typeface="+mn-lt"/>
              </a:rPr>
              <a:t>Measure</a:t>
            </a:r>
            <a:r>
              <a:rPr lang="en-US" sz="2400">
                <a:ea typeface="+mn-lt"/>
                <a:cs typeface="+mn-lt"/>
              </a:rPr>
              <a:t> indicates experimental values that still need to be calculated.</a:t>
            </a:r>
            <a:endParaRPr lang="en-US" sz="2400">
              <a:ea typeface="Calibri"/>
              <a:cs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047750" y="857250"/>
            <a:ext cx="17811750" cy="312420"/>
          </a:xfrm>
          <a:prstGeom prst="rect">
            <a:avLst/>
          </a:prstGeom>
          <a:noFill/>
          <a:ln/>
        </p:spPr>
        <p:txBody>
          <a:bodyPr wrap="square" lIns="25400" tIns="25400" rIns="25400" bIns="25400" rtlCol="0" anchor="t">
            <a:normAutofit lnSpcReduction="10000"/>
          </a:bodyPr>
          <a:lstStyle/>
          <a:p>
            <a:pPr marL="0" indent="0" algn="l">
              <a:buNone/>
            </a:pPr>
            <a:r>
              <a:rPr lang="en-US" sz="1875" b="1" kern="0" spc="263">
                <a:solidFill>
                  <a:srgbClr val="1200FF"/>
                </a:solidFill>
                <a:latin typeface="Arial" pitchFamily="34" charset="0"/>
                <a:ea typeface="Arial" pitchFamily="34" charset="-122"/>
                <a:cs typeface="Arial" pitchFamily="34" charset="-120"/>
              </a:rPr>
              <a:t>10 — CONCLUSION &amp; FUTURE WORK</a:t>
            </a:r>
            <a:endParaRPr lang="en-US" sz="1875"/>
          </a:p>
        </p:txBody>
      </p:sp>
      <p:sp>
        <p:nvSpPr>
          <p:cNvPr id="3" name="Text 1"/>
          <p:cNvSpPr/>
          <p:nvPr/>
        </p:nvSpPr>
        <p:spPr>
          <a:xfrm>
            <a:off x="1047750" y="1264920"/>
            <a:ext cx="17811750" cy="693420"/>
          </a:xfrm>
          <a:prstGeom prst="rect">
            <a:avLst/>
          </a:prstGeom>
          <a:noFill/>
          <a:ln/>
        </p:spPr>
        <p:txBody>
          <a:bodyPr wrap="square" lIns="25400" tIns="25400" rIns="25400" bIns="25400" rtlCol="0" anchor="t">
            <a:normAutofit lnSpcReduction="10000"/>
          </a:bodyPr>
          <a:lstStyle/>
          <a:p>
            <a:pPr marL="0" indent="0" algn="l">
              <a:buNone/>
            </a:pPr>
            <a:r>
              <a:rPr lang="en-US" sz="4500" b="1" kern="0" spc="-45">
                <a:solidFill>
                  <a:srgbClr val="10101B"/>
                </a:solidFill>
                <a:latin typeface="Arial" pitchFamily="34" charset="0"/>
                <a:ea typeface="Arial" pitchFamily="34" charset="-122"/>
                <a:cs typeface="Arial" pitchFamily="34" charset="-120"/>
              </a:rPr>
              <a:t>Conclusion &amp; Future Work</a:t>
            </a:r>
            <a:endParaRPr lang="en-US" sz="4500"/>
          </a:p>
        </p:txBody>
      </p:sp>
      <p:sp>
        <p:nvSpPr>
          <p:cNvPr id="4" name="Text 2"/>
          <p:cNvSpPr/>
          <p:nvPr/>
        </p:nvSpPr>
        <p:spPr>
          <a:xfrm>
            <a:off x="1047750" y="2339340"/>
            <a:ext cx="8539163" cy="312420"/>
          </a:xfrm>
          <a:prstGeom prst="rect">
            <a:avLst/>
          </a:prstGeom>
          <a:noFill/>
          <a:ln/>
        </p:spPr>
        <p:txBody>
          <a:bodyPr wrap="square" lIns="25400" tIns="25400" rIns="25400" bIns="25400" rtlCol="0" anchor="t">
            <a:normAutofit lnSpcReduction="10000"/>
          </a:bodyPr>
          <a:lstStyle/>
          <a:p>
            <a:pPr marL="0" indent="0" algn="l">
              <a:buNone/>
            </a:pPr>
            <a:r>
              <a:rPr lang="en-US" sz="1875" b="1" kern="0" spc="113">
                <a:solidFill>
                  <a:srgbClr val="1200FF"/>
                </a:solidFill>
                <a:latin typeface="Arial" pitchFamily="34" charset="0"/>
                <a:ea typeface="Arial" pitchFamily="34" charset="-122"/>
                <a:cs typeface="Arial" pitchFamily="34" charset="-120"/>
              </a:rPr>
              <a:t>CONCLUSION</a:t>
            </a:r>
            <a:endParaRPr lang="en-US" sz="1875"/>
          </a:p>
        </p:txBody>
      </p:sp>
      <p:sp>
        <p:nvSpPr>
          <p:cNvPr id="5" name="Shape 3"/>
          <p:cNvSpPr/>
          <p:nvPr/>
        </p:nvSpPr>
        <p:spPr>
          <a:xfrm>
            <a:off x="1047750" y="2842260"/>
            <a:ext cx="76200" cy="1745242"/>
          </a:xfrm>
          <a:prstGeom prst="roundRect">
            <a:avLst>
              <a:gd name="adj" fmla="val 50000"/>
            </a:avLst>
          </a:prstGeom>
          <a:solidFill>
            <a:srgbClr val="1200FF"/>
          </a:solidFill>
          <a:ln/>
        </p:spPr>
      </p:sp>
      <p:sp>
        <p:nvSpPr>
          <p:cNvPr id="6" name="Text 4"/>
          <p:cNvSpPr/>
          <p:nvPr/>
        </p:nvSpPr>
        <p:spPr>
          <a:xfrm>
            <a:off x="1330778" y="2842260"/>
            <a:ext cx="7467385" cy="1759403"/>
          </a:xfrm>
          <a:prstGeom prst="rect">
            <a:avLst/>
          </a:prstGeom>
          <a:noFill/>
          <a:ln/>
        </p:spPr>
        <p:txBody>
          <a:bodyPr wrap="square" lIns="25400" tIns="25400" rIns="25400" bIns="25400" rtlCol="0" anchor="t">
            <a:normAutofit/>
          </a:bodyPr>
          <a:lstStyle/>
          <a:p>
            <a:r>
              <a:rPr lang="en-US" sz="2250">
                <a:solidFill>
                  <a:srgbClr val="10101B"/>
                </a:solidFill>
                <a:ea typeface="+mn-lt"/>
                <a:cs typeface="+mn-lt"/>
              </a:rPr>
              <a:t>Investigated uncertainty estimation and confidence calibration in the </a:t>
            </a:r>
            <a:r>
              <a:rPr lang="en-US" sz="2250" err="1">
                <a:solidFill>
                  <a:srgbClr val="10101B"/>
                </a:solidFill>
                <a:ea typeface="+mn-lt"/>
                <a:cs typeface="+mn-lt"/>
              </a:rPr>
              <a:t>UniMod</a:t>
            </a:r>
            <a:r>
              <a:rPr lang="en-US" sz="2250">
                <a:solidFill>
                  <a:srgbClr val="10101B"/>
                </a:solidFill>
                <a:ea typeface="+mn-lt"/>
                <a:cs typeface="+mn-lt"/>
              </a:rPr>
              <a:t> framework for multimodal medical diagnosis, evaluating performance via accuracy, Expected Calibration Error (ECE), and the Brier Score.</a:t>
            </a:r>
            <a:endParaRPr lang="en-US">
              <a:ea typeface="Calibri" panose="020F0502020204030204"/>
              <a:cs typeface="Calibri" panose="020F0502020204030204"/>
            </a:endParaRPr>
          </a:p>
        </p:txBody>
      </p:sp>
      <p:sp>
        <p:nvSpPr>
          <p:cNvPr id="7" name="Shape 5"/>
          <p:cNvSpPr/>
          <p:nvPr/>
        </p:nvSpPr>
        <p:spPr>
          <a:xfrm>
            <a:off x="1047750" y="4846592"/>
            <a:ext cx="76200" cy="1740884"/>
          </a:xfrm>
          <a:prstGeom prst="roundRect">
            <a:avLst>
              <a:gd name="adj" fmla="val 50000"/>
            </a:avLst>
          </a:prstGeom>
          <a:solidFill>
            <a:srgbClr val="1200FF"/>
          </a:solidFill>
          <a:ln/>
        </p:spPr>
      </p:sp>
      <p:sp>
        <p:nvSpPr>
          <p:cNvPr id="8" name="Text 6"/>
          <p:cNvSpPr/>
          <p:nvPr/>
        </p:nvSpPr>
        <p:spPr>
          <a:xfrm>
            <a:off x="1330778" y="4846592"/>
            <a:ext cx="7491319" cy="1759403"/>
          </a:xfrm>
          <a:prstGeom prst="rect">
            <a:avLst/>
          </a:prstGeom>
          <a:noFill/>
          <a:ln/>
        </p:spPr>
        <p:txBody>
          <a:bodyPr wrap="square" lIns="25400" tIns="25400" rIns="25400" bIns="25400" rtlCol="0" anchor="t">
            <a:normAutofit lnSpcReduction="10000"/>
          </a:bodyPr>
          <a:lstStyle/>
          <a:p>
            <a:pPr>
              <a:lnSpc>
                <a:spcPct val="130814"/>
              </a:lnSpc>
            </a:pPr>
            <a:r>
              <a:rPr lang="en-US" sz="2250">
                <a:solidFill>
                  <a:srgbClr val="10101B"/>
                </a:solidFill>
                <a:ea typeface="+mn-lt"/>
                <a:cs typeface="+mn-lt"/>
              </a:rPr>
              <a:t>Evaluated whether post-processing temperature scaling can effectively align uncalibrated model probability scores with true diagnostic accuracy without compromising classification performance.</a:t>
            </a:r>
            <a:endParaRPr lang="en-US"/>
          </a:p>
        </p:txBody>
      </p:sp>
      <p:sp>
        <p:nvSpPr>
          <p:cNvPr id="9" name="Shape 7"/>
          <p:cNvSpPr/>
          <p:nvPr/>
        </p:nvSpPr>
        <p:spPr>
          <a:xfrm>
            <a:off x="1047750" y="6864531"/>
            <a:ext cx="76200" cy="1367512"/>
          </a:xfrm>
          <a:prstGeom prst="roundRect">
            <a:avLst>
              <a:gd name="adj" fmla="val 50000"/>
            </a:avLst>
          </a:prstGeom>
          <a:solidFill>
            <a:srgbClr val="1200FF"/>
          </a:solidFill>
          <a:ln/>
        </p:spPr>
      </p:sp>
      <p:sp>
        <p:nvSpPr>
          <p:cNvPr id="10" name="Text 8"/>
          <p:cNvSpPr/>
          <p:nvPr/>
        </p:nvSpPr>
        <p:spPr>
          <a:xfrm>
            <a:off x="1330778" y="6864531"/>
            <a:ext cx="7488458" cy="1745796"/>
          </a:xfrm>
          <a:prstGeom prst="rect">
            <a:avLst/>
          </a:prstGeom>
          <a:noFill/>
          <a:ln/>
        </p:spPr>
        <p:txBody>
          <a:bodyPr wrap="square" lIns="25400" tIns="25400" rIns="25400" bIns="25400" rtlCol="0" anchor="t">
            <a:normAutofit/>
          </a:bodyPr>
          <a:lstStyle/>
          <a:p>
            <a:pPr>
              <a:lnSpc>
                <a:spcPct val="130814"/>
              </a:lnSpc>
            </a:pPr>
            <a:r>
              <a:rPr lang="en-US" sz="2250">
                <a:solidFill>
                  <a:srgbClr val="10101B"/>
                </a:solidFill>
                <a:ea typeface="+mn-lt"/>
                <a:cs typeface="+mn-lt"/>
              </a:rPr>
              <a:t>Emphasized the critical necessity of assessing confidence reliability separately from raw prediction accuracy to support safer, more trustworthy clinical AI systems.</a:t>
            </a:r>
            <a:endParaRPr lang="en-US"/>
          </a:p>
        </p:txBody>
      </p:sp>
      <p:sp>
        <p:nvSpPr>
          <p:cNvPr id="11" name="Shape 9"/>
          <p:cNvSpPr/>
          <p:nvPr/>
        </p:nvSpPr>
        <p:spPr>
          <a:xfrm>
            <a:off x="9477375" y="2339340"/>
            <a:ext cx="9525" cy="6701790"/>
          </a:xfrm>
          <a:prstGeom prst="rect">
            <a:avLst/>
          </a:prstGeom>
          <a:solidFill>
            <a:srgbClr val="E1E3F0"/>
          </a:solidFill>
          <a:ln/>
        </p:spPr>
      </p:sp>
      <p:sp>
        <p:nvSpPr>
          <p:cNvPr id="12" name="Text 10"/>
          <p:cNvSpPr/>
          <p:nvPr/>
        </p:nvSpPr>
        <p:spPr>
          <a:xfrm>
            <a:off x="10151745" y="2339340"/>
            <a:ext cx="7797356" cy="312420"/>
          </a:xfrm>
          <a:prstGeom prst="rect">
            <a:avLst/>
          </a:prstGeom>
          <a:noFill/>
          <a:ln/>
        </p:spPr>
        <p:txBody>
          <a:bodyPr wrap="square" lIns="25400" tIns="25400" rIns="25400" bIns="25400" rtlCol="0" anchor="t">
            <a:normAutofit lnSpcReduction="10000"/>
          </a:bodyPr>
          <a:lstStyle/>
          <a:p>
            <a:pPr marL="0" indent="0" algn="l">
              <a:buNone/>
            </a:pPr>
            <a:r>
              <a:rPr lang="en-US" sz="1875" b="1" kern="0" spc="113">
                <a:solidFill>
                  <a:srgbClr val="4A4A5C"/>
                </a:solidFill>
                <a:latin typeface="Arial" pitchFamily="34" charset="0"/>
                <a:ea typeface="Arial" pitchFamily="34" charset="-122"/>
                <a:cs typeface="Arial" pitchFamily="34" charset="-120"/>
              </a:rPr>
              <a:t>FUTURE WORK</a:t>
            </a:r>
            <a:endParaRPr lang="en-US" sz="1875"/>
          </a:p>
        </p:txBody>
      </p:sp>
      <p:sp>
        <p:nvSpPr>
          <p:cNvPr id="13" name="Shape 11"/>
          <p:cNvSpPr/>
          <p:nvPr/>
        </p:nvSpPr>
        <p:spPr>
          <a:xfrm>
            <a:off x="10151745" y="2842260"/>
            <a:ext cx="76200" cy="1556273"/>
          </a:xfrm>
          <a:prstGeom prst="roundRect">
            <a:avLst>
              <a:gd name="adj" fmla="val 50000"/>
            </a:avLst>
          </a:prstGeom>
          <a:solidFill>
            <a:srgbClr val="4A4A5C"/>
          </a:solidFill>
          <a:ln/>
        </p:spPr>
      </p:sp>
      <p:sp>
        <p:nvSpPr>
          <p:cNvPr id="14" name="Text 12"/>
          <p:cNvSpPr/>
          <p:nvPr/>
        </p:nvSpPr>
        <p:spPr>
          <a:xfrm>
            <a:off x="10380345" y="2842260"/>
            <a:ext cx="6575418" cy="1759403"/>
          </a:xfrm>
          <a:prstGeom prst="rect">
            <a:avLst/>
          </a:prstGeom>
          <a:noFill/>
          <a:ln/>
        </p:spPr>
        <p:txBody>
          <a:bodyPr wrap="square" lIns="25400" tIns="25400" rIns="25400" bIns="25400" rtlCol="0" anchor="t">
            <a:normAutofit/>
          </a:bodyPr>
          <a:lstStyle/>
          <a:p>
            <a:pPr>
              <a:lnSpc>
                <a:spcPct val="110000"/>
              </a:lnSpc>
            </a:pPr>
            <a:r>
              <a:rPr lang="en-US" sz="2250">
                <a:solidFill>
                  <a:srgbClr val="10101B"/>
                </a:solidFill>
                <a:ea typeface="+mn-lt"/>
                <a:cs typeface="+mn-lt"/>
              </a:rPr>
              <a:t>Extending validation beyond single-dataset constraints to evaluate external generalizability across diverse hospital settings, patient populations, and device configurations.</a:t>
            </a:r>
            <a:endParaRPr lang="en-US">
              <a:ea typeface="Calibri" panose="020F0502020204030204"/>
              <a:cs typeface="Calibri" panose="020F0502020204030204"/>
            </a:endParaRPr>
          </a:p>
        </p:txBody>
      </p:sp>
      <p:sp>
        <p:nvSpPr>
          <p:cNvPr id="15" name="Shape 13"/>
          <p:cNvSpPr/>
          <p:nvPr/>
        </p:nvSpPr>
        <p:spPr>
          <a:xfrm>
            <a:off x="10151745" y="4860200"/>
            <a:ext cx="76200" cy="1646406"/>
          </a:xfrm>
          <a:prstGeom prst="roundRect">
            <a:avLst>
              <a:gd name="adj" fmla="val 50000"/>
            </a:avLst>
          </a:prstGeom>
          <a:solidFill>
            <a:srgbClr val="4A4A5C"/>
          </a:solidFill>
          <a:ln/>
        </p:spPr>
      </p:sp>
      <p:sp>
        <p:nvSpPr>
          <p:cNvPr id="16" name="Text 14"/>
          <p:cNvSpPr/>
          <p:nvPr/>
        </p:nvSpPr>
        <p:spPr>
          <a:xfrm>
            <a:off x="10380345" y="4860200"/>
            <a:ext cx="6579640" cy="1759403"/>
          </a:xfrm>
          <a:prstGeom prst="rect">
            <a:avLst/>
          </a:prstGeom>
          <a:noFill/>
          <a:ln/>
        </p:spPr>
        <p:txBody>
          <a:bodyPr wrap="square" lIns="25400" tIns="25400" rIns="25400" bIns="25400" rtlCol="0" anchor="t">
            <a:normAutofit/>
          </a:bodyPr>
          <a:lstStyle/>
          <a:p>
            <a:pPr>
              <a:lnSpc>
                <a:spcPct val="110000"/>
              </a:lnSpc>
            </a:pPr>
            <a:r>
              <a:rPr lang="en-US" sz="2250">
                <a:solidFill>
                  <a:srgbClr val="10101B"/>
                </a:solidFill>
                <a:ea typeface="+mn-lt"/>
                <a:cs typeface="+mn-lt"/>
              </a:rPr>
              <a:t>Exploring alternative or combined uncertainty quantification methods (such as deep ensembles or data-driven variance estimation) beyond basic temperature scaling.</a:t>
            </a:r>
            <a:endParaRPr lang="en-US">
              <a:ea typeface="Calibri" panose="020F0502020204030204"/>
              <a:cs typeface="Calibri" panose="020F0502020204030204"/>
            </a:endParaRPr>
          </a:p>
        </p:txBody>
      </p:sp>
      <p:sp>
        <p:nvSpPr>
          <p:cNvPr id="17" name="Shape 15"/>
          <p:cNvSpPr/>
          <p:nvPr/>
        </p:nvSpPr>
        <p:spPr>
          <a:xfrm>
            <a:off x="10151745" y="6878139"/>
            <a:ext cx="76200" cy="1544626"/>
          </a:xfrm>
          <a:prstGeom prst="roundRect">
            <a:avLst>
              <a:gd name="adj" fmla="val 50000"/>
            </a:avLst>
          </a:prstGeom>
          <a:solidFill>
            <a:srgbClr val="4A4A5C"/>
          </a:solidFill>
          <a:ln/>
        </p:spPr>
      </p:sp>
      <p:sp>
        <p:nvSpPr>
          <p:cNvPr id="18" name="Text 16"/>
          <p:cNvSpPr/>
          <p:nvPr/>
        </p:nvSpPr>
        <p:spPr>
          <a:xfrm>
            <a:off x="10380345" y="6864532"/>
            <a:ext cx="6573500" cy="1745796"/>
          </a:xfrm>
          <a:prstGeom prst="rect">
            <a:avLst/>
          </a:prstGeom>
          <a:noFill/>
          <a:ln/>
        </p:spPr>
        <p:txBody>
          <a:bodyPr wrap="square" lIns="25400" tIns="25400" rIns="25400" bIns="25400" rtlCol="0" anchor="t">
            <a:normAutofit/>
          </a:bodyPr>
          <a:lstStyle/>
          <a:p>
            <a:pPr>
              <a:lnSpc>
                <a:spcPct val="110000"/>
              </a:lnSpc>
            </a:pPr>
            <a:r>
              <a:rPr lang="en-US" sz="2250">
                <a:solidFill>
                  <a:srgbClr val="10101B"/>
                </a:solidFill>
                <a:ea typeface="+mn-lt"/>
                <a:cs typeface="+mn-lt"/>
              </a:rPr>
              <a:t>Investigating automated selective prediction (abstention frameworks) to dynamically defer ambiguous, high-uncertainty diagnostic instances for expert human review.</a:t>
            </a:r>
            <a:endParaRPr lang="en-US">
              <a:ea typeface="Calibri" panose="020F0502020204030204"/>
              <a:cs typeface="Calibri" panose="020F0502020204030204"/>
            </a:endParaRPr>
          </a:p>
        </p:txBody>
      </p:sp>
      <p:sp>
        <p:nvSpPr>
          <p:cNvPr id="19" name="Shape 17"/>
          <p:cNvSpPr/>
          <p:nvPr/>
        </p:nvSpPr>
        <p:spPr>
          <a:xfrm>
            <a:off x="1047750" y="9041130"/>
            <a:ext cx="16192500" cy="9525"/>
          </a:xfrm>
          <a:prstGeom prst="rect">
            <a:avLst/>
          </a:prstGeom>
          <a:solidFill>
            <a:srgbClr val="E1E3F0"/>
          </a:solidFill>
          <a:ln/>
        </p:spPr>
      </p:sp>
      <p:pic>
        <p:nvPicPr>
          <p:cNvPr id="20" name="Image 0" descr="preencoded.png"/>
          <p:cNvPicPr>
            <a:picLocks noChangeAspect="1"/>
          </p:cNvPicPr>
          <p:nvPr/>
        </p:nvPicPr>
        <p:blipFill>
          <a:blip r:embed="rId3"/>
          <a:stretch>
            <a:fillRect/>
          </a:stretch>
        </p:blipFill>
        <p:spPr>
          <a:xfrm>
            <a:off x="1047750" y="9315450"/>
            <a:ext cx="553283" cy="304800"/>
          </a:xfrm>
          <a:prstGeom prst="rect">
            <a:avLst/>
          </a:prstGeom>
        </p:spPr>
      </p:pic>
      <p:sp>
        <p:nvSpPr>
          <p:cNvPr id="21" name="Text 18"/>
          <p:cNvSpPr/>
          <p:nvPr/>
        </p:nvSpPr>
        <p:spPr>
          <a:xfrm>
            <a:off x="1734384" y="9345930"/>
            <a:ext cx="3907060" cy="281940"/>
          </a:xfrm>
          <a:prstGeom prst="rect">
            <a:avLst/>
          </a:prstGeom>
          <a:noFill/>
          <a:ln/>
        </p:spPr>
        <p:txBody>
          <a:bodyPr wrap="square" lIns="25400" tIns="25400" rIns="25400" bIns="25400" rtlCol="0" anchor="t">
            <a:normAutofit lnSpcReduction="10000"/>
          </a:bodyPr>
          <a:lstStyle/>
          <a:p>
            <a:pPr marL="0" indent="0" algn="l">
              <a:buNone/>
            </a:pPr>
            <a:r>
              <a:rPr lang="en-US" sz="1650">
                <a:solidFill>
                  <a:srgbClr val="4A4A5C"/>
                </a:solidFill>
                <a:latin typeface="Arial" pitchFamily="34" charset="0"/>
                <a:ea typeface="Arial" pitchFamily="34" charset="-122"/>
                <a:cs typeface="Arial" pitchFamily="34" charset="-120"/>
              </a:rPr>
              <a:t>Department of CSE · Uttara University</a:t>
            </a:r>
            <a:endParaRPr lang="en-US" sz="1650"/>
          </a:p>
        </p:txBody>
      </p:sp>
      <p:sp>
        <p:nvSpPr>
          <p:cNvPr id="22" name="Text 19"/>
          <p:cNvSpPr/>
          <p:nvPr/>
        </p:nvSpPr>
        <p:spPr>
          <a:xfrm>
            <a:off x="16599337" y="9345930"/>
            <a:ext cx="717113" cy="281940"/>
          </a:xfrm>
          <a:prstGeom prst="rect">
            <a:avLst/>
          </a:prstGeom>
          <a:noFill/>
          <a:ln/>
        </p:spPr>
        <p:txBody>
          <a:bodyPr wrap="square" lIns="25400" tIns="25400" rIns="25400" bIns="25400" rtlCol="0" anchor="t">
            <a:normAutofit lnSpcReduction="10000"/>
          </a:bodyPr>
          <a:lstStyle/>
          <a:p>
            <a:pPr marL="0" indent="0" algn="l">
              <a:buNone/>
            </a:pPr>
            <a:r>
              <a:rPr lang="en-US" sz="1650">
                <a:solidFill>
                  <a:srgbClr val="4A4A5C"/>
                </a:solidFill>
                <a:latin typeface="Arial" pitchFamily="34" charset="0"/>
                <a:ea typeface="Arial" pitchFamily="34" charset="-122"/>
                <a:cs typeface="Arial" pitchFamily="34" charset="-120"/>
              </a:rPr>
              <a:t>12 / 15</a:t>
            </a:r>
            <a:endParaRPr lang="en-US" sz="165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047750" y="857250"/>
            <a:ext cx="17811750" cy="312420"/>
          </a:xfrm>
          <a:prstGeom prst="rect">
            <a:avLst/>
          </a:prstGeom>
          <a:noFill/>
          <a:ln/>
        </p:spPr>
        <p:txBody>
          <a:bodyPr wrap="square" lIns="25400" tIns="25400" rIns="25400" bIns="25400" rtlCol="0" anchor="t">
            <a:normAutofit lnSpcReduction="10000"/>
          </a:bodyPr>
          <a:lstStyle/>
          <a:p>
            <a:pPr marL="0" indent="0" algn="l">
              <a:buNone/>
            </a:pPr>
            <a:r>
              <a:rPr lang="en-US" sz="1875" b="1" kern="0" spc="263">
                <a:solidFill>
                  <a:srgbClr val="1200FF"/>
                </a:solidFill>
                <a:latin typeface="Arial" pitchFamily="34" charset="0"/>
                <a:ea typeface="Arial" pitchFamily="34" charset="-122"/>
                <a:cs typeface="Arial" pitchFamily="34" charset="-120"/>
              </a:rPr>
              <a:t>11 — REFERENCES</a:t>
            </a:r>
            <a:endParaRPr lang="en-US" sz="1875"/>
          </a:p>
        </p:txBody>
      </p:sp>
      <p:sp>
        <p:nvSpPr>
          <p:cNvPr id="3" name="Text 1"/>
          <p:cNvSpPr/>
          <p:nvPr/>
        </p:nvSpPr>
        <p:spPr>
          <a:xfrm>
            <a:off x="1047750" y="1264920"/>
            <a:ext cx="17811750" cy="693420"/>
          </a:xfrm>
          <a:prstGeom prst="rect">
            <a:avLst/>
          </a:prstGeom>
          <a:noFill/>
          <a:ln/>
        </p:spPr>
        <p:txBody>
          <a:bodyPr wrap="square" lIns="25400" tIns="25400" rIns="25400" bIns="25400" rtlCol="0" anchor="t">
            <a:normAutofit lnSpcReduction="10000"/>
          </a:bodyPr>
          <a:lstStyle/>
          <a:p>
            <a:pPr marL="0" indent="0" algn="l">
              <a:buNone/>
            </a:pPr>
            <a:r>
              <a:rPr lang="en-US" sz="4500" b="1" kern="0" spc="-45">
                <a:solidFill>
                  <a:srgbClr val="10101B"/>
                </a:solidFill>
                <a:latin typeface="Arial" pitchFamily="34" charset="0"/>
                <a:ea typeface="Arial" pitchFamily="34" charset="-122"/>
                <a:cs typeface="Arial" pitchFamily="34" charset="-120"/>
              </a:rPr>
              <a:t>References</a:t>
            </a:r>
            <a:endParaRPr lang="en-US" sz="4500"/>
          </a:p>
        </p:txBody>
      </p:sp>
      <p:sp>
        <p:nvSpPr>
          <p:cNvPr id="4" name="Text 2"/>
          <p:cNvSpPr/>
          <p:nvPr/>
        </p:nvSpPr>
        <p:spPr>
          <a:xfrm>
            <a:off x="1047750" y="2071789"/>
            <a:ext cx="16365299" cy="496438"/>
          </a:xfrm>
          <a:prstGeom prst="rect">
            <a:avLst/>
          </a:prstGeom>
          <a:noFill/>
          <a:ln/>
        </p:spPr>
        <p:txBody>
          <a:bodyPr wrap="square" lIns="25400" tIns="25400" rIns="25400" bIns="25400" rtlCol="0" anchor="t">
            <a:noAutofit/>
          </a:bodyPr>
          <a:lstStyle/>
          <a:p>
            <a:pPr>
              <a:lnSpc>
                <a:spcPct val="130208"/>
              </a:lnSpc>
            </a:pPr>
            <a:r>
              <a:rPr lang="en-US" sz="2000">
                <a:solidFill>
                  <a:srgbClr val="10101B"/>
                </a:solidFill>
                <a:latin typeface="Arial"/>
                <a:ea typeface="Arial" pitchFamily="34" charset="-122"/>
                <a:cs typeface="Arial"/>
              </a:rPr>
              <a:t>[1] </a:t>
            </a:r>
            <a:r>
              <a:rPr lang="en-US" sz="2000">
                <a:solidFill>
                  <a:srgbClr val="10101B"/>
                </a:solidFill>
                <a:ea typeface="+mn-lt"/>
                <a:cs typeface="+mn-lt"/>
              </a:rPr>
              <a:t>C. Guo, G. Pleiss, Y. Sun, and K. Q. Weinberger, “On calibration of modern neural networks,” in Proceedings of the 34th International Conference on Machine Learning, ser. Proceedings of Machine Learning Research, D. Precup and Y. W. Teh, Eds., vol. 70. PMLR, 06–11 Aug 2017, pp. 1321–1330. [Online]. Available: https://proceedings.mlr.press/v70/guo17a.html</a:t>
            </a:r>
            <a:endParaRPr lang="en-US" sz="2000"/>
          </a:p>
        </p:txBody>
      </p:sp>
      <p:sp>
        <p:nvSpPr>
          <p:cNvPr id="5" name="Text 3"/>
          <p:cNvSpPr/>
          <p:nvPr/>
        </p:nvSpPr>
        <p:spPr>
          <a:xfrm>
            <a:off x="1047750" y="3548882"/>
            <a:ext cx="16658634" cy="1022420"/>
          </a:xfrm>
          <a:prstGeom prst="rect">
            <a:avLst/>
          </a:prstGeom>
          <a:noFill/>
          <a:ln/>
        </p:spPr>
        <p:txBody>
          <a:bodyPr wrap="square" lIns="25400" tIns="25400" rIns="25400" bIns="25400" rtlCol="0" anchor="t">
            <a:normAutofit/>
          </a:bodyPr>
          <a:lstStyle/>
          <a:p>
            <a:pPr>
              <a:lnSpc>
                <a:spcPct val="130208"/>
              </a:lnSpc>
            </a:pPr>
            <a:r>
              <a:rPr lang="en-US" sz="2000">
                <a:solidFill>
                  <a:srgbClr val="10101B"/>
                </a:solidFill>
                <a:latin typeface="Arial"/>
                <a:ea typeface="Arial" pitchFamily="34" charset="-122"/>
                <a:cs typeface="Arial"/>
              </a:rPr>
              <a:t>[2] </a:t>
            </a:r>
            <a:r>
              <a:rPr lang="en-US" sz="2000">
                <a:solidFill>
                  <a:srgbClr val="10101B"/>
                </a:solidFill>
                <a:ea typeface="+mn-lt"/>
                <a:cs typeface="+mn-lt"/>
              </a:rPr>
              <a:t>J. Nixon, M. Dusenberry, G. Jerfel, T. Nguyen, J. Liu, L. Zhang, and D. Tran, “Measuring calibration in deep learning,” 2020. [Online]. Available: https://arxiv.org/abs/1904.01685</a:t>
            </a:r>
            <a:endParaRPr lang="en-US" sz="2000">
              <a:ea typeface="Calibri"/>
              <a:cs typeface="Calibri"/>
            </a:endParaRPr>
          </a:p>
        </p:txBody>
      </p:sp>
      <p:sp>
        <p:nvSpPr>
          <p:cNvPr id="6" name="Text 4"/>
          <p:cNvSpPr/>
          <p:nvPr/>
        </p:nvSpPr>
        <p:spPr>
          <a:xfrm>
            <a:off x="1047746" y="4722523"/>
            <a:ext cx="16800248" cy="850464"/>
          </a:xfrm>
          <a:prstGeom prst="rect">
            <a:avLst/>
          </a:prstGeom>
          <a:noFill/>
          <a:ln/>
        </p:spPr>
        <p:txBody>
          <a:bodyPr wrap="square" lIns="25400" tIns="25400" rIns="25400" bIns="25400" rtlCol="0" anchor="t">
            <a:normAutofit/>
          </a:bodyPr>
          <a:lstStyle/>
          <a:p>
            <a:pPr>
              <a:lnSpc>
                <a:spcPct val="130208"/>
              </a:lnSpc>
            </a:pPr>
            <a:r>
              <a:rPr lang="en-US" sz="2000">
                <a:solidFill>
                  <a:srgbClr val="10101B"/>
                </a:solidFill>
                <a:latin typeface="Arial"/>
                <a:ea typeface="Arial" pitchFamily="34" charset="-122"/>
                <a:cs typeface="Arial"/>
              </a:rPr>
              <a:t>[3]</a:t>
            </a:r>
            <a:r>
              <a:rPr lang="en-US" sz="2000">
                <a:solidFill>
                  <a:srgbClr val="10101B"/>
                </a:solidFill>
                <a:latin typeface="Arial"/>
                <a:ea typeface="+mn-lt"/>
                <a:cs typeface="Arial"/>
              </a:rPr>
              <a:t> </a:t>
            </a:r>
            <a:r>
              <a:rPr lang="en-US" sz="2000">
                <a:solidFill>
                  <a:srgbClr val="10101B"/>
                </a:solidFill>
                <a:ea typeface="+mn-lt"/>
                <a:cs typeface="+mn-lt"/>
              </a:rPr>
              <a:t>A. Kurz, K. Hauser, H. A. Mehrtens, E. Krieghoff-Henning, A. Hekler, J. N. Kather, S. </a:t>
            </a:r>
            <a:r>
              <a:rPr lang="en-US" sz="2000" err="1">
                <a:solidFill>
                  <a:srgbClr val="10101B"/>
                </a:solidFill>
                <a:ea typeface="+mn-lt"/>
                <a:cs typeface="+mn-lt"/>
              </a:rPr>
              <a:t>Fr¨ohling</a:t>
            </a:r>
            <a:r>
              <a:rPr lang="en-US" sz="2000">
                <a:solidFill>
                  <a:srgbClr val="10101B"/>
                </a:solidFill>
                <a:ea typeface="+mn-lt"/>
                <a:cs typeface="+mn-lt"/>
              </a:rPr>
              <a:t>, C. von Kalle, and T. J. Brinker, “Uncertainty estimation in medical image classification: Systematic review,” JMIR Med Inform, vol. 10, no. 8, p. e36427, Aug 2022. [Online]. Available: https://medinform.jmir.org/2022/8/e36427</a:t>
            </a:r>
            <a:endParaRPr lang="en-US" sz="2000">
              <a:ea typeface="Calibri"/>
              <a:cs typeface="Calibri"/>
            </a:endParaRPr>
          </a:p>
        </p:txBody>
      </p:sp>
      <p:sp>
        <p:nvSpPr>
          <p:cNvPr id="7" name="Text 5"/>
          <p:cNvSpPr/>
          <p:nvPr/>
        </p:nvSpPr>
        <p:spPr>
          <a:xfrm>
            <a:off x="1047750" y="5875930"/>
            <a:ext cx="16365299" cy="1062880"/>
          </a:xfrm>
          <a:prstGeom prst="rect">
            <a:avLst/>
          </a:prstGeom>
          <a:noFill/>
          <a:ln/>
        </p:spPr>
        <p:txBody>
          <a:bodyPr wrap="square" lIns="25400" tIns="25400" rIns="25400" bIns="25400" rtlCol="0" anchor="t">
            <a:normAutofit/>
          </a:bodyPr>
          <a:lstStyle/>
          <a:p>
            <a:pPr>
              <a:lnSpc>
                <a:spcPct val="130208"/>
              </a:lnSpc>
            </a:pPr>
            <a:r>
              <a:rPr lang="en-US" sz="2000">
                <a:solidFill>
                  <a:srgbClr val="10101B"/>
                </a:solidFill>
                <a:latin typeface="Arial"/>
                <a:ea typeface="Arial" pitchFamily="34" charset="-122"/>
                <a:cs typeface="Arial"/>
              </a:rPr>
              <a:t>[4] </a:t>
            </a:r>
            <a:r>
              <a:rPr lang="en-US" sz="2000">
                <a:solidFill>
                  <a:srgbClr val="10101B"/>
                </a:solidFill>
                <a:ea typeface="+mn-lt"/>
                <a:cs typeface="+mn-lt"/>
              </a:rPr>
              <a:t>K. Zou, Z. Chen, X. Yuan, X. Shen, M. Wang, and H. Fu, “A review of uncertainty estimation and its application in medical imaging,” Meta Radiology, vol. 1, no. 1, p. 100003, 2023. [Online]. Available: https: //www.sciencedirect.com/science/article/pii/S2950162823000036</a:t>
            </a:r>
            <a:endParaRPr lang="en-US" sz="2000">
              <a:ea typeface="Calibri"/>
              <a:cs typeface="Calibri"/>
            </a:endParaRPr>
          </a:p>
        </p:txBody>
      </p:sp>
      <p:sp>
        <p:nvSpPr>
          <p:cNvPr id="8" name="Text 6"/>
          <p:cNvSpPr/>
          <p:nvPr/>
        </p:nvSpPr>
        <p:spPr>
          <a:xfrm>
            <a:off x="1047750" y="7231642"/>
            <a:ext cx="16375414" cy="1477597"/>
          </a:xfrm>
          <a:prstGeom prst="rect">
            <a:avLst/>
          </a:prstGeom>
          <a:noFill/>
          <a:ln/>
        </p:spPr>
        <p:txBody>
          <a:bodyPr wrap="square" lIns="25400" tIns="25400" rIns="25400" bIns="25400" rtlCol="0" anchor="t">
            <a:normAutofit/>
          </a:bodyPr>
          <a:lstStyle/>
          <a:p>
            <a:pPr>
              <a:lnSpc>
                <a:spcPct val="130208"/>
              </a:lnSpc>
            </a:pPr>
            <a:r>
              <a:rPr lang="en-US" sz="2000">
                <a:solidFill>
                  <a:srgbClr val="10101B"/>
                </a:solidFill>
                <a:latin typeface="Arial"/>
                <a:ea typeface="Arial" pitchFamily="34" charset="-122"/>
                <a:cs typeface="Arial"/>
              </a:rPr>
              <a:t>[5] </a:t>
            </a:r>
            <a:r>
              <a:rPr lang="en-US" sz="2000">
                <a:solidFill>
                  <a:srgbClr val="10101B"/>
                </a:solidFill>
                <a:ea typeface="+mn-lt"/>
                <a:cs typeface="+mn-lt"/>
              </a:rPr>
              <a:t>B. Lambert, F. Forbes, S. Doyle, H. Dehaene, and M. Dojat, “Trustworthy clinical ai solutions: A unified review of uncertainty quantification in deep learning models for medical image analysis,” Artificial Intelligence in Medicine, vol. 150, p. 102830, 2024. [Online]. Available: https://www.sciencedirect.com/science/article/ </a:t>
            </a:r>
            <a:r>
              <a:rPr lang="en-US" sz="2000" err="1">
                <a:solidFill>
                  <a:srgbClr val="10101B"/>
                </a:solidFill>
                <a:ea typeface="+mn-lt"/>
                <a:cs typeface="+mn-lt"/>
              </a:rPr>
              <a:t>pii</a:t>
            </a:r>
            <a:r>
              <a:rPr lang="en-US" sz="2000">
                <a:solidFill>
                  <a:srgbClr val="10101B"/>
                </a:solidFill>
                <a:ea typeface="+mn-lt"/>
                <a:cs typeface="+mn-lt"/>
              </a:rPr>
              <a:t>/S0933365724000721</a:t>
            </a:r>
            <a:endParaRPr lang="en-US" sz="2000">
              <a:ea typeface="Calibri"/>
              <a:cs typeface="Calibri"/>
            </a:endParaRPr>
          </a:p>
        </p:txBody>
      </p:sp>
      <p:sp>
        <p:nvSpPr>
          <p:cNvPr id="10" name="Shape 8"/>
          <p:cNvSpPr/>
          <p:nvPr/>
        </p:nvSpPr>
        <p:spPr>
          <a:xfrm>
            <a:off x="1047750" y="9041130"/>
            <a:ext cx="16192500" cy="9525"/>
          </a:xfrm>
          <a:prstGeom prst="rect">
            <a:avLst/>
          </a:prstGeom>
          <a:solidFill>
            <a:srgbClr val="E1E3F0"/>
          </a:solidFill>
          <a:ln/>
        </p:spPr>
      </p:sp>
      <p:pic>
        <p:nvPicPr>
          <p:cNvPr id="11" name="Image 0" descr="preencoded.png"/>
          <p:cNvPicPr>
            <a:picLocks noChangeAspect="1"/>
          </p:cNvPicPr>
          <p:nvPr/>
        </p:nvPicPr>
        <p:blipFill>
          <a:blip r:embed="rId3"/>
          <a:stretch>
            <a:fillRect/>
          </a:stretch>
        </p:blipFill>
        <p:spPr>
          <a:xfrm>
            <a:off x="1047750" y="9315450"/>
            <a:ext cx="553283" cy="304800"/>
          </a:xfrm>
          <a:prstGeom prst="rect">
            <a:avLst/>
          </a:prstGeom>
        </p:spPr>
      </p:pic>
      <p:sp>
        <p:nvSpPr>
          <p:cNvPr id="12" name="Text 9"/>
          <p:cNvSpPr/>
          <p:nvPr/>
        </p:nvSpPr>
        <p:spPr>
          <a:xfrm>
            <a:off x="1734384" y="9345930"/>
            <a:ext cx="3907060" cy="281940"/>
          </a:xfrm>
          <a:prstGeom prst="rect">
            <a:avLst/>
          </a:prstGeom>
          <a:noFill/>
          <a:ln/>
        </p:spPr>
        <p:txBody>
          <a:bodyPr wrap="square" lIns="25400" tIns="25400" rIns="25400" bIns="25400" rtlCol="0" anchor="t">
            <a:normAutofit lnSpcReduction="10000"/>
          </a:bodyPr>
          <a:lstStyle/>
          <a:p>
            <a:pPr marL="0" indent="0" algn="l">
              <a:buNone/>
            </a:pPr>
            <a:r>
              <a:rPr lang="en-US" sz="1650">
                <a:solidFill>
                  <a:srgbClr val="4A4A5C"/>
                </a:solidFill>
                <a:latin typeface="Arial" pitchFamily="34" charset="0"/>
                <a:ea typeface="Arial" pitchFamily="34" charset="-122"/>
                <a:cs typeface="Arial" pitchFamily="34" charset="-120"/>
              </a:rPr>
              <a:t>Department of CSE · Uttara University</a:t>
            </a:r>
            <a:endParaRPr lang="en-US" sz="1650"/>
          </a:p>
        </p:txBody>
      </p:sp>
      <p:sp>
        <p:nvSpPr>
          <p:cNvPr id="13" name="Text 10"/>
          <p:cNvSpPr/>
          <p:nvPr/>
        </p:nvSpPr>
        <p:spPr>
          <a:xfrm>
            <a:off x="16599337" y="9345930"/>
            <a:ext cx="717113" cy="281940"/>
          </a:xfrm>
          <a:prstGeom prst="rect">
            <a:avLst/>
          </a:prstGeom>
          <a:noFill/>
          <a:ln/>
        </p:spPr>
        <p:txBody>
          <a:bodyPr wrap="square" lIns="25400" tIns="25400" rIns="25400" bIns="25400" rtlCol="0" anchor="t">
            <a:normAutofit lnSpcReduction="10000"/>
          </a:bodyPr>
          <a:lstStyle/>
          <a:p>
            <a:pPr marL="0" indent="0" algn="l">
              <a:buNone/>
            </a:pPr>
            <a:r>
              <a:rPr lang="en-US" sz="1650">
                <a:solidFill>
                  <a:srgbClr val="4A4A5C"/>
                </a:solidFill>
                <a:latin typeface="Arial" pitchFamily="34" charset="0"/>
                <a:ea typeface="Arial" pitchFamily="34" charset="-122"/>
                <a:cs typeface="Arial" pitchFamily="34" charset="-120"/>
              </a:rPr>
              <a:t>13 / 15</a:t>
            </a:r>
            <a:endParaRPr lang="en-US" sz="165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16" name="Text 1">
            <a:extLst>
              <a:ext uri="{FF2B5EF4-FFF2-40B4-BE49-F238E27FC236}">
                <a16:creationId xmlns:a16="http://schemas.microsoft.com/office/drawing/2014/main" id="{8FE9E54C-6628-1DCB-06B7-23137E027824}"/>
              </a:ext>
            </a:extLst>
          </p:cNvPr>
          <p:cNvSpPr/>
          <p:nvPr/>
        </p:nvSpPr>
        <p:spPr>
          <a:xfrm>
            <a:off x="1047750" y="1376672"/>
            <a:ext cx="17811750" cy="693420"/>
          </a:xfrm>
          <a:prstGeom prst="rect">
            <a:avLst/>
          </a:prstGeom>
          <a:noFill/>
          <a:ln/>
        </p:spPr>
        <p:txBody>
          <a:bodyPr wrap="square" lIns="25400" tIns="25400" rIns="25400" bIns="25400" rtlCol="0" anchor="t">
            <a:normAutofit lnSpcReduction="10000"/>
          </a:bodyPr>
          <a:lstStyle/>
          <a:p>
            <a:pPr marL="0" indent="0" algn="l">
              <a:buNone/>
            </a:pPr>
            <a:r>
              <a:rPr lang="en-US" sz="4500" b="1" kern="0" spc="-45" dirty="0">
                <a:solidFill>
                  <a:srgbClr val="10101B"/>
                </a:solidFill>
                <a:latin typeface="Arial" pitchFamily="34" charset="0"/>
                <a:ea typeface="Arial" pitchFamily="34" charset="-122"/>
                <a:cs typeface="Arial" pitchFamily="34" charset="-120"/>
              </a:rPr>
              <a:t>Acknowledgement</a:t>
            </a:r>
            <a:endParaRPr lang="en-US" sz="4500" dirty="0"/>
          </a:p>
        </p:txBody>
      </p:sp>
      <p:sp>
        <p:nvSpPr>
          <p:cNvPr id="18" name="Text 0">
            <a:extLst>
              <a:ext uri="{FF2B5EF4-FFF2-40B4-BE49-F238E27FC236}">
                <a16:creationId xmlns:a16="http://schemas.microsoft.com/office/drawing/2014/main" id="{A86F7342-B3BA-C387-7515-280D16BF6BEF}"/>
              </a:ext>
            </a:extLst>
          </p:cNvPr>
          <p:cNvSpPr/>
          <p:nvPr/>
        </p:nvSpPr>
        <p:spPr>
          <a:xfrm>
            <a:off x="1123949" y="915558"/>
            <a:ext cx="17811750" cy="312420"/>
          </a:xfrm>
          <a:prstGeom prst="rect">
            <a:avLst/>
          </a:prstGeom>
          <a:noFill/>
          <a:ln/>
        </p:spPr>
        <p:txBody>
          <a:bodyPr wrap="square" lIns="25400" tIns="25400" rIns="25400" bIns="25400" rtlCol="0" anchor="t">
            <a:normAutofit lnSpcReduction="10000"/>
          </a:bodyPr>
          <a:lstStyle/>
          <a:p>
            <a:pPr marL="0" indent="0" algn="l">
              <a:buNone/>
            </a:pPr>
            <a:r>
              <a:rPr lang="en-US" sz="1875" b="1" kern="0" spc="263" dirty="0">
                <a:solidFill>
                  <a:srgbClr val="1200FF"/>
                </a:solidFill>
                <a:latin typeface="Arial" pitchFamily="34" charset="0"/>
                <a:ea typeface="Arial" pitchFamily="34" charset="-122"/>
                <a:cs typeface="Arial" pitchFamily="34" charset="-120"/>
              </a:rPr>
              <a:t>12 — ACKNOWLEDGEMENT</a:t>
            </a:r>
            <a:endParaRPr lang="en-US" sz="1875" dirty="0"/>
          </a:p>
        </p:txBody>
      </p:sp>
      <p:sp>
        <p:nvSpPr>
          <p:cNvPr id="20" name="Shape 3">
            <a:extLst>
              <a:ext uri="{FF2B5EF4-FFF2-40B4-BE49-F238E27FC236}">
                <a16:creationId xmlns:a16="http://schemas.microsoft.com/office/drawing/2014/main" id="{EEDB4660-5241-00D6-B087-63368927C750}"/>
              </a:ext>
            </a:extLst>
          </p:cNvPr>
          <p:cNvSpPr/>
          <p:nvPr/>
        </p:nvSpPr>
        <p:spPr>
          <a:xfrm>
            <a:off x="1047750" y="9312800"/>
            <a:ext cx="16192500" cy="9525"/>
          </a:xfrm>
          <a:prstGeom prst="rect">
            <a:avLst/>
          </a:prstGeom>
          <a:solidFill>
            <a:srgbClr val="E1E3F0"/>
          </a:solidFill>
          <a:ln/>
        </p:spPr>
      </p:sp>
      <p:sp>
        <p:nvSpPr>
          <p:cNvPr id="22" name="Text 4">
            <a:extLst>
              <a:ext uri="{FF2B5EF4-FFF2-40B4-BE49-F238E27FC236}">
                <a16:creationId xmlns:a16="http://schemas.microsoft.com/office/drawing/2014/main" id="{0273F45D-CCB4-4C27-0B1E-ECA5C3AE5C74}"/>
              </a:ext>
            </a:extLst>
          </p:cNvPr>
          <p:cNvSpPr/>
          <p:nvPr/>
        </p:nvSpPr>
        <p:spPr>
          <a:xfrm>
            <a:off x="1593166" y="9591510"/>
            <a:ext cx="3907060" cy="281940"/>
          </a:xfrm>
          <a:prstGeom prst="rect">
            <a:avLst/>
          </a:prstGeom>
          <a:noFill/>
          <a:ln/>
        </p:spPr>
        <p:txBody>
          <a:bodyPr wrap="square" lIns="25400" tIns="25400" rIns="25400" bIns="25400" rtlCol="0" anchor="t">
            <a:normAutofit lnSpcReduction="10000"/>
          </a:bodyPr>
          <a:lstStyle/>
          <a:p>
            <a:pPr marL="0" indent="0" algn="l">
              <a:buNone/>
            </a:pPr>
            <a:r>
              <a:rPr lang="en-US" sz="1650" dirty="0">
                <a:solidFill>
                  <a:srgbClr val="4A4A5C"/>
                </a:solidFill>
                <a:latin typeface="Arial" pitchFamily="34" charset="0"/>
                <a:ea typeface="Arial" pitchFamily="34" charset="-122"/>
                <a:cs typeface="Arial" pitchFamily="34" charset="-120"/>
              </a:rPr>
              <a:t>Department of CSE · Uttara University</a:t>
            </a:r>
            <a:endParaRPr lang="en-US" sz="1650" dirty="0"/>
          </a:p>
        </p:txBody>
      </p:sp>
      <p:pic>
        <p:nvPicPr>
          <p:cNvPr id="24" name="Image 0" descr="preencoded.png">
            <a:extLst>
              <a:ext uri="{FF2B5EF4-FFF2-40B4-BE49-F238E27FC236}">
                <a16:creationId xmlns:a16="http://schemas.microsoft.com/office/drawing/2014/main" id="{D3DA94DC-9486-0538-9704-292C51879B06}"/>
              </a:ext>
            </a:extLst>
          </p:cNvPr>
          <p:cNvPicPr>
            <a:picLocks noChangeAspect="1"/>
          </p:cNvPicPr>
          <p:nvPr/>
        </p:nvPicPr>
        <p:blipFill>
          <a:blip r:embed="rId3"/>
          <a:stretch>
            <a:fillRect/>
          </a:stretch>
        </p:blipFill>
        <p:spPr>
          <a:xfrm>
            <a:off x="847308" y="9588694"/>
            <a:ext cx="553283" cy="304800"/>
          </a:xfrm>
          <a:prstGeom prst="rect">
            <a:avLst/>
          </a:prstGeom>
        </p:spPr>
      </p:pic>
      <p:sp>
        <p:nvSpPr>
          <p:cNvPr id="26" name="Text 5">
            <a:extLst>
              <a:ext uri="{FF2B5EF4-FFF2-40B4-BE49-F238E27FC236}">
                <a16:creationId xmlns:a16="http://schemas.microsoft.com/office/drawing/2014/main" id="{06E46E8D-99A1-169A-2955-C08D47F9A23B}"/>
              </a:ext>
            </a:extLst>
          </p:cNvPr>
          <p:cNvSpPr/>
          <p:nvPr/>
        </p:nvSpPr>
        <p:spPr>
          <a:xfrm>
            <a:off x="16503259" y="9588694"/>
            <a:ext cx="717113" cy="281940"/>
          </a:xfrm>
          <a:prstGeom prst="rect">
            <a:avLst/>
          </a:prstGeom>
          <a:noFill/>
          <a:ln/>
        </p:spPr>
        <p:txBody>
          <a:bodyPr wrap="square" lIns="25400" tIns="25400" rIns="25400" bIns="25400" rtlCol="0" anchor="t">
            <a:normAutofit lnSpcReduction="10000"/>
          </a:bodyPr>
          <a:lstStyle/>
          <a:p>
            <a:pPr marL="0" indent="0" algn="l">
              <a:buNone/>
            </a:pPr>
            <a:r>
              <a:rPr lang="en-US" sz="1650" dirty="0">
                <a:solidFill>
                  <a:srgbClr val="4A4A5C"/>
                </a:solidFill>
                <a:latin typeface="Arial" pitchFamily="34" charset="0"/>
                <a:ea typeface="Arial" pitchFamily="34" charset="-122"/>
                <a:cs typeface="Arial" pitchFamily="34" charset="-120"/>
              </a:rPr>
              <a:t>14 / 15</a:t>
            </a:r>
            <a:endParaRPr lang="en-US" sz="1650" dirty="0"/>
          </a:p>
        </p:txBody>
      </p:sp>
      <p:pic>
        <p:nvPicPr>
          <p:cNvPr id="30" name="Picture 29">
            <a:extLst>
              <a:ext uri="{FF2B5EF4-FFF2-40B4-BE49-F238E27FC236}">
                <a16:creationId xmlns:a16="http://schemas.microsoft.com/office/drawing/2014/main" id="{4657EFB8-10BE-5A7B-A7A7-DD6B27A6661A}"/>
              </a:ext>
            </a:extLst>
          </p:cNvPr>
          <p:cNvPicPr>
            <a:picLocks noChangeAspect="1"/>
          </p:cNvPicPr>
          <p:nvPr/>
        </p:nvPicPr>
        <p:blipFill>
          <a:blip r:embed="rId4"/>
          <a:stretch>
            <a:fillRect/>
          </a:stretch>
        </p:blipFill>
        <p:spPr>
          <a:xfrm>
            <a:off x="8907959" y="3822878"/>
            <a:ext cx="8651580" cy="4880113"/>
          </a:xfrm>
          <a:prstGeom prst="rect">
            <a:avLst/>
          </a:prstGeom>
          <a:ln>
            <a:noFill/>
          </a:ln>
          <a:effectLst>
            <a:outerShdw blurRad="190500" algn="tl" rotWithShape="0">
              <a:srgbClr val="000000">
                <a:alpha val="70000"/>
              </a:srgbClr>
            </a:outerShdw>
          </a:effectLst>
        </p:spPr>
      </p:pic>
      <p:sp>
        <p:nvSpPr>
          <p:cNvPr id="32" name="TextBox 31">
            <a:extLst>
              <a:ext uri="{FF2B5EF4-FFF2-40B4-BE49-F238E27FC236}">
                <a16:creationId xmlns:a16="http://schemas.microsoft.com/office/drawing/2014/main" id="{CAAE6536-DB38-EB98-FAC0-707F38FB3800}"/>
              </a:ext>
            </a:extLst>
          </p:cNvPr>
          <p:cNvSpPr txBox="1"/>
          <p:nvPr/>
        </p:nvSpPr>
        <p:spPr>
          <a:xfrm>
            <a:off x="1047750" y="2561605"/>
            <a:ext cx="6795461" cy="3539430"/>
          </a:xfrm>
          <a:prstGeom prst="rect">
            <a:avLst/>
          </a:prstGeom>
          <a:noFill/>
        </p:spPr>
        <p:txBody>
          <a:bodyPr wrap="square">
            <a:spAutoFit/>
          </a:bodyPr>
          <a:lstStyle/>
          <a:p>
            <a:pPr>
              <a:buNone/>
            </a:pPr>
            <a:r>
              <a:rPr lang="en-US" sz="3200" dirty="0"/>
              <a:t>We express our sincere gratitude to our supervisor </a:t>
            </a:r>
            <a:r>
              <a:rPr lang="en-US" sz="3200" b="1" dirty="0"/>
              <a:t>Mr. Mohsin Hossain</a:t>
            </a:r>
            <a:r>
              <a:rPr lang="en-US" sz="3200" dirty="0"/>
              <a:t> for his valuable guidance and support. We also thank the Department of CSE, Uttara University and our families and peers for their encouragement throughout this research.</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200FF"/>
        </a:solidFill>
        <a:effectLst/>
      </p:bgPr>
    </p:bg>
    <p:spTree>
      <p:nvGrpSpPr>
        <p:cNvPr id="1" name=""/>
        <p:cNvGrpSpPr/>
        <p:nvPr/>
      </p:nvGrpSpPr>
      <p:grpSpPr>
        <a:xfrm>
          <a:off x="0" y="0"/>
          <a:ext cx="0" cy="0"/>
          <a:chOff x="0" y="0"/>
          <a:chExt cx="0" cy="0"/>
        </a:xfrm>
      </p:grpSpPr>
      <p:sp>
        <p:nvSpPr>
          <p:cNvPr id="2" name="Shape 0"/>
          <p:cNvSpPr/>
          <p:nvPr/>
        </p:nvSpPr>
        <p:spPr>
          <a:xfrm>
            <a:off x="14097000" y="6477000"/>
            <a:ext cx="5905500" cy="5905500"/>
          </a:xfrm>
          <a:prstGeom prst="ellipse">
            <a:avLst/>
          </a:prstGeom>
          <a:solidFill>
            <a:srgbClr val="FFFFFF">
              <a:alpha val="6000"/>
            </a:srgbClr>
          </a:solidFill>
          <a:ln/>
        </p:spPr>
      </p:sp>
      <p:sp>
        <p:nvSpPr>
          <p:cNvPr id="3" name="Shape 1"/>
          <p:cNvSpPr/>
          <p:nvPr/>
        </p:nvSpPr>
        <p:spPr>
          <a:xfrm>
            <a:off x="-1524000" y="-1905000"/>
            <a:ext cx="4572000" cy="4572000"/>
          </a:xfrm>
          <a:prstGeom prst="ellipse">
            <a:avLst/>
          </a:prstGeom>
          <a:solidFill>
            <a:srgbClr val="FFFFFF">
              <a:alpha val="5000"/>
            </a:srgbClr>
          </a:solidFill>
          <a:ln/>
        </p:spPr>
      </p:sp>
      <p:pic>
        <p:nvPicPr>
          <p:cNvPr id="4" name="Image 0" descr="preencoded.png"/>
          <p:cNvPicPr>
            <a:picLocks noChangeAspect="1"/>
          </p:cNvPicPr>
          <p:nvPr/>
        </p:nvPicPr>
        <p:blipFill>
          <a:blip r:embed="rId3"/>
          <a:stretch>
            <a:fillRect/>
          </a:stretch>
        </p:blipFill>
        <p:spPr>
          <a:xfrm>
            <a:off x="8556070" y="3394710"/>
            <a:ext cx="1175742" cy="647700"/>
          </a:xfrm>
          <a:prstGeom prst="rect">
            <a:avLst/>
          </a:prstGeom>
        </p:spPr>
      </p:pic>
      <p:sp>
        <p:nvSpPr>
          <p:cNvPr id="5" name="Text 2"/>
          <p:cNvSpPr/>
          <p:nvPr/>
        </p:nvSpPr>
        <p:spPr>
          <a:xfrm>
            <a:off x="6714928" y="3962400"/>
            <a:ext cx="4858024" cy="1127760"/>
          </a:xfrm>
          <a:prstGeom prst="rect">
            <a:avLst/>
          </a:prstGeom>
          <a:noFill/>
          <a:ln/>
        </p:spPr>
        <p:txBody>
          <a:bodyPr wrap="square" lIns="25400" tIns="25400" rIns="25400" bIns="25400" rtlCol="0" anchor="t">
            <a:normAutofit lnSpcReduction="10000"/>
          </a:bodyPr>
          <a:lstStyle/>
          <a:p>
            <a:pPr marL="0" indent="0" algn="ctr">
              <a:buNone/>
            </a:pPr>
            <a:r>
              <a:rPr lang="en-US" sz="7500" b="1" kern="0" spc="-75" dirty="0">
                <a:solidFill>
                  <a:srgbClr val="FFFFFF"/>
                </a:solidFill>
                <a:latin typeface="Arial" pitchFamily="34" charset="0"/>
                <a:ea typeface="Arial" pitchFamily="34" charset="-122"/>
                <a:cs typeface="Arial" pitchFamily="34" charset="-120"/>
              </a:rPr>
              <a:t>Thank You</a:t>
            </a:r>
            <a:endParaRPr lang="en-US" sz="7500" dirty="0"/>
          </a:p>
        </p:txBody>
      </p:sp>
      <p:sp>
        <p:nvSpPr>
          <p:cNvPr id="6" name="Text 3"/>
          <p:cNvSpPr/>
          <p:nvPr/>
        </p:nvSpPr>
        <p:spPr>
          <a:xfrm>
            <a:off x="7041695" y="5234940"/>
            <a:ext cx="4204490" cy="457200"/>
          </a:xfrm>
          <a:prstGeom prst="rect">
            <a:avLst/>
          </a:prstGeom>
          <a:noFill/>
          <a:ln/>
        </p:spPr>
        <p:txBody>
          <a:bodyPr wrap="square" lIns="25400" tIns="25400" rIns="25400" bIns="25400" rtlCol="0" anchor="t">
            <a:normAutofit lnSpcReduction="10000"/>
          </a:bodyPr>
          <a:lstStyle/>
          <a:p>
            <a:pPr marL="0" indent="0" algn="ctr">
              <a:buNone/>
            </a:pPr>
            <a:r>
              <a:rPr lang="en-US" sz="2850" dirty="0">
                <a:solidFill>
                  <a:srgbClr val="FFFFFF">
                    <a:alpha val="82000"/>
                  </a:srgbClr>
                </a:solidFill>
                <a:latin typeface="Arial" pitchFamily="34" charset="0"/>
                <a:ea typeface="Arial" pitchFamily="34" charset="-122"/>
                <a:cs typeface="Arial" pitchFamily="34" charset="-120"/>
              </a:rPr>
              <a:t>Questions &amp; Discussion</a:t>
            </a:r>
            <a:endParaRPr lang="en-US" sz="2850" dirty="0"/>
          </a:p>
        </p:txBody>
      </p:sp>
      <p:sp>
        <p:nvSpPr>
          <p:cNvPr id="7" name="Text 4"/>
          <p:cNvSpPr/>
          <p:nvPr/>
        </p:nvSpPr>
        <p:spPr>
          <a:xfrm>
            <a:off x="5744712" y="6158735"/>
            <a:ext cx="6798457" cy="312420"/>
          </a:xfrm>
          <a:prstGeom prst="rect">
            <a:avLst/>
          </a:prstGeom>
          <a:noFill/>
          <a:ln/>
        </p:spPr>
        <p:txBody>
          <a:bodyPr wrap="square" lIns="25400" tIns="25400" rIns="25400" bIns="25400" rtlCol="0" anchor="t">
            <a:normAutofit lnSpcReduction="10000"/>
          </a:bodyPr>
          <a:lstStyle/>
          <a:p>
            <a:pPr algn="ctr"/>
            <a:r>
              <a:rPr lang="en-US" sz="1850">
                <a:solidFill>
                  <a:srgbClr val="FFFFFF">
                    <a:alpha val="72000"/>
                  </a:srgbClr>
                </a:solidFill>
                <a:latin typeface="Arial"/>
                <a:ea typeface="Arial" pitchFamily="34" charset="-122"/>
                <a:cs typeface="Arial"/>
              </a:rPr>
              <a:t>Raian Mahadi · [raian.mahadi@uttarauniversity.edu.bd]</a:t>
            </a:r>
            <a:endParaRPr lang="en-US" sz="1850">
              <a:latin typeface="Arial"/>
              <a:cs typeface="Arial"/>
            </a:endParaRPr>
          </a:p>
        </p:txBody>
      </p:sp>
      <p:sp>
        <p:nvSpPr>
          <p:cNvPr id="8" name="Text 4">
            <a:extLst>
              <a:ext uri="{FF2B5EF4-FFF2-40B4-BE49-F238E27FC236}">
                <a16:creationId xmlns:a16="http://schemas.microsoft.com/office/drawing/2014/main" id="{C65ABE5B-DE86-CE75-8A7A-5CE021C29791}"/>
              </a:ext>
            </a:extLst>
          </p:cNvPr>
          <p:cNvSpPr/>
          <p:nvPr/>
        </p:nvSpPr>
        <p:spPr>
          <a:xfrm>
            <a:off x="5744712" y="6604505"/>
            <a:ext cx="6798457" cy="312420"/>
          </a:xfrm>
          <a:prstGeom prst="rect">
            <a:avLst/>
          </a:prstGeom>
          <a:noFill/>
          <a:ln/>
        </p:spPr>
        <p:txBody>
          <a:bodyPr wrap="square" lIns="25400" tIns="25400" rIns="25400" bIns="25400" rtlCol="0" anchor="t">
            <a:normAutofit lnSpcReduction="10000"/>
          </a:bodyPr>
          <a:lstStyle/>
          <a:p>
            <a:pPr algn="ctr"/>
            <a:r>
              <a:rPr lang="en-US" sz="1850" dirty="0">
                <a:solidFill>
                  <a:srgbClr val="FFFFFF">
                    <a:alpha val="72000"/>
                  </a:srgbClr>
                </a:solidFill>
                <a:latin typeface="Arial"/>
                <a:ea typeface="Arial" pitchFamily="34" charset="-122"/>
                <a:cs typeface="Arial"/>
              </a:rPr>
              <a:t>Mehrab Hasan </a:t>
            </a:r>
            <a:r>
              <a:rPr lang="en-US" sz="1850" dirty="0" err="1">
                <a:solidFill>
                  <a:srgbClr val="FFFFFF">
                    <a:alpha val="72000"/>
                  </a:srgbClr>
                </a:solidFill>
                <a:latin typeface="Arial"/>
                <a:ea typeface="Arial" pitchFamily="34" charset="-122"/>
                <a:cs typeface="Arial"/>
              </a:rPr>
              <a:t>Badhon</a:t>
            </a:r>
            <a:r>
              <a:rPr lang="en-US" sz="1850" dirty="0">
                <a:solidFill>
                  <a:srgbClr val="FFFFFF">
                    <a:alpha val="72000"/>
                  </a:srgbClr>
                </a:solidFill>
                <a:latin typeface="Arial"/>
                <a:ea typeface="Arial" pitchFamily="34" charset="-122"/>
                <a:cs typeface="Arial"/>
              </a:rPr>
              <a:t>· [</a:t>
            </a:r>
            <a:r>
              <a:rPr lang="en-US" sz="1850" dirty="0" err="1">
                <a:solidFill>
                  <a:srgbClr val="FFFFFF">
                    <a:alpha val="72000"/>
                  </a:srgbClr>
                </a:solidFill>
                <a:latin typeface="Arial"/>
                <a:ea typeface="Arial" pitchFamily="34" charset="-122"/>
                <a:cs typeface="Arial"/>
              </a:rPr>
              <a:t>meherub.hb@uttarauniversity.edu.bd</a:t>
            </a:r>
            <a:r>
              <a:rPr lang="en-US" sz="1850" dirty="0">
                <a:solidFill>
                  <a:srgbClr val="FFFFFF">
                    <a:alpha val="72000"/>
                  </a:srgbClr>
                </a:solidFill>
                <a:latin typeface="Arial"/>
                <a:ea typeface="Arial" pitchFamily="34" charset="-122"/>
                <a:cs typeface="Arial"/>
              </a:rPr>
              <a:t>]</a:t>
            </a:r>
            <a:endParaRPr lang="en-US" sz="1850" dirty="0">
              <a:latin typeface="Arial"/>
              <a:cs typeface="Arial"/>
            </a:endParaRPr>
          </a:p>
        </p:txBody>
      </p:sp>
      <p:sp>
        <p:nvSpPr>
          <p:cNvPr id="9" name="Text 4">
            <a:extLst>
              <a:ext uri="{FF2B5EF4-FFF2-40B4-BE49-F238E27FC236}">
                <a16:creationId xmlns:a16="http://schemas.microsoft.com/office/drawing/2014/main" id="{4C9B4A5B-E21B-EF39-1C67-6CB546A7BB26}"/>
              </a:ext>
            </a:extLst>
          </p:cNvPr>
          <p:cNvSpPr/>
          <p:nvPr/>
        </p:nvSpPr>
        <p:spPr>
          <a:xfrm>
            <a:off x="5744711" y="7050275"/>
            <a:ext cx="6798457" cy="312420"/>
          </a:xfrm>
          <a:prstGeom prst="rect">
            <a:avLst/>
          </a:prstGeom>
          <a:noFill/>
          <a:ln/>
        </p:spPr>
        <p:txBody>
          <a:bodyPr wrap="square" lIns="25400" tIns="25400" rIns="25400" bIns="25400" rtlCol="0" anchor="t">
            <a:normAutofit lnSpcReduction="10000"/>
          </a:bodyPr>
          <a:lstStyle/>
          <a:p>
            <a:pPr algn="ctr"/>
            <a:r>
              <a:rPr lang="en-US" sz="1850" dirty="0">
                <a:solidFill>
                  <a:srgbClr val="FFFFFF">
                    <a:alpha val="72000"/>
                  </a:srgbClr>
                </a:solidFill>
                <a:latin typeface="Arial"/>
                <a:ea typeface="Arial" pitchFamily="34" charset="-122"/>
                <a:cs typeface="Arial"/>
              </a:rPr>
              <a:t>Mamun Shake· [</a:t>
            </a:r>
            <a:r>
              <a:rPr lang="en-US" sz="1850" dirty="0" err="1">
                <a:solidFill>
                  <a:srgbClr val="FFFFFF">
                    <a:alpha val="72000"/>
                  </a:srgbClr>
                </a:solidFill>
                <a:latin typeface="Arial"/>
                <a:ea typeface="Arial" pitchFamily="34" charset="-122"/>
                <a:cs typeface="Arial"/>
              </a:rPr>
              <a:t>mamun.shake@uttarauniversity.edu.bd</a:t>
            </a:r>
            <a:r>
              <a:rPr lang="en-US" sz="1850" dirty="0">
                <a:solidFill>
                  <a:srgbClr val="FFFFFF">
                    <a:alpha val="72000"/>
                  </a:srgbClr>
                </a:solidFill>
                <a:latin typeface="Arial"/>
                <a:ea typeface="Arial" pitchFamily="34" charset="-122"/>
                <a:cs typeface="Arial"/>
              </a:rPr>
              <a:t>]</a:t>
            </a:r>
            <a:endParaRPr lang="en-US" sz="1850" dirty="0">
              <a:latin typeface="Arial"/>
              <a:cs typeface="Aria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TotalTime>
  <Words>1933</Words>
  <Application>Microsoft Office PowerPoint</Application>
  <PresentationFormat>Custom</PresentationFormat>
  <Paragraphs>274</Paragraphs>
  <Slides>15</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Aptos</vt:lpstr>
      <vt:lpstr>Arial</vt:lpstr>
      <vt:lpstr>Calibri</vt:lpstr>
      <vt:lpstr>Courier New</vt:lpstr>
      <vt:lpstr>sans-serif</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Raian Mahadi</cp:lastModifiedBy>
  <cp:revision>6</cp:revision>
  <dcterms:created xsi:type="dcterms:W3CDTF">2026-07-14T10:42:10Z</dcterms:created>
  <dcterms:modified xsi:type="dcterms:W3CDTF">2026-10-13T19:22:36Z</dcterms:modified>
</cp:coreProperties>
</file>